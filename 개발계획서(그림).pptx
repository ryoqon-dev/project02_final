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3A519D-F756-4FBE-B45A-3B31335B7E46}" type="doc">
      <dgm:prSet loTypeId="urn:microsoft.com/office/officeart/2005/8/layout/hList6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pPr latinLnBrk="1"/>
          <a:endParaRPr lang="ko-KR" altLang="en-US"/>
        </a:p>
      </dgm:t>
    </dgm:pt>
    <dgm:pt modelId="{BA25DFBE-3ECC-4644-95B1-1E338A7ACEFF}">
      <dgm:prSet phldrT="[텍스트]" custT="1"/>
      <dgm:spPr/>
      <dgm:t>
        <a:bodyPr/>
        <a:lstStyle/>
        <a:p>
          <a:pPr latinLnBrk="1"/>
          <a:r>
            <a:rPr lang="ko-KR" altLang="en-US" sz="3000" dirty="0"/>
            <a:t>공공데이터의 한계</a:t>
          </a:r>
          <a:endParaRPr lang="en-US" altLang="ko-KR" sz="3000" dirty="0"/>
        </a:p>
        <a:p>
          <a:pPr latinLnBrk="1"/>
          <a:endParaRPr lang="ko-KR" altLang="en-US" sz="1000" dirty="0"/>
        </a:p>
      </dgm:t>
    </dgm:pt>
    <dgm:pt modelId="{339C6D6F-F91B-442D-B19B-0A26F8E1833A}" type="parTrans" cxnId="{368018B4-0626-49BF-97AA-D1C15BEDA5D3}">
      <dgm:prSet/>
      <dgm:spPr/>
      <dgm:t>
        <a:bodyPr/>
        <a:lstStyle/>
        <a:p>
          <a:pPr latinLnBrk="1"/>
          <a:endParaRPr lang="ko-KR" altLang="en-US"/>
        </a:p>
      </dgm:t>
    </dgm:pt>
    <dgm:pt modelId="{9C7FB274-36B8-48BA-BFF1-4C81F79F107E}" type="sibTrans" cxnId="{368018B4-0626-49BF-97AA-D1C15BEDA5D3}">
      <dgm:prSet/>
      <dgm:spPr/>
      <dgm:t>
        <a:bodyPr/>
        <a:lstStyle/>
        <a:p>
          <a:pPr latinLnBrk="1"/>
          <a:endParaRPr lang="ko-KR" altLang="en-US"/>
        </a:p>
      </dgm:t>
    </dgm:pt>
    <dgm:pt modelId="{3173D4CC-245E-4DF9-86D5-FA280AD67BBF}">
      <dgm:prSet phldrT="[텍스트]" custT="1"/>
      <dgm:spPr/>
      <dgm:t>
        <a:bodyPr/>
        <a:lstStyle/>
        <a:p>
          <a:pPr latinLnBrk="1"/>
          <a:r>
            <a:rPr lang="ko-KR" altLang="en-US" sz="2500" dirty="0"/>
            <a:t>공공데이터</a:t>
          </a:r>
          <a:r>
            <a:rPr lang="en-US" altLang="ko-KR" sz="2500" dirty="0"/>
            <a:t>(csv)</a:t>
          </a:r>
          <a:r>
            <a:rPr lang="ko-KR" altLang="en-US" sz="2500" dirty="0"/>
            <a:t>의 숫자 데이터는 일반인 사용자에게 직관적으로 판단하기 어려움</a:t>
          </a:r>
        </a:p>
      </dgm:t>
    </dgm:pt>
    <dgm:pt modelId="{BE3375B1-F72D-488A-BACB-5B7785A0A79F}" type="parTrans" cxnId="{AA3E4EF0-EF9B-4ED1-99AD-9FD8C80FA698}">
      <dgm:prSet/>
      <dgm:spPr/>
      <dgm:t>
        <a:bodyPr/>
        <a:lstStyle/>
        <a:p>
          <a:pPr latinLnBrk="1"/>
          <a:endParaRPr lang="ko-KR" altLang="en-US"/>
        </a:p>
      </dgm:t>
    </dgm:pt>
    <dgm:pt modelId="{D3C35BF4-CA64-49C4-848C-6ECB59BC3DC2}" type="sibTrans" cxnId="{AA3E4EF0-EF9B-4ED1-99AD-9FD8C80FA698}">
      <dgm:prSet/>
      <dgm:spPr/>
      <dgm:t>
        <a:bodyPr/>
        <a:lstStyle/>
        <a:p>
          <a:pPr latinLnBrk="1"/>
          <a:endParaRPr lang="ko-KR" altLang="en-US"/>
        </a:p>
      </dgm:t>
    </dgm:pt>
    <dgm:pt modelId="{5922B240-9EE7-42EB-BEB1-36A0FB7DD077}">
      <dgm:prSet phldrT="[텍스트]" custT="1"/>
      <dgm:spPr/>
      <dgm:t>
        <a:bodyPr/>
        <a:lstStyle/>
        <a:p>
          <a:pPr latinLnBrk="1"/>
          <a:r>
            <a:rPr lang="ko-KR" altLang="en-US" sz="3000" dirty="0"/>
            <a:t>서버 분석 엔진</a:t>
          </a:r>
          <a:endParaRPr lang="en-US" altLang="ko-KR" sz="3000" dirty="0"/>
        </a:p>
        <a:p>
          <a:pPr latinLnBrk="1"/>
          <a:endParaRPr lang="ko-KR" altLang="en-US" sz="1000" dirty="0"/>
        </a:p>
      </dgm:t>
    </dgm:pt>
    <dgm:pt modelId="{9DEBD797-8A09-422D-B27A-A8F411391E0B}" type="parTrans" cxnId="{D016BBAA-7A7E-4232-8C51-2859B90D1CD1}">
      <dgm:prSet/>
      <dgm:spPr/>
      <dgm:t>
        <a:bodyPr/>
        <a:lstStyle/>
        <a:p>
          <a:pPr latinLnBrk="1"/>
          <a:endParaRPr lang="ko-KR" altLang="en-US"/>
        </a:p>
      </dgm:t>
    </dgm:pt>
    <dgm:pt modelId="{D10CD574-7719-477C-A05F-A83EEDC4301A}" type="sibTrans" cxnId="{D016BBAA-7A7E-4232-8C51-2859B90D1CD1}">
      <dgm:prSet/>
      <dgm:spPr/>
      <dgm:t>
        <a:bodyPr/>
        <a:lstStyle/>
        <a:p>
          <a:pPr latinLnBrk="1"/>
          <a:endParaRPr lang="ko-KR" altLang="en-US"/>
        </a:p>
      </dgm:t>
    </dgm:pt>
    <dgm:pt modelId="{D47ECA42-1496-466F-85EE-E97C10A0A40E}">
      <dgm:prSet phldrT="[텍스트]" custT="1"/>
      <dgm:spPr/>
      <dgm:t>
        <a:bodyPr/>
        <a:lstStyle/>
        <a:p>
          <a:pPr latinLnBrk="1"/>
          <a:r>
            <a:rPr lang="ko-KR" altLang="en-US" sz="2500" dirty="0"/>
            <a:t>범죄 통계와 경찰 인프라</a:t>
          </a:r>
          <a:r>
            <a:rPr lang="en-US" altLang="ko-KR" sz="2500" dirty="0"/>
            <a:t>(1</a:t>
          </a:r>
          <a:r>
            <a:rPr lang="ko-KR" altLang="en-US" sz="2500" dirty="0"/>
            <a:t>인당 담당 인구</a:t>
          </a:r>
          <a:r>
            <a:rPr lang="en-US" altLang="ko-KR" sz="2500" dirty="0"/>
            <a:t>) </a:t>
          </a:r>
          <a:r>
            <a:rPr lang="ko-KR" altLang="en-US" sz="2500" dirty="0"/>
            <a:t>데이터를 결합한 실질적인 위험도 연산</a:t>
          </a:r>
        </a:p>
      </dgm:t>
    </dgm:pt>
    <dgm:pt modelId="{FE735B06-15CC-464A-83FA-9226449ED4CE}" type="parTrans" cxnId="{9E503396-6BA7-4F86-990F-73398C577713}">
      <dgm:prSet/>
      <dgm:spPr/>
      <dgm:t>
        <a:bodyPr/>
        <a:lstStyle/>
        <a:p>
          <a:pPr latinLnBrk="1"/>
          <a:endParaRPr lang="ko-KR" altLang="en-US"/>
        </a:p>
      </dgm:t>
    </dgm:pt>
    <dgm:pt modelId="{84CBA4DA-254B-4923-A722-02F946B3A2AA}" type="sibTrans" cxnId="{9E503396-6BA7-4F86-990F-73398C577713}">
      <dgm:prSet/>
      <dgm:spPr/>
      <dgm:t>
        <a:bodyPr/>
        <a:lstStyle/>
        <a:p>
          <a:pPr latinLnBrk="1"/>
          <a:endParaRPr lang="ko-KR" altLang="en-US"/>
        </a:p>
      </dgm:t>
    </dgm:pt>
    <dgm:pt modelId="{27C24DFF-C354-4A0E-B28E-05F9D4865FCE}">
      <dgm:prSet phldrT="[텍스트]" custT="1"/>
      <dgm:spPr/>
      <dgm:t>
        <a:bodyPr/>
        <a:lstStyle/>
        <a:p>
          <a:pPr latinLnBrk="1"/>
          <a:r>
            <a:rPr lang="ko-KR" altLang="en-US" sz="3000" dirty="0"/>
            <a:t>사용자 중심 가치</a:t>
          </a:r>
          <a:endParaRPr lang="en-US" altLang="ko-KR" sz="3000" dirty="0"/>
        </a:p>
        <a:p>
          <a:pPr latinLnBrk="1"/>
          <a:endParaRPr lang="ko-KR" altLang="en-US" sz="1000" dirty="0"/>
        </a:p>
      </dgm:t>
    </dgm:pt>
    <dgm:pt modelId="{75C1CFD8-3FBB-4759-8FE2-BB558E0243EC}" type="parTrans" cxnId="{3C797D43-2F1D-49E0-93AC-C39E2989618C}">
      <dgm:prSet/>
      <dgm:spPr/>
      <dgm:t>
        <a:bodyPr/>
        <a:lstStyle/>
        <a:p>
          <a:pPr latinLnBrk="1"/>
          <a:endParaRPr lang="ko-KR" altLang="en-US"/>
        </a:p>
      </dgm:t>
    </dgm:pt>
    <dgm:pt modelId="{42AB138D-0F8F-4B8D-A99F-E984B1CA2F96}" type="sibTrans" cxnId="{3C797D43-2F1D-49E0-93AC-C39E2989618C}">
      <dgm:prSet/>
      <dgm:spPr/>
      <dgm:t>
        <a:bodyPr/>
        <a:lstStyle/>
        <a:p>
          <a:pPr latinLnBrk="1"/>
          <a:endParaRPr lang="ko-KR" altLang="en-US"/>
        </a:p>
      </dgm:t>
    </dgm:pt>
    <dgm:pt modelId="{ED932866-8B63-4726-828F-E5EA0EBC3D3F}">
      <dgm:prSet phldrT="[텍스트]" custT="1"/>
      <dgm:spPr/>
      <dgm:t>
        <a:bodyPr/>
        <a:lstStyle/>
        <a:p>
          <a:pPr latinLnBrk="1"/>
          <a:r>
            <a:rPr lang="ko-KR" altLang="en-US" sz="2500" dirty="0"/>
            <a:t>안전</a:t>
          </a:r>
          <a:r>
            <a:rPr lang="en-US" altLang="ko-KR" sz="2500" dirty="0"/>
            <a:t>/</a:t>
          </a:r>
          <a:r>
            <a:rPr lang="ko-KR" altLang="en-US" sz="2500" dirty="0"/>
            <a:t>주의</a:t>
          </a:r>
          <a:r>
            <a:rPr lang="en-US" altLang="ko-KR" sz="2500" dirty="0"/>
            <a:t>/</a:t>
          </a:r>
          <a:r>
            <a:rPr lang="ko-KR" altLang="en-US" sz="2500" dirty="0"/>
            <a:t>위험 등급화 및 범죄 유형별 맞춤형 예방 가이드라인 제공</a:t>
          </a:r>
        </a:p>
      </dgm:t>
    </dgm:pt>
    <dgm:pt modelId="{D67F706E-E217-4C31-B347-E0A448D96EEE}" type="parTrans" cxnId="{C61925A0-3362-412C-9858-3C40F13A6CC9}">
      <dgm:prSet/>
      <dgm:spPr/>
      <dgm:t>
        <a:bodyPr/>
        <a:lstStyle/>
        <a:p>
          <a:pPr latinLnBrk="1"/>
          <a:endParaRPr lang="ko-KR" altLang="en-US"/>
        </a:p>
      </dgm:t>
    </dgm:pt>
    <dgm:pt modelId="{61087712-C05B-47C3-82C9-604C3DA65B53}" type="sibTrans" cxnId="{C61925A0-3362-412C-9858-3C40F13A6CC9}">
      <dgm:prSet/>
      <dgm:spPr/>
      <dgm:t>
        <a:bodyPr/>
        <a:lstStyle/>
        <a:p>
          <a:pPr latinLnBrk="1"/>
          <a:endParaRPr lang="ko-KR" altLang="en-US"/>
        </a:p>
      </dgm:t>
    </dgm:pt>
    <dgm:pt modelId="{ACF04B09-8B10-4AD4-ACD5-D22F4243E306}" type="pres">
      <dgm:prSet presAssocID="{063A519D-F756-4FBE-B45A-3B31335B7E46}" presName="Name0" presStyleCnt="0">
        <dgm:presLayoutVars>
          <dgm:dir/>
          <dgm:resizeHandles val="exact"/>
        </dgm:presLayoutVars>
      </dgm:prSet>
      <dgm:spPr/>
    </dgm:pt>
    <dgm:pt modelId="{81721B6F-762F-4349-93CC-10C140DF623C}" type="pres">
      <dgm:prSet presAssocID="{BA25DFBE-3ECC-4644-95B1-1E338A7ACEFF}" presName="node" presStyleLbl="node1" presStyleIdx="0" presStyleCnt="3">
        <dgm:presLayoutVars>
          <dgm:bulletEnabled val="1"/>
        </dgm:presLayoutVars>
      </dgm:prSet>
      <dgm:spPr/>
    </dgm:pt>
    <dgm:pt modelId="{B44FA560-D885-4B6B-873F-CD2A45C31ECB}" type="pres">
      <dgm:prSet presAssocID="{9C7FB274-36B8-48BA-BFF1-4C81F79F107E}" presName="sibTrans" presStyleCnt="0"/>
      <dgm:spPr/>
    </dgm:pt>
    <dgm:pt modelId="{46E0F13D-3421-4A9A-93AA-CC347FB28530}" type="pres">
      <dgm:prSet presAssocID="{5922B240-9EE7-42EB-BEB1-36A0FB7DD077}" presName="node" presStyleLbl="node1" presStyleIdx="1" presStyleCnt="3">
        <dgm:presLayoutVars>
          <dgm:bulletEnabled val="1"/>
        </dgm:presLayoutVars>
      </dgm:prSet>
      <dgm:spPr/>
    </dgm:pt>
    <dgm:pt modelId="{A8229FEE-7FC2-47C5-9EC2-A0C9D0D1550C}" type="pres">
      <dgm:prSet presAssocID="{D10CD574-7719-477C-A05F-A83EEDC4301A}" presName="sibTrans" presStyleCnt="0"/>
      <dgm:spPr/>
    </dgm:pt>
    <dgm:pt modelId="{D442732D-14CB-41BF-8DAC-4875C720BEEF}" type="pres">
      <dgm:prSet presAssocID="{27C24DFF-C354-4A0E-B28E-05F9D4865FCE}" presName="node" presStyleLbl="node1" presStyleIdx="2" presStyleCnt="3">
        <dgm:presLayoutVars>
          <dgm:bulletEnabled val="1"/>
        </dgm:presLayoutVars>
      </dgm:prSet>
      <dgm:spPr/>
    </dgm:pt>
  </dgm:ptLst>
  <dgm:cxnLst>
    <dgm:cxn modelId="{394DF95E-1C3F-4457-AB0A-9602F87AA0A1}" type="presOf" srcId="{063A519D-F756-4FBE-B45A-3B31335B7E46}" destId="{ACF04B09-8B10-4AD4-ACD5-D22F4243E306}" srcOrd="0" destOrd="0" presId="urn:microsoft.com/office/officeart/2005/8/layout/hList6"/>
    <dgm:cxn modelId="{3C797D43-2F1D-49E0-93AC-C39E2989618C}" srcId="{063A519D-F756-4FBE-B45A-3B31335B7E46}" destId="{27C24DFF-C354-4A0E-B28E-05F9D4865FCE}" srcOrd="2" destOrd="0" parTransId="{75C1CFD8-3FBB-4759-8FE2-BB558E0243EC}" sibTransId="{42AB138D-0F8F-4B8D-A99F-E984B1CA2F96}"/>
    <dgm:cxn modelId="{6B685A4F-BD7C-4BEB-8A5F-FF52A708356F}" type="presOf" srcId="{5922B240-9EE7-42EB-BEB1-36A0FB7DD077}" destId="{46E0F13D-3421-4A9A-93AA-CC347FB28530}" srcOrd="0" destOrd="0" presId="urn:microsoft.com/office/officeart/2005/8/layout/hList6"/>
    <dgm:cxn modelId="{F69C0951-68FE-43D3-AD9E-5C634FB21F2C}" type="presOf" srcId="{ED932866-8B63-4726-828F-E5EA0EBC3D3F}" destId="{D442732D-14CB-41BF-8DAC-4875C720BEEF}" srcOrd="0" destOrd="1" presId="urn:microsoft.com/office/officeart/2005/8/layout/hList6"/>
    <dgm:cxn modelId="{2DA5B15A-A365-42B3-81A7-73EBE07329C1}" type="presOf" srcId="{3173D4CC-245E-4DF9-86D5-FA280AD67BBF}" destId="{81721B6F-762F-4349-93CC-10C140DF623C}" srcOrd="0" destOrd="1" presId="urn:microsoft.com/office/officeart/2005/8/layout/hList6"/>
    <dgm:cxn modelId="{9E503396-6BA7-4F86-990F-73398C577713}" srcId="{5922B240-9EE7-42EB-BEB1-36A0FB7DD077}" destId="{D47ECA42-1496-466F-85EE-E97C10A0A40E}" srcOrd="0" destOrd="0" parTransId="{FE735B06-15CC-464A-83FA-9226449ED4CE}" sibTransId="{84CBA4DA-254B-4923-A722-02F946B3A2AA}"/>
    <dgm:cxn modelId="{C61925A0-3362-412C-9858-3C40F13A6CC9}" srcId="{27C24DFF-C354-4A0E-B28E-05F9D4865FCE}" destId="{ED932866-8B63-4726-828F-E5EA0EBC3D3F}" srcOrd="0" destOrd="0" parTransId="{D67F706E-E217-4C31-B347-E0A448D96EEE}" sibTransId="{61087712-C05B-47C3-82C9-604C3DA65B53}"/>
    <dgm:cxn modelId="{D016BBAA-7A7E-4232-8C51-2859B90D1CD1}" srcId="{063A519D-F756-4FBE-B45A-3B31335B7E46}" destId="{5922B240-9EE7-42EB-BEB1-36A0FB7DD077}" srcOrd="1" destOrd="0" parTransId="{9DEBD797-8A09-422D-B27A-A8F411391E0B}" sibTransId="{D10CD574-7719-477C-A05F-A83EEDC4301A}"/>
    <dgm:cxn modelId="{368018B4-0626-49BF-97AA-D1C15BEDA5D3}" srcId="{063A519D-F756-4FBE-B45A-3B31335B7E46}" destId="{BA25DFBE-3ECC-4644-95B1-1E338A7ACEFF}" srcOrd="0" destOrd="0" parTransId="{339C6D6F-F91B-442D-B19B-0A26F8E1833A}" sibTransId="{9C7FB274-36B8-48BA-BFF1-4C81F79F107E}"/>
    <dgm:cxn modelId="{FF2ABDC0-0765-45BF-B14B-9172F45D88CB}" type="presOf" srcId="{BA25DFBE-3ECC-4644-95B1-1E338A7ACEFF}" destId="{81721B6F-762F-4349-93CC-10C140DF623C}" srcOrd="0" destOrd="0" presId="urn:microsoft.com/office/officeart/2005/8/layout/hList6"/>
    <dgm:cxn modelId="{EC6044D2-BBFA-4BFE-AD7F-1346D53D2752}" type="presOf" srcId="{D47ECA42-1496-466F-85EE-E97C10A0A40E}" destId="{46E0F13D-3421-4A9A-93AA-CC347FB28530}" srcOrd="0" destOrd="1" presId="urn:microsoft.com/office/officeart/2005/8/layout/hList6"/>
    <dgm:cxn modelId="{CB6B5AED-EC87-4770-A9BD-FF8AF6F950E2}" type="presOf" srcId="{27C24DFF-C354-4A0E-B28E-05F9D4865FCE}" destId="{D442732D-14CB-41BF-8DAC-4875C720BEEF}" srcOrd="0" destOrd="0" presId="urn:microsoft.com/office/officeart/2005/8/layout/hList6"/>
    <dgm:cxn modelId="{AA3E4EF0-EF9B-4ED1-99AD-9FD8C80FA698}" srcId="{BA25DFBE-3ECC-4644-95B1-1E338A7ACEFF}" destId="{3173D4CC-245E-4DF9-86D5-FA280AD67BBF}" srcOrd="0" destOrd="0" parTransId="{BE3375B1-F72D-488A-BACB-5B7785A0A79F}" sibTransId="{D3C35BF4-CA64-49C4-848C-6ECB59BC3DC2}"/>
    <dgm:cxn modelId="{815157AA-B4CA-4716-B344-90C5113C4572}" type="presParOf" srcId="{ACF04B09-8B10-4AD4-ACD5-D22F4243E306}" destId="{81721B6F-762F-4349-93CC-10C140DF623C}" srcOrd="0" destOrd="0" presId="urn:microsoft.com/office/officeart/2005/8/layout/hList6"/>
    <dgm:cxn modelId="{1E516D06-5774-4048-B0E5-03AFFB55FF15}" type="presParOf" srcId="{ACF04B09-8B10-4AD4-ACD5-D22F4243E306}" destId="{B44FA560-D885-4B6B-873F-CD2A45C31ECB}" srcOrd="1" destOrd="0" presId="urn:microsoft.com/office/officeart/2005/8/layout/hList6"/>
    <dgm:cxn modelId="{5A3AE53E-5FC4-4E26-B81D-69AC8A529B5E}" type="presParOf" srcId="{ACF04B09-8B10-4AD4-ACD5-D22F4243E306}" destId="{46E0F13D-3421-4A9A-93AA-CC347FB28530}" srcOrd="2" destOrd="0" presId="urn:microsoft.com/office/officeart/2005/8/layout/hList6"/>
    <dgm:cxn modelId="{FA81C77E-9FA6-44E5-9F35-91D95D5A5333}" type="presParOf" srcId="{ACF04B09-8B10-4AD4-ACD5-D22F4243E306}" destId="{A8229FEE-7FC2-47C5-9EC2-A0C9D0D1550C}" srcOrd="3" destOrd="0" presId="urn:microsoft.com/office/officeart/2005/8/layout/hList6"/>
    <dgm:cxn modelId="{1BEB26DA-BD45-45F5-BD5F-56FE04E86294}" type="presParOf" srcId="{ACF04B09-8B10-4AD4-ACD5-D22F4243E306}" destId="{D442732D-14CB-41BF-8DAC-4875C720BEEF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357594-C6B1-428B-A6F1-C8631C04ED54}" type="doc">
      <dgm:prSet loTypeId="urn:microsoft.com/office/officeart/2024/layout/HorizontalAction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pPr latinLnBrk="1"/>
          <a:endParaRPr lang="ko-KR" altLang="en-US"/>
        </a:p>
      </dgm:t>
    </dgm:pt>
    <dgm:pt modelId="{B69BD5D1-6A1A-4829-B9D8-85D47CF6E2B5}">
      <dgm:prSet phldrT="[텍스트]" custT="1"/>
      <dgm:spPr/>
      <dgm:t>
        <a:bodyPr/>
        <a:lstStyle/>
        <a:p>
          <a:pPr latinLnBrk="1">
            <a:buNone/>
          </a:pPr>
          <a:r>
            <a:rPr lang="ko-KR" altLang="en-US" sz="2300" b="1" i="0" dirty="0"/>
            <a:t>실시간 치안 정보 소켓 네트워크망 구축</a:t>
          </a:r>
          <a:endParaRPr lang="ko-KR" altLang="en-US" sz="2300" dirty="0"/>
        </a:p>
      </dgm:t>
    </dgm:pt>
    <dgm:pt modelId="{DCC30270-C481-4D30-811B-A60A452A9FB3}" type="parTrans" cxnId="{92ECF813-9B74-4869-9810-D38C1951B74C}">
      <dgm:prSet/>
      <dgm:spPr/>
      <dgm:t>
        <a:bodyPr/>
        <a:lstStyle/>
        <a:p>
          <a:pPr latinLnBrk="1"/>
          <a:endParaRPr lang="ko-KR" altLang="en-US"/>
        </a:p>
      </dgm:t>
    </dgm:pt>
    <dgm:pt modelId="{28D93AAA-1D08-45C3-8427-BC3F9FCD9BFA}" type="sibTrans" cxnId="{92ECF813-9B74-4869-9810-D38C1951B74C}">
      <dgm:prSet/>
      <dgm:spPr/>
      <dgm:t>
        <a:bodyPr/>
        <a:lstStyle/>
        <a:p>
          <a:pPr latinLnBrk="1"/>
          <a:endParaRPr lang="ko-KR" altLang="en-US"/>
        </a:p>
      </dgm:t>
    </dgm:pt>
    <dgm:pt modelId="{43343F45-EF07-4250-BB4A-98412F4F423A}">
      <dgm:prSet phldrT="[텍스트]"/>
      <dgm:spPr/>
      <dgm:t>
        <a:bodyPr/>
        <a:lstStyle/>
        <a:p>
          <a:pPr latinLnBrk="1">
            <a:buNone/>
          </a:pPr>
          <a:r>
            <a:rPr lang="ko-KR" b="0" i="0" dirty="0" err="1"/>
            <a:t>Winsock</a:t>
          </a:r>
          <a:r>
            <a:rPr lang="ko-KR" b="0" i="0" dirty="0"/>
            <a:t> API 기반의 다중 스레드 통신 아키텍처를 설계하여 </a:t>
          </a:r>
          <a:r>
            <a:rPr lang="ko-KR" b="1" i="0" dirty="0"/>
            <a:t>클라이언트-서버 간 데이터 전송 및 안전성 극대화</a:t>
          </a:r>
          <a:r>
            <a:rPr lang="ko-KR" b="0" i="0" dirty="0"/>
            <a:t>를 목표</a:t>
          </a:r>
          <a:r>
            <a:rPr lang="ko-KR" altLang="en-US" b="0" i="0" dirty="0"/>
            <a:t>로 함</a:t>
          </a:r>
          <a:endParaRPr lang="ko-KR" altLang="en-US" dirty="0"/>
        </a:p>
      </dgm:t>
    </dgm:pt>
    <dgm:pt modelId="{01154C64-9833-4AA4-A0BE-4601EFB244B8}" type="parTrans" cxnId="{D80E3434-4903-4CC5-AF23-F1A104951237}">
      <dgm:prSet/>
      <dgm:spPr/>
      <dgm:t>
        <a:bodyPr/>
        <a:lstStyle/>
        <a:p>
          <a:pPr latinLnBrk="1"/>
          <a:endParaRPr lang="ko-KR" altLang="en-US"/>
        </a:p>
      </dgm:t>
    </dgm:pt>
    <dgm:pt modelId="{B45B241A-3F0D-41D7-AC2E-F4778E97E1CC}" type="sibTrans" cxnId="{D80E3434-4903-4CC5-AF23-F1A104951237}">
      <dgm:prSet/>
      <dgm:spPr/>
      <dgm:t>
        <a:bodyPr/>
        <a:lstStyle/>
        <a:p>
          <a:pPr latinLnBrk="1"/>
          <a:endParaRPr lang="ko-KR" altLang="en-US"/>
        </a:p>
      </dgm:t>
    </dgm:pt>
    <dgm:pt modelId="{8AC19B29-E13B-463C-94A0-9D714FB9A945}">
      <dgm:prSet phldrT="[텍스트]" custT="1"/>
      <dgm:spPr/>
      <dgm:t>
        <a:bodyPr/>
        <a:lstStyle/>
        <a:p>
          <a:pPr latinLnBrk="1">
            <a:buNone/>
          </a:pPr>
          <a:r>
            <a:rPr lang="ko-KR" altLang="en-US" sz="2000" b="1" i="0" dirty="0"/>
            <a:t>대용량 데이터 고속 파싱 및 우선순위 연산</a:t>
          </a:r>
          <a:endParaRPr lang="ko-KR" altLang="en-US" sz="2000" dirty="0"/>
        </a:p>
      </dgm:t>
    </dgm:pt>
    <dgm:pt modelId="{AB00C04B-DB47-4D77-BF38-1937B7039B01}" type="parTrans" cxnId="{8E6F99C3-2135-4B8B-95EC-107CCA03427D}">
      <dgm:prSet/>
      <dgm:spPr/>
      <dgm:t>
        <a:bodyPr/>
        <a:lstStyle/>
        <a:p>
          <a:pPr latinLnBrk="1"/>
          <a:endParaRPr lang="ko-KR" altLang="en-US"/>
        </a:p>
      </dgm:t>
    </dgm:pt>
    <dgm:pt modelId="{8C6091CA-AA11-46B8-B4BD-5E3E6B17B4EA}" type="sibTrans" cxnId="{8E6F99C3-2135-4B8B-95EC-107CCA03427D}">
      <dgm:prSet/>
      <dgm:spPr/>
      <dgm:t>
        <a:bodyPr/>
        <a:lstStyle/>
        <a:p>
          <a:pPr latinLnBrk="1"/>
          <a:endParaRPr lang="ko-KR" altLang="en-US"/>
        </a:p>
      </dgm:t>
    </dgm:pt>
    <dgm:pt modelId="{873988B6-9CE2-4CB8-B6EF-D277FF0072F5}">
      <dgm:prSet phldrT="[텍스트]"/>
      <dgm:spPr/>
      <dgm:t>
        <a:bodyPr/>
        <a:lstStyle/>
        <a:p>
          <a:pPr latinLnBrk="1">
            <a:buNone/>
          </a:pPr>
          <a:r>
            <a:rPr lang="ko-KR" b="0" i="0" dirty="0"/>
            <a:t>연결 리스트로 동적 관리되는 치안 데이터를 </a:t>
          </a:r>
          <a:r>
            <a:rPr lang="ko-KR" b="1" i="0" dirty="0"/>
            <a:t>최대 </a:t>
          </a:r>
          <a:r>
            <a:rPr lang="ko-KR" b="1" i="0" dirty="0" err="1"/>
            <a:t>힙</a:t>
          </a:r>
          <a:r>
            <a:rPr lang="ko-KR" b="1" i="0" dirty="0"/>
            <a:t>(</a:t>
          </a:r>
          <a:r>
            <a:rPr lang="ko-KR" b="1" i="0" dirty="0" err="1"/>
            <a:t>Max</a:t>
          </a:r>
          <a:r>
            <a:rPr lang="ko-KR" b="1" i="0" dirty="0"/>
            <a:t> </a:t>
          </a:r>
          <a:r>
            <a:rPr lang="ko-KR" b="1" i="0" dirty="0" err="1"/>
            <a:t>Heap</a:t>
          </a:r>
          <a:r>
            <a:rPr lang="ko-KR" b="1" i="0" dirty="0"/>
            <a:t>) 정렬 알고리즘을 활용해 </a:t>
          </a:r>
          <a:r>
            <a:rPr lang="ko-KR" b="1" i="0" dirty="0" err="1"/>
            <a:t>O</a:t>
          </a:r>
          <a:r>
            <a:rPr lang="ko-KR" b="1" i="0" dirty="0"/>
            <a:t>(</a:t>
          </a:r>
          <a:r>
            <a:rPr lang="ko-KR" b="1" i="0" dirty="0" err="1"/>
            <a:t>N</a:t>
          </a:r>
          <a:r>
            <a:rPr lang="ko-KR" b="1" i="0" dirty="0"/>
            <a:t> </a:t>
          </a:r>
          <a:r>
            <a:rPr lang="ko-KR" b="1" i="0" dirty="0" err="1"/>
            <a:t>log</a:t>
          </a:r>
          <a:r>
            <a:rPr lang="ko-KR" b="1" i="0" dirty="0"/>
            <a:t> K) 내에</a:t>
          </a:r>
          <a:r>
            <a:rPr lang="en-US" altLang="ko-KR" b="1" i="0" dirty="0"/>
            <a:t> </a:t>
          </a:r>
          <a:r>
            <a:rPr lang="ko-KR" altLang="en-US" b="1" i="0" dirty="0"/>
            <a:t>빠르게</a:t>
          </a:r>
          <a:r>
            <a:rPr lang="ko-KR" b="1" i="0" dirty="0"/>
            <a:t> 연산</a:t>
          </a:r>
          <a:r>
            <a:rPr lang="ko-KR" b="0" i="0" dirty="0"/>
            <a:t>하여 </a:t>
          </a:r>
          <a:r>
            <a:rPr lang="ko-KR" altLang="en-US" b="0" i="0" dirty="0"/>
            <a:t>필요한 </a:t>
          </a:r>
          <a:r>
            <a:rPr lang="ko-KR" b="0" i="0" dirty="0"/>
            <a:t>최상위 </a:t>
          </a:r>
          <a:r>
            <a:rPr lang="ko-KR" b="0" i="0" dirty="0" err="1"/>
            <a:t>위험군</a:t>
          </a:r>
          <a:r>
            <a:rPr lang="ko-KR" b="0" i="0" dirty="0"/>
            <a:t> 정보를 정확하게 정렬</a:t>
          </a:r>
          <a:r>
            <a:rPr lang="ko-KR" altLang="en-US" b="0" i="0" dirty="0"/>
            <a:t>함</a:t>
          </a:r>
          <a:endParaRPr lang="ko-KR" altLang="en-US" dirty="0"/>
        </a:p>
      </dgm:t>
    </dgm:pt>
    <dgm:pt modelId="{6EC393A8-221F-4830-B327-E83685578A3E}" type="parTrans" cxnId="{4ED5AAEA-950E-48D1-A9A7-A62B2A145F90}">
      <dgm:prSet/>
      <dgm:spPr/>
      <dgm:t>
        <a:bodyPr/>
        <a:lstStyle/>
        <a:p>
          <a:pPr latinLnBrk="1"/>
          <a:endParaRPr lang="ko-KR" altLang="en-US"/>
        </a:p>
      </dgm:t>
    </dgm:pt>
    <dgm:pt modelId="{EEAEEAC6-4C79-4C15-BFEA-6DF7128AB5D8}" type="sibTrans" cxnId="{4ED5AAEA-950E-48D1-A9A7-A62B2A145F90}">
      <dgm:prSet/>
      <dgm:spPr/>
      <dgm:t>
        <a:bodyPr/>
        <a:lstStyle/>
        <a:p>
          <a:pPr latinLnBrk="1"/>
          <a:endParaRPr lang="ko-KR" altLang="en-US"/>
        </a:p>
      </dgm:t>
    </dgm:pt>
    <dgm:pt modelId="{F23C0FB4-1B03-4CB1-B5FE-AE44E4302C89}">
      <dgm:prSet phldrT="[텍스트]" custT="1"/>
      <dgm:spPr/>
      <dgm:t>
        <a:bodyPr/>
        <a:lstStyle/>
        <a:p>
          <a:pPr latinLnBrk="1">
            <a:buNone/>
          </a:pPr>
          <a:r>
            <a:rPr lang="ko-KR" altLang="en-US" sz="2000" b="1" i="0" dirty="0"/>
            <a:t>사용자 맞춤형 예방 수칙 및 가이드 매핑</a:t>
          </a:r>
          <a:endParaRPr lang="ko-KR" altLang="en-US" sz="2000" dirty="0"/>
        </a:p>
      </dgm:t>
    </dgm:pt>
    <dgm:pt modelId="{69CE574B-EF13-428C-A4CE-7D57AAD65C07}" type="parTrans" cxnId="{1C75E4BF-9394-4CA7-ACE7-4BE5B5DA9BCD}">
      <dgm:prSet/>
      <dgm:spPr/>
      <dgm:t>
        <a:bodyPr/>
        <a:lstStyle/>
        <a:p>
          <a:pPr latinLnBrk="1"/>
          <a:endParaRPr lang="ko-KR" altLang="en-US"/>
        </a:p>
      </dgm:t>
    </dgm:pt>
    <dgm:pt modelId="{2F8E519F-7CA7-4D3C-97CC-235AD403CD40}" type="sibTrans" cxnId="{1C75E4BF-9394-4CA7-ACE7-4BE5B5DA9BCD}">
      <dgm:prSet/>
      <dgm:spPr/>
      <dgm:t>
        <a:bodyPr/>
        <a:lstStyle/>
        <a:p>
          <a:pPr latinLnBrk="1"/>
          <a:endParaRPr lang="ko-KR" altLang="en-US"/>
        </a:p>
      </dgm:t>
    </dgm:pt>
    <dgm:pt modelId="{C3DDD0CC-FE5B-4473-B781-72F7C4EE67A1}">
      <dgm:prSet phldrT="[텍스트]"/>
      <dgm:spPr/>
      <dgm:t>
        <a:bodyPr/>
        <a:lstStyle/>
        <a:p>
          <a:pPr latinLnBrk="1">
            <a:buNone/>
          </a:pPr>
          <a:r>
            <a:rPr lang="ko-KR" b="0" i="0" dirty="0"/>
            <a:t>체감 치안 위험도 분석 결과를 안전/주의/위험 등급으로 시각화하고 </a:t>
          </a:r>
          <a:r>
            <a:rPr lang="ko-KR" b="1" i="0" dirty="0"/>
            <a:t>각 범죄 유형별 맞춤 예방 가이드라인을 매핑</a:t>
          </a:r>
          <a:r>
            <a:rPr lang="ko-KR" b="0" i="0" dirty="0"/>
            <a:t>하여 유의미한 행동 수칙을 즉각 제안</a:t>
          </a:r>
          <a:r>
            <a:rPr lang="ko-KR" altLang="en-US" b="0" i="0" dirty="0"/>
            <a:t>함</a:t>
          </a:r>
          <a:endParaRPr lang="ko-KR" altLang="en-US" dirty="0"/>
        </a:p>
      </dgm:t>
    </dgm:pt>
    <dgm:pt modelId="{5E6C2918-C839-4BC3-9495-B7CDF3A514DB}" type="parTrans" cxnId="{5E46CAB6-0AD3-4478-BCAE-D6A269C30110}">
      <dgm:prSet/>
      <dgm:spPr/>
      <dgm:t>
        <a:bodyPr/>
        <a:lstStyle/>
        <a:p>
          <a:pPr latinLnBrk="1"/>
          <a:endParaRPr lang="ko-KR" altLang="en-US"/>
        </a:p>
      </dgm:t>
    </dgm:pt>
    <dgm:pt modelId="{C9437305-2BE0-48F6-A9C1-96648773962C}" type="sibTrans" cxnId="{5E46CAB6-0AD3-4478-BCAE-D6A269C30110}">
      <dgm:prSet/>
      <dgm:spPr/>
      <dgm:t>
        <a:bodyPr/>
        <a:lstStyle/>
        <a:p>
          <a:pPr latinLnBrk="1"/>
          <a:endParaRPr lang="ko-KR" altLang="en-US"/>
        </a:p>
      </dgm:t>
    </dgm:pt>
    <dgm:pt modelId="{8B01B04E-C3A0-4491-B514-4844D3451E77}" type="pres">
      <dgm:prSet presAssocID="{A4357594-C6B1-428B-A6F1-C8631C04ED54}" presName="Name0" presStyleCnt="0">
        <dgm:presLayoutVars>
          <dgm:dir/>
          <dgm:animLvl val="lvl"/>
          <dgm:resizeHandles val="exact"/>
        </dgm:presLayoutVars>
      </dgm:prSet>
      <dgm:spPr/>
    </dgm:pt>
    <dgm:pt modelId="{D423D757-765E-45C5-ADF6-96D37F3E81B8}" type="pres">
      <dgm:prSet presAssocID="{B69BD5D1-6A1A-4829-B9D8-85D47CF6E2B5}" presName="composite" presStyleCnt="0"/>
      <dgm:spPr/>
    </dgm:pt>
    <dgm:pt modelId="{C80C3809-48DE-4E45-BCD3-82619835ACB9}" type="pres">
      <dgm:prSet presAssocID="{B69BD5D1-6A1A-4829-B9D8-85D47CF6E2B5}" presName="parTx" presStyleLbl="alignNode1" presStyleIdx="0" presStyleCnt="3">
        <dgm:presLayoutVars>
          <dgm:chMax val="0"/>
          <dgm:chPref val="0"/>
        </dgm:presLayoutVars>
      </dgm:prSet>
      <dgm:spPr/>
    </dgm:pt>
    <dgm:pt modelId="{2F15A98C-F507-4F7E-9EB5-7613EBFB5D3E}" type="pres">
      <dgm:prSet presAssocID="{B69BD5D1-6A1A-4829-B9D8-85D47CF6E2B5}" presName="bgOutline" presStyleLbl="fgAcc1" presStyleIdx="0" presStyleCnt="3">
        <dgm:presLayoutVars>
          <dgm:bulletEnabled/>
        </dgm:presLayoutVars>
      </dgm:prSet>
      <dgm:spPr/>
    </dgm:pt>
    <dgm:pt modelId="{AAD03457-5A26-46D6-B166-40ED04329DA4}" type="pres">
      <dgm:prSet presAssocID="{28D93AAA-1D08-45C3-8427-BC3F9FCD9BFA}" presName="space" presStyleCnt="0"/>
      <dgm:spPr/>
    </dgm:pt>
    <dgm:pt modelId="{98129618-E340-4640-9016-359298B5E265}" type="pres">
      <dgm:prSet presAssocID="{8AC19B29-E13B-463C-94A0-9D714FB9A945}" presName="composite" presStyleCnt="0"/>
      <dgm:spPr/>
    </dgm:pt>
    <dgm:pt modelId="{7B6EDDED-DC89-4209-B734-E2C4FE3A6B59}" type="pres">
      <dgm:prSet presAssocID="{8AC19B29-E13B-463C-94A0-9D714FB9A945}" presName="parTx" presStyleLbl="alignNode1" presStyleIdx="1" presStyleCnt="3">
        <dgm:presLayoutVars>
          <dgm:chMax val="0"/>
          <dgm:chPref val="0"/>
        </dgm:presLayoutVars>
      </dgm:prSet>
      <dgm:spPr/>
    </dgm:pt>
    <dgm:pt modelId="{2F2E5805-3350-43F6-8498-747E747C57CC}" type="pres">
      <dgm:prSet presAssocID="{8AC19B29-E13B-463C-94A0-9D714FB9A945}" presName="bgOutline" presStyleLbl="fgAcc1" presStyleIdx="1" presStyleCnt="3">
        <dgm:presLayoutVars>
          <dgm:bulletEnabled/>
        </dgm:presLayoutVars>
      </dgm:prSet>
      <dgm:spPr/>
    </dgm:pt>
    <dgm:pt modelId="{BD58D36F-99FA-4AD7-8D44-C217AB713B64}" type="pres">
      <dgm:prSet presAssocID="{8C6091CA-AA11-46B8-B4BD-5E3E6B17B4EA}" presName="space" presStyleCnt="0"/>
      <dgm:spPr/>
    </dgm:pt>
    <dgm:pt modelId="{CBD0E279-6EBC-4980-9C4F-AE7FCE5245CE}" type="pres">
      <dgm:prSet presAssocID="{F23C0FB4-1B03-4CB1-B5FE-AE44E4302C89}" presName="composite" presStyleCnt="0"/>
      <dgm:spPr/>
    </dgm:pt>
    <dgm:pt modelId="{DBE4736F-6BF6-4D65-B678-883DAC87DC22}" type="pres">
      <dgm:prSet presAssocID="{F23C0FB4-1B03-4CB1-B5FE-AE44E4302C89}" presName="parTx" presStyleLbl="alignNode1" presStyleIdx="2" presStyleCnt="3">
        <dgm:presLayoutVars>
          <dgm:chMax val="0"/>
          <dgm:chPref val="0"/>
        </dgm:presLayoutVars>
      </dgm:prSet>
      <dgm:spPr/>
    </dgm:pt>
    <dgm:pt modelId="{1BBF329B-2E37-4FBE-843E-337861A61550}" type="pres">
      <dgm:prSet presAssocID="{F23C0FB4-1B03-4CB1-B5FE-AE44E4302C89}" presName="bgOutline" presStyleLbl="fgAcc1" presStyleIdx="2" presStyleCnt="3">
        <dgm:presLayoutVars>
          <dgm:bulletEnabled/>
        </dgm:presLayoutVars>
      </dgm:prSet>
      <dgm:spPr/>
    </dgm:pt>
  </dgm:ptLst>
  <dgm:cxnLst>
    <dgm:cxn modelId="{92ECF813-9B74-4869-9810-D38C1951B74C}" srcId="{A4357594-C6B1-428B-A6F1-C8631C04ED54}" destId="{B69BD5D1-6A1A-4829-B9D8-85D47CF6E2B5}" srcOrd="0" destOrd="0" parTransId="{DCC30270-C481-4D30-811B-A60A452A9FB3}" sibTransId="{28D93AAA-1D08-45C3-8427-BC3F9FCD9BFA}"/>
    <dgm:cxn modelId="{25BB2E28-14E9-4EFB-8CB2-FB8CD5B10CF4}" type="presOf" srcId="{B69BD5D1-6A1A-4829-B9D8-85D47CF6E2B5}" destId="{C80C3809-48DE-4E45-BCD3-82619835ACB9}" srcOrd="0" destOrd="0" presId="urn:microsoft.com/office/officeart/2024/layout/HorizontalActionList"/>
    <dgm:cxn modelId="{4D21D530-7C49-4CE1-8260-4ABF47EAFFFA}" type="presOf" srcId="{F23C0FB4-1B03-4CB1-B5FE-AE44E4302C89}" destId="{DBE4736F-6BF6-4D65-B678-883DAC87DC22}" srcOrd="0" destOrd="0" presId="urn:microsoft.com/office/officeart/2024/layout/HorizontalActionList"/>
    <dgm:cxn modelId="{D80E3434-4903-4CC5-AF23-F1A104951237}" srcId="{B69BD5D1-6A1A-4829-B9D8-85D47CF6E2B5}" destId="{43343F45-EF07-4250-BB4A-98412F4F423A}" srcOrd="0" destOrd="0" parTransId="{01154C64-9833-4AA4-A0BE-4601EFB244B8}" sibTransId="{B45B241A-3F0D-41D7-AC2E-F4778E97E1CC}"/>
    <dgm:cxn modelId="{0AC4E340-182C-4251-807A-C8EA2007FB5B}" type="presOf" srcId="{873988B6-9CE2-4CB8-B6EF-D277FF0072F5}" destId="{2F2E5805-3350-43F6-8498-747E747C57CC}" srcOrd="0" destOrd="0" presId="urn:microsoft.com/office/officeart/2024/layout/HorizontalActionList"/>
    <dgm:cxn modelId="{1CDD137C-0458-4B2B-AE3F-79714B7FE8F0}" type="presOf" srcId="{8AC19B29-E13B-463C-94A0-9D714FB9A945}" destId="{7B6EDDED-DC89-4209-B734-E2C4FE3A6B59}" srcOrd="0" destOrd="0" presId="urn:microsoft.com/office/officeart/2024/layout/HorizontalActionList"/>
    <dgm:cxn modelId="{6DE4FD91-CF00-4283-88A3-77B9BE6E924A}" type="presOf" srcId="{C3DDD0CC-FE5B-4473-B781-72F7C4EE67A1}" destId="{1BBF329B-2E37-4FBE-843E-337861A61550}" srcOrd="0" destOrd="0" presId="urn:microsoft.com/office/officeart/2024/layout/HorizontalActionList"/>
    <dgm:cxn modelId="{5E46CAB6-0AD3-4478-BCAE-D6A269C30110}" srcId="{F23C0FB4-1B03-4CB1-B5FE-AE44E4302C89}" destId="{C3DDD0CC-FE5B-4473-B781-72F7C4EE67A1}" srcOrd="0" destOrd="0" parTransId="{5E6C2918-C839-4BC3-9495-B7CDF3A514DB}" sibTransId="{C9437305-2BE0-48F6-A9C1-96648773962C}"/>
    <dgm:cxn modelId="{1C75E4BF-9394-4CA7-ACE7-4BE5B5DA9BCD}" srcId="{A4357594-C6B1-428B-A6F1-C8631C04ED54}" destId="{F23C0FB4-1B03-4CB1-B5FE-AE44E4302C89}" srcOrd="2" destOrd="0" parTransId="{69CE574B-EF13-428C-A4CE-7D57AAD65C07}" sibTransId="{2F8E519F-7CA7-4D3C-97CC-235AD403CD40}"/>
    <dgm:cxn modelId="{64DF09C3-534B-446D-BD8B-ECCAC5CA830C}" type="presOf" srcId="{A4357594-C6B1-428B-A6F1-C8631C04ED54}" destId="{8B01B04E-C3A0-4491-B514-4844D3451E77}" srcOrd="0" destOrd="0" presId="urn:microsoft.com/office/officeart/2024/layout/HorizontalActionList"/>
    <dgm:cxn modelId="{8E6F99C3-2135-4B8B-95EC-107CCA03427D}" srcId="{A4357594-C6B1-428B-A6F1-C8631C04ED54}" destId="{8AC19B29-E13B-463C-94A0-9D714FB9A945}" srcOrd="1" destOrd="0" parTransId="{AB00C04B-DB47-4D77-BF38-1937B7039B01}" sibTransId="{8C6091CA-AA11-46B8-B4BD-5E3E6B17B4EA}"/>
    <dgm:cxn modelId="{E620C5E6-650E-4F51-B722-1FD4141149FC}" type="presOf" srcId="{43343F45-EF07-4250-BB4A-98412F4F423A}" destId="{2F15A98C-F507-4F7E-9EB5-7613EBFB5D3E}" srcOrd="0" destOrd="0" presId="urn:microsoft.com/office/officeart/2024/layout/HorizontalActionList"/>
    <dgm:cxn modelId="{4ED5AAEA-950E-48D1-A9A7-A62B2A145F90}" srcId="{8AC19B29-E13B-463C-94A0-9D714FB9A945}" destId="{873988B6-9CE2-4CB8-B6EF-D277FF0072F5}" srcOrd="0" destOrd="0" parTransId="{6EC393A8-221F-4830-B327-E83685578A3E}" sibTransId="{EEAEEAC6-4C79-4C15-BFEA-6DF7128AB5D8}"/>
    <dgm:cxn modelId="{8E97E95C-D5BD-4A4A-A419-6448DA7D4149}" type="presParOf" srcId="{8B01B04E-C3A0-4491-B514-4844D3451E77}" destId="{D423D757-765E-45C5-ADF6-96D37F3E81B8}" srcOrd="0" destOrd="0" presId="urn:microsoft.com/office/officeart/2024/layout/HorizontalActionList"/>
    <dgm:cxn modelId="{3E5B85FB-6446-418A-B201-F98580ACFA2F}" type="presParOf" srcId="{D423D757-765E-45C5-ADF6-96D37F3E81B8}" destId="{C80C3809-48DE-4E45-BCD3-82619835ACB9}" srcOrd="0" destOrd="0" presId="urn:microsoft.com/office/officeart/2024/layout/HorizontalActionList"/>
    <dgm:cxn modelId="{592C7149-38AB-4F8B-8E95-2190BB62A791}" type="presParOf" srcId="{D423D757-765E-45C5-ADF6-96D37F3E81B8}" destId="{2F15A98C-F507-4F7E-9EB5-7613EBFB5D3E}" srcOrd="1" destOrd="0" presId="urn:microsoft.com/office/officeart/2024/layout/HorizontalActionList"/>
    <dgm:cxn modelId="{3EEC7DE7-738B-4265-9346-1EB13A2B8321}" type="presParOf" srcId="{8B01B04E-C3A0-4491-B514-4844D3451E77}" destId="{AAD03457-5A26-46D6-B166-40ED04329DA4}" srcOrd="1" destOrd="0" presId="urn:microsoft.com/office/officeart/2024/layout/HorizontalActionList"/>
    <dgm:cxn modelId="{1C4A93F1-A06E-49A7-A714-35CC2B08AFEE}" type="presParOf" srcId="{8B01B04E-C3A0-4491-B514-4844D3451E77}" destId="{98129618-E340-4640-9016-359298B5E265}" srcOrd="2" destOrd="0" presId="urn:microsoft.com/office/officeart/2024/layout/HorizontalActionList"/>
    <dgm:cxn modelId="{60D377D6-34FD-4C5A-B3D9-06770BC3D991}" type="presParOf" srcId="{98129618-E340-4640-9016-359298B5E265}" destId="{7B6EDDED-DC89-4209-B734-E2C4FE3A6B59}" srcOrd="0" destOrd="0" presId="urn:microsoft.com/office/officeart/2024/layout/HorizontalActionList"/>
    <dgm:cxn modelId="{3B33AC8B-D701-433F-A527-B32EF545F33D}" type="presParOf" srcId="{98129618-E340-4640-9016-359298B5E265}" destId="{2F2E5805-3350-43F6-8498-747E747C57CC}" srcOrd="1" destOrd="0" presId="urn:microsoft.com/office/officeart/2024/layout/HorizontalActionList"/>
    <dgm:cxn modelId="{58D13450-ED25-4814-BDBA-3C9E2605C5F1}" type="presParOf" srcId="{8B01B04E-C3A0-4491-B514-4844D3451E77}" destId="{BD58D36F-99FA-4AD7-8D44-C217AB713B64}" srcOrd="3" destOrd="0" presId="urn:microsoft.com/office/officeart/2024/layout/HorizontalActionList"/>
    <dgm:cxn modelId="{A23DD490-1C63-430E-86CF-B0B131404143}" type="presParOf" srcId="{8B01B04E-C3A0-4491-B514-4844D3451E77}" destId="{CBD0E279-6EBC-4980-9C4F-AE7FCE5245CE}" srcOrd="4" destOrd="0" presId="urn:microsoft.com/office/officeart/2024/layout/HorizontalActionList"/>
    <dgm:cxn modelId="{05C9675B-3870-4921-9D37-B348CEDA136E}" type="presParOf" srcId="{CBD0E279-6EBC-4980-9C4F-AE7FCE5245CE}" destId="{DBE4736F-6BF6-4D65-B678-883DAC87DC22}" srcOrd="0" destOrd="0" presId="urn:microsoft.com/office/officeart/2024/layout/HorizontalActionList"/>
    <dgm:cxn modelId="{9A8192D5-D9C1-4ED5-B972-CA9EDBD0674C}" type="presParOf" srcId="{CBD0E279-6EBC-4980-9C4F-AE7FCE5245CE}" destId="{1BBF329B-2E37-4FBE-843E-337861A61550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721B6F-762F-4349-93CC-10C140DF623C}">
      <dsp:nvSpPr>
        <dsp:cNvPr id="0" name=""/>
        <dsp:cNvSpPr/>
      </dsp:nvSpPr>
      <dsp:spPr>
        <a:xfrm rot="16200000">
          <a:off x="-1492746" y="1494234"/>
          <a:ext cx="6858000" cy="3869531"/>
        </a:xfrm>
        <a:prstGeom prst="flowChartManualOpe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0" rIns="190500" bIns="0" numCol="1" spcCol="1270" anchor="t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000" kern="1200" dirty="0"/>
            <a:t>공공데이터의 한계</a:t>
          </a:r>
          <a:endParaRPr lang="en-US" altLang="ko-KR" sz="3000" kern="1200" dirty="0"/>
        </a:p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 dirty="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/>
            <a:t>공공데이터</a:t>
          </a:r>
          <a:r>
            <a:rPr lang="en-US" altLang="ko-KR" sz="2500" kern="1200" dirty="0"/>
            <a:t>(csv)</a:t>
          </a:r>
          <a:r>
            <a:rPr lang="ko-KR" altLang="en-US" sz="2500" kern="1200" dirty="0"/>
            <a:t>의 숫자 데이터는 일반인 사용자에게 직관적으로 판단하기 어려움</a:t>
          </a:r>
        </a:p>
      </dsp:txBody>
      <dsp:txXfrm rot="5400000">
        <a:off x="1488" y="1371600"/>
        <a:ext cx="3869531" cy="4114800"/>
      </dsp:txXfrm>
    </dsp:sp>
    <dsp:sp modelId="{46E0F13D-3421-4A9A-93AA-CC347FB28530}">
      <dsp:nvSpPr>
        <dsp:cNvPr id="0" name=""/>
        <dsp:cNvSpPr/>
      </dsp:nvSpPr>
      <dsp:spPr>
        <a:xfrm rot="16200000">
          <a:off x="2667000" y="1494234"/>
          <a:ext cx="6858000" cy="3869531"/>
        </a:xfrm>
        <a:prstGeom prst="flowChartManualOpe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0" rIns="190500" bIns="0" numCol="1" spcCol="1270" anchor="t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000" kern="1200" dirty="0"/>
            <a:t>서버 분석 엔진</a:t>
          </a:r>
          <a:endParaRPr lang="en-US" altLang="ko-KR" sz="3000" kern="1200" dirty="0"/>
        </a:p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 dirty="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/>
            <a:t>범죄 통계와 경찰 인프라</a:t>
          </a:r>
          <a:r>
            <a:rPr lang="en-US" altLang="ko-KR" sz="2500" kern="1200" dirty="0"/>
            <a:t>(1</a:t>
          </a:r>
          <a:r>
            <a:rPr lang="ko-KR" altLang="en-US" sz="2500" kern="1200" dirty="0"/>
            <a:t>인당 담당 인구</a:t>
          </a:r>
          <a:r>
            <a:rPr lang="en-US" altLang="ko-KR" sz="2500" kern="1200" dirty="0"/>
            <a:t>) </a:t>
          </a:r>
          <a:r>
            <a:rPr lang="ko-KR" altLang="en-US" sz="2500" kern="1200" dirty="0"/>
            <a:t>데이터를 결합한 실질적인 위험도 연산</a:t>
          </a:r>
        </a:p>
      </dsp:txBody>
      <dsp:txXfrm rot="5400000">
        <a:off x="4161234" y="1371600"/>
        <a:ext cx="3869531" cy="4114800"/>
      </dsp:txXfrm>
    </dsp:sp>
    <dsp:sp modelId="{D442732D-14CB-41BF-8DAC-4875C720BEEF}">
      <dsp:nvSpPr>
        <dsp:cNvPr id="0" name=""/>
        <dsp:cNvSpPr/>
      </dsp:nvSpPr>
      <dsp:spPr>
        <a:xfrm rot="16200000">
          <a:off x="6826746" y="1494234"/>
          <a:ext cx="6858000" cy="3869531"/>
        </a:xfrm>
        <a:prstGeom prst="flowChartManualOpe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0" rIns="190500" bIns="0" numCol="1" spcCol="1270" anchor="t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000" kern="1200" dirty="0"/>
            <a:t>사용자 중심 가치</a:t>
          </a:r>
          <a:endParaRPr lang="en-US" altLang="ko-KR" sz="3000" kern="1200" dirty="0"/>
        </a:p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 dirty="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/>
            <a:t>안전</a:t>
          </a:r>
          <a:r>
            <a:rPr lang="en-US" altLang="ko-KR" sz="2500" kern="1200" dirty="0"/>
            <a:t>/</a:t>
          </a:r>
          <a:r>
            <a:rPr lang="ko-KR" altLang="en-US" sz="2500" kern="1200" dirty="0"/>
            <a:t>주의</a:t>
          </a:r>
          <a:r>
            <a:rPr lang="en-US" altLang="ko-KR" sz="2500" kern="1200" dirty="0"/>
            <a:t>/</a:t>
          </a:r>
          <a:r>
            <a:rPr lang="ko-KR" altLang="en-US" sz="2500" kern="1200" dirty="0"/>
            <a:t>위험 등급화 및 범죄 유형별 맞춤형 예방 가이드라인 제공</a:t>
          </a:r>
        </a:p>
      </dsp:txBody>
      <dsp:txXfrm rot="5400000">
        <a:off x="8320980" y="1371600"/>
        <a:ext cx="3869531" cy="4114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5A98C-F507-4F7E-9EB5-7613EBFB5D3E}">
      <dsp:nvSpPr>
        <dsp:cNvPr id="0" name=""/>
        <dsp:cNvSpPr/>
      </dsp:nvSpPr>
      <dsp:spPr>
        <a:xfrm rot="10800000">
          <a:off x="11057" y="2108937"/>
          <a:ext cx="3984698" cy="379967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86" tIns="168686" rIns="168686" bIns="168686" numCol="1" spcCol="1270" anchor="t" anchorCtr="0">
          <a:noAutofit/>
        </a:bodyPr>
        <a:lstStyle/>
        <a:p>
          <a:pPr marL="0" lvl="0" indent="0" algn="l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b="0" i="0" kern="1200" dirty="0" err="1"/>
            <a:t>Winsock</a:t>
          </a:r>
          <a:r>
            <a:rPr lang="ko-KR" sz="2300" b="0" i="0" kern="1200" dirty="0"/>
            <a:t> API 기반의 다중 스레드 통신 아키텍처를 설계하여 </a:t>
          </a:r>
          <a:r>
            <a:rPr lang="ko-KR" sz="2300" b="1" i="0" kern="1200" dirty="0"/>
            <a:t>클라이언트-서버 간 데이터 전송 및 안전성 극대화</a:t>
          </a:r>
          <a:r>
            <a:rPr lang="ko-KR" sz="2300" b="0" i="0" kern="1200" dirty="0"/>
            <a:t>를 목표</a:t>
          </a:r>
          <a:r>
            <a:rPr lang="ko-KR" altLang="en-US" sz="2300" b="0" i="0" kern="1200" dirty="0"/>
            <a:t>로 함</a:t>
          </a:r>
          <a:endParaRPr lang="ko-KR" altLang="en-US" sz="2300" kern="1200" dirty="0"/>
        </a:p>
      </dsp:txBody>
      <dsp:txXfrm rot="10800000">
        <a:off x="177990" y="2108937"/>
        <a:ext cx="3650832" cy="3632740"/>
      </dsp:txXfrm>
    </dsp:sp>
    <dsp:sp modelId="{C80C3809-48DE-4E45-BCD3-82619835ACB9}">
      <dsp:nvSpPr>
        <dsp:cNvPr id="0" name=""/>
        <dsp:cNvSpPr/>
      </dsp:nvSpPr>
      <dsp:spPr>
        <a:xfrm>
          <a:off x="11057" y="949389"/>
          <a:ext cx="3984698" cy="1195409"/>
        </a:xfrm>
        <a:prstGeom prst="round2SameRect">
          <a:avLst>
            <a:gd name="adj1" fmla="val 45000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880" tIns="314880" rIns="314880" bIns="314880" numCol="1" spcCol="1270" anchor="ctr" anchorCtr="0">
          <a:noAutofit/>
        </a:bodyPr>
        <a:lstStyle/>
        <a:p>
          <a:pPr marL="0" lvl="0" indent="0" algn="l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b="1" i="0" kern="1200" dirty="0"/>
            <a:t>실시간 치안 정보 소켓 네트워크망 구축</a:t>
          </a:r>
          <a:endParaRPr lang="ko-KR" altLang="en-US" sz="2300" kern="1200" dirty="0"/>
        </a:p>
      </dsp:txBody>
      <dsp:txXfrm>
        <a:off x="168613" y="1106945"/>
        <a:ext cx="3669586" cy="1037853"/>
      </dsp:txXfrm>
    </dsp:sp>
    <dsp:sp modelId="{2F2E5805-3350-43F6-8498-747E747C57CC}">
      <dsp:nvSpPr>
        <dsp:cNvPr id="0" name=""/>
        <dsp:cNvSpPr/>
      </dsp:nvSpPr>
      <dsp:spPr>
        <a:xfrm rot="10800000">
          <a:off x="4103650" y="2108937"/>
          <a:ext cx="3984698" cy="379967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86" tIns="168686" rIns="168686" bIns="168686" numCol="1" spcCol="1270" anchor="t" anchorCtr="0">
          <a:noAutofit/>
        </a:bodyPr>
        <a:lstStyle/>
        <a:p>
          <a:pPr marL="0" lvl="0" indent="0" algn="l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b="0" i="0" kern="1200" dirty="0"/>
            <a:t>연결 리스트로 동적 관리되는 치안 데이터를 </a:t>
          </a:r>
          <a:r>
            <a:rPr lang="ko-KR" sz="2300" b="1" i="0" kern="1200" dirty="0"/>
            <a:t>최대 </a:t>
          </a:r>
          <a:r>
            <a:rPr lang="ko-KR" sz="2300" b="1" i="0" kern="1200" dirty="0" err="1"/>
            <a:t>힙</a:t>
          </a:r>
          <a:r>
            <a:rPr lang="ko-KR" sz="2300" b="1" i="0" kern="1200" dirty="0"/>
            <a:t>(</a:t>
          </a:r>
          <a:r>
            <a:rPr lang="ko-KR" sz="2300" b="1" i="0" kern="1200" dirty="0" err="1"/>
            <a:t>Max</a:t>
          </a:r>
          <a:r>
            <a:rPr lang="ko-KR" sz="2300" b="1" i="0" kern="1200" dirty="0"/>
            <a:t> </a:t>
          </a:r>
          <a:r>
            <a:rPr lang="ko-KR" sz="2300" b="1" i="0" kern="1200" dirty="0" err="1"/>
            <a:t>Heap</a:t>
          </a:r>
          <a:r>
            <a:rPr lang="ko-KR" sz="2300" b="1" i="0" kern="1200" dirty="0"/>
            <a:t>) 정렬 알고리즘을 활용해 </a:t>
          </a:r>
          <a:r>
            <a:rPr lang="ko-KR" sz="2300" b="1" i="0" kern="1200" dirty="0" err="1"/>
            <a:t>O</a:t>
          </a:r>
          <a:r>
            <a:rPr lang="ko-KR" sz="2300" b="1" i="0" kern="1200" dirty="0"/>
            <a:t>(</a:t>
          </a:r>
          <a:r>
            <a:rPr lang="ko-KR" sz="2300" b="1" i="0" kern="1200" dirty="0" err="1"/>
            <a:t>N</a:t>
          </a:r>
          <a:r>
            <a:rPr lang="ko-KR" sz="2300" b="1" i="0" kern="1200" dirty="0"/>
            <a:t> </a:t>
          </a:r>
          <a:r>
            <a:rPr lang="ko-KR" sz="2300" b="1" i="0" kern="1200" dirty="0" err="1"/>
            <a:t>log</a:t>
          </a:r>
          <a:r>
            <a:rPr lang="ko-KR" sz="2300" b="1" i="0" kern="1200" dirty="0"/>
            <a:t> K) 내에</a:t>
          </a:r>
          <a:r>
            <a:rPr lang="en-US" altLang="ko-KR" sz="2300" b="1" i="0" kern="1200" dirty="0"/>
            <a:t> </a:t>
          </a:r>
          <a:r>
            <a:rPr lang="ko-KR" altLang="en-US" sz="2300" b="1" i="0" kern="1200" dirty="0"/>
            <a:t>빠르게</a:t>
          </a:r>
          <a:r>
            <a:rPr lang="ko-KR" sz="2300" b="1" i="0" kern="1200" dirty="0"/>
            <a:t> 연산</a:t>
          </a:r>
          <a:r>
            <a:rPr lang="ko-KR" sz="2300" b="0" i="0" kern="1200" dirty="0"/>
            <a:t>하여 </a:t>
          </a:r>
          <a:r>
            <a:rPr lang="ko-KR" altLang="en-US" sz="2300" b="0" i="0" kern="1200" dirty="0"/>
            <a:t>필요한 </a:t>
          </a:r>
          <a:r>
            <a:rPr lang="ko-KR" sz="2300" b="0" i="0" kern="1200" dirty="0"/>
            <a:t>최상위 </a:t>
          </a:r>
          <a:r>
            <a:rPr lang="ko-KR" sz="2300" b="0" i="0" kern="1200" dirty="0" err="1"/>
            <a:t>위험군</a:t>
          </a:r>
          <a:r>
            <a:rPr lang="ko-KR" sz="2300" b="0" i="0" kern="1200" dirty="0"/>
            <a:t> 정보를 정확하게 정렬</a:t>
          </a:r>
          <a:r>
            <a:rPr lang="ko-KR" altLang="en-US" sz="2300" b="0" i="0" kern="1200" dirty="0"/>
            <a:t>함</a:t>
          </a:r>
          <a:endParaRPr lang="ko-KR" altLang="en-US" sz="2300" kern="1200" dirty="0"/>
        </a:p>
      </dsp:txBody>
      <dsp:txXfrm rot="10800000">
        <a:off x="4270583" y="2108937"/>
        <a:ext cx="3650832" cy="3632740"/>
      </dsp:txXfrm>
    </dsp:sp>
    <dsp:sp modelId="{7B6EDDED-DC89-4209-B734-E2C4FE3A6B59}">
      <dsp:nvSpPr>
        <dsp:cNvPr id="0" name=""/>
        <dsp:cNvSpPr/>
      </dsp:nvSpPr>
      <dsp:spPr>
        <a:xfrm>
          <a:off x="4103650" y="949389"/>
          <a:ext cx="3984698" cy="1195409"/>
        </a:xfrm>
        <a:prstGeom prst="round2SameRect">
          <a:avLst>
            <a:gd name="adj1" fmla="val 45000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880" tIns="314880" rIns="314880" bIns="31488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i="0" kern="1200" dirty="0"/>
            <a:t>대용량 데이터 고속 파싱 및 우선순위 연산</a:t>
          </a:r>
          <a:endParaRPr lang="ko-KR" altLang="en-US" sz="2000" kern="1200" dirty="0"/>
        </a:p>
      </dsp:txBody>
      <dsp:txXfrm>
        <a:off x="4261206" y="1106945"/>
        <a:ext cx="3669586" cy="1037853"/>
      </dsp:txXfrm>
    </dsp:sp>
    <dsp:sp modelId="{1BBF329B-2E37-4FBE-843E-337861A61550}">
      <dsp:nvSpPr>
        <dsp:cNvPr id="0" name=""/>
        <dsp:cNvSpPr/>
      </dsp:nvSpPr>
      <dsp:spPr>
        <a:xfrm rot="10800000">
          <a:off x="8196243" y="2108937"/>
          <a:ext cx="3984698" cy="379967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86" tIns="168686" rIns="168686" bIns="168686" numCol="1" spcCol="1270" anchor="t" anchorCtr="0">
          <a:noAutofit/>
        </a:bodyPr>
        <a:lstStyle/>
        <a:p>
          <a:pPr marL="0" lvl="0" indent="0" algn="l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b="0" i="0" kern="1200" dirty="0"/>
            <a:t>체감 치안 위험도 분석 결과를 안전/주의/위험 등급으로 시각화하고 </a:t>
          </a:r>
          <a:r>
            <a:rPr lang="ko-KR" sz="2300" b="1" i="0" kern="1200" dirty="0"/>
            <a:t>각 범죄 유형별 맞춤 예방 가이드라인을 매핑</a:t>
          </a:r>
          <a:r>
            <a:rPr lang="ko-KR" sz="2300" b="0" i="0" kern="1200" dirty="0"/>
            <a:t>하여 유의미한 행동 수칙을 즉각 제안</a:t>
          </a:r>
          <a:r>
            <a:rPr lang="ko-KR" altLang="en-US" sz="2300" b="0" i="0" kern="1200" dirty="0"/>
            <a:t>함</a:t>
          </a:r>
          <a:endParaRPr lang="ko-KR" altLang="en-US" sz="2300" kern="1200" dirty="0"/>
        </a:p>
      </dsp:txBody>
      <dsp:txXfrm rot="10800000">
        <a:off x="8363176" y="2108937"/>
        <a:ext cx="3650832" cy="3632740"/>
      </dsp:txXfrm>
    </dsp:sp>
    <dsp:sp modelId="{DBE4736F-6BF6-4D65-B678-883DAC87DC22}">
      <dsp:nvSpPr>
        <dsp:cNvPr id="0" name=""/>
        <dsp:cNvSpPr/>
      </dsp:nvSpPr>
      <dsp:spPr>
        <a:xfrm>
          <a:off x="8196243" y="949389"/>
          <a:ext cx="3984698" cy="1195409"/>
        </a:xfrm>
        <a:prstGeom prst="round2SameRect">
          <a:avLst>
            <a:gd name="adj1" fmla="val 45000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880" tIns="314880" rIns="314880" bIns="31488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i="0" kern="1200" dirty="0"/>
            <a:t>사용자 맞춤형 예방 수칙 및 가이드 매핑</a:t>
          </a:r>
          <a:endParaRPr lang="ko-KR" altLang="en-US" sz="2000" kern="1200" dirty="0"/>
        </a:p>
      </dsp:txBody>
      <dsp:txXfrm>
        <a:off x="8353799" y="1106945"/>
        <a:ext cx="3669586" cy="1037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list" pri="80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7055-1663-3C38-D584-92B997E7B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E634ED-40C8-2CD5-FFE8-6ACC246DA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FE5656-09F5-DD78-5C63-DCABA277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5F79C0-FC64-31F3-47C8-11989046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BF3EA9-7380-138E-8334-284EE5FF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48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A022C-9B56-3201-0EAE-9B4DCCD2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D3FEF2-2655-44EA-9DF6-078D338CE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5DF68-19DF-7402-9B30-D3F6D7176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4351A8-AC14-4153-BCC6-36E761F2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38682-15C8-D306-91D5-B6B0E3A0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573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E552F-E31B-21AE-5E26-80BA96B1F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6D23A0-13C9-5A1A-C204-33D039841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195FA-90A8-C32D-22FF-C0295DB8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3DF2DF-A724-B159-D21D-E618D2DFE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875A58-D4ED-E9C5-5687-0CEABDD4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741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35DDB-D711-3464-DFDC-834995F9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1AECE9-AF47-6BB8-9754-8680D41CE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A7A46D-8E0B-51E3-1513-97001CF8F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FCDB54-5150-27EC-4AF4-339FD129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E21C68-6309-E6BB-2D1B-B85BC1CF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8F2991-6D6E-32BD-B374-1A0078A1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686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D7C10-1C56-3678-1810-2E751B97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F42C22-4058-92E1-B806-266022DC9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9A35BB-9E64-7E7F-C3EB-51B943BEB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96AE6E-A369-17E5-DDDA-4783BA8F5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9A2CC8-C051-D8FF-56B2-AD1119ED3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D01970-6B11-29B1-9C8F-3A865686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522123-B38D-4194-A5D8-FA2D75824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353121-F57A-6D47-D963-84F53536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10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4212A-464F-CF3D-CEAB-5DBEBABB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F57A08-6A23-8D37-289B-666FC44F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5D86BD-AD4C-62F5-C956-CCE6C1D7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AEDDF4-B0D5-2E5D-1855-4049DD18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41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E5984A-C742-47FB-24FD-97F4A00F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30DC96-4922-1EEB-6E1F-E8BFFF04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42E87C-11C7-CB36-598B-86E522D0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42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C0307-E62B-292D-1D7B-8A824EEA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2E581-4B74-373F-62D4-5B8ED3190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62D9E6-E755-A891-DA6B-E43103FC1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B45FD9-647B-4267-D3E5-71262F0AD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3B4256-A8EF-0904-FFDF-B3443293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BEB597-40AF-4F7C-3AB7-5F1349FE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741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51E1F-BC54-A482-CC39-1A0A990A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73F050-3AC4-00DC-2838-01617308E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FED835-CD62-FB0F-11B0-7C3ADE3F6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A49777-6137-FC2F-AECD-B37D8953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D40B3A-01FC-8915-FAA1-B04EAAABE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37724E-CF19-9C6A-635E-AF81D20E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52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3013A-4B7F-1258-07D8-B885E84A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55C964-05E0-A49C-F154-E6390478F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B9A06E-D67D-005C-D32B-2324F57E0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3216F4-1FB0-248F-190B-1F8BB220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98D65D-AD9C-3541-678A-137A60A9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34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B301EF-18EA-DEAE-2273-4F4977D0E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010BBF-1F99-3E76-4CC7-D9AEBE863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3B8218-2946-FB36-6FB2-A69BBFBD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CD333B-82D0-A537-52A7-28522BF57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5E0B5-E562-F428-3D78-02457C6E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98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20055C-5CD8-7D77-2943-6454D13FD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601DD0-301F-477B-EEFC-B044226C5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7DFF0-B322-66E0-9D7E-30D6EE75E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D6446-A5CC-41F6-B619-2E1AF8F57679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5D44E-C584-3F06-FCF5-94A4493ED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1C6880-7E84-0323-C9B3-6E749EF3F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8E9A4-285E-4468-A8AB-12BDE9B5B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12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04F11271-CFF0-112F-1921-B1185B311C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387075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62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다이어그램 9">
            <a:extLst>
              <a:ext uri="{FF2B5EF4-FFF2-40B4-BE49-F238E27FC236}">
                <a16:creationId xmlns:a16="http://schemas.microsoft.com/office/drawing/2014/main" id="{1CC2ABCB-D660-77DE-68EB-78674105C9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057976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214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94BDE085-8FC7-EFFD-2F9C-13B8EADE5079}"/>
              </a:ext>
            </a:extLst>
          </p:cNvPr>
          <p:cNvSpPr/>
          <p:nvPr/>
        </p:nvSpPr>
        <p:spPr>
          <a:xfrm>
            <a:off x="131934" y="3123027"/>
            <a:ext cx="1041010" cy="1093763"/>
          </a:xfrm>
          <a:prstGeom prst="triangl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3FAB2F7-E8E2-CE2B-C7D0-3E01AD353BCC}"/>
              </a:ext>
            </a:extLst>
          </p:cNvPr>
          <p:cNvSpPr/>
          <p:nvPr/>
        </p:nvSpPr>
        <p:spPr>
          <a:xfrm>
            <a:off x="12359" y="2349305"/>
            <a:ext cx="1280161" cy="119575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사용자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4CB8765-B2DA-FACE-5A9B-253B9AA79A1A}"/>
              </a:ext>
            </a:extLst>
          </p:cNvPr>
          <p:cNvSpPr/>
          <p:nvPr/>
        </p:nvSpPr>
        <p:spPr>
          <a:xfrm>
            <a:off x="1594979" y="140677"/>
            <a:ext cx="3291840" cy="655554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CEA9E1F-DFF2-D940-DA4F-7112D66FBAF3}"/>
              </a:ext>
            </a:extLst>
          </p:cNvPr>
          <p:cNvSpPr/>
          <p:nvPr/>
        </p:nvSpPr>
        <p:spPr>
          <a:xfrm>
            <a:off x="1594979" y="140677"/>
            <a:ext cx="3291840" cy="81592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클라이언트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58975827-E5AA-F296-3F73-E79FF6A7FF7A}"/>
              </a:ext>
            </a:extLst>
          </p:cNvPr>
          <p:cNvSpPr/>
          <p:nvPr/>
        </p:nvSpPr>
        <p:spPr>
          <a:xfrm>
            <a:off x="1820062" y="1135970"/>
            <a:ext cx="2841674" cy="33059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메뉴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176E092-0439-6BDC-C45D-D96189868CCA}"/>
              </a:ext>
            </a:extLst>
          </p:cNvPr>
          <p:cNvSpPr/>
          <p:nvPr/>
        </p:nvSpPr>
        <p:spPr>
          <a:xfrm>
            <a:off x="1820062" y="1702196"/>
            <a:ext cx="2841674" cy="71745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초기화면</a:t>
            </a:r>
            <a:endParaRPr lang="en-US" altLang="ko-KR" dirty="0"/>
          </a:p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  <a:r>
              <a:rPr lang="en-US" altLang="ko-KR" dirty="0"/>
              <a:t>/</a:t>
            </a:r>
            <a:r>
              <a:rPr lang="ko-KR" altLang="en-US" dirty="0"/>
              <a:t>종료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79CF1FA-BC7D-B20C-A8AA-F9BCAC7FCCDF}"/>
              </a:ext>
            </a:extLst>
          </p:cNvPr>
          <p:cNvSpPr/>
          <p:nvPr/>
        </p:nvSpPr>
        <p:spPr>
          <a:xfrm>
            <a:off x="1820062" y="2651766"/>
            <a:ext cx="2841674" cy="61897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범죄 발생 통계 현황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DF37608-0A4C-6539-8E37-B58A55CC6DCB}"/>
              </a:ext>
            </a:extLst>
          </p:cNvPr>
          <p:cNvSpPr/>
          <p:nvPr/>
        </p:nvSpPr>
        <p:spPr>
          <a:xfrm>
            <a:off x="1820062" y="3499348"/>
            <a:ext cx="2841674" cy="61897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2. </a:t>
            </a:r>
            <a:r>
              <a:rPr lang="ko-KR" altLang="en-US" dirty="0"/>
              <a:t>치안 인프라 통계 현황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5893180-1185-7E93-DBEF-676C0061D8C1}"/>
              </a:ext>
            </a:extLst>
          </p:cNvPr>
          <p:cNvSpPr/>
          <p:nvPr/>
        </p:nvSpPr>
        <p:spPr>
          <a:xfrm>
            <a:off x="1820062" y="4346930"/>
            <a:ext cx="2841674" cy="71745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3. </a:t>
            </a:r>
            <a:r>
              <a:rPr lang="ko-KR" altLang="en-US" dirty="0"/>
              <a:t>실질 치안 위험도와</a:t>
            </a:r>
            <a:endParaRPr lang="en-US" altLang="ko-KR" dirty="0"/>
          </a:p>
          <a:p>
            <a:pPr algn="ctr"/>
            <a:r>
              <a:rPr lang="ko-KR" altLang="en-US" dirty="0"/>
              <a:t>맞춤형 가이드라인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C880C50-506E-6607-5612-A33ACC05D1C5}"/>
              </a:ext>
            </a:extLst>
          </p:cNvPr>
          <p:cNvSpPr/>
          <p:nvPr/>
        </p:nvSpPr>
        <p:spPr>
          <a:xfrm>
            <a:off x="1820062" y="5292986"/>
            <a:ext cx="2841674" cy="61897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4. </a:t>
            </a:r>
            <a:r>
              <a:rPr lang="ko-KR" altLang="en-US" dirty="0"/>
              <a:t>로그아웃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초기화면 </a:t>
            </a:r>
            <a:r>
              <a:rPr lang="ko-KR" altLang="en-US" dirty="0" err="1"/>
              <a:t>돌아감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928550F-888D-0260-44BB-9372E2244FA0}"/>
              </a:ext>
            </a:extLst>
          </p:cNvPr>
          <p:cNvSpPr/>
          <p:nvPr/>
        </p:nvSpPr>
        <p:spPr>
          <a:xfrm>
            <a:off x="5556738" y="140677"/>
            <a:ext cx="4370364" cy="65555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150C844-F37D-4BE4-093D-A3158717805B}"/>
              </a:ext>
            </a:extLst>
          </p:cNvPr>
          <p:cNvSpPr/>
          <p:nvPr/>
        </p:nvSpPr>
        <p:spPr>
          <a:xfrm>
            <a:off x="5556738" y="140677"/>
            <a:ext cx="4370364" cy="81592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서버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60CD013-1502-36E4-F989-0EB7CB792D6E}"/>
              </a:ext>
            </a:extLst>
          </p:cNvPr>
          <p:cNvSpPr/>
          <p:nvPr/>
        </p:nvSpPr>
        <p:spPr>
          <a:xfrm>
            <a:off x="5855566" y="1065630"/>
            <a:ext cx="3772708" cy="16565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Winsock </a:t>
            </a:r>
            <a:r>
              <a:rPr lang="ko-KR" altLang="en-US" dirty="0"/>
              <a:t>기반 </a:t>
            </a:r>
            <a:r>
              <a:rPr lang="en-US" altLang="ko-KR" dirty="0"/>
              <a:t>TCP </a:t>
            </a:r>
            <a:r>
              <a:rPr lang="ko-KR" altLang="en-US" dirty="0"/>
              <a:t>통신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en-US" altLang="ko-KR" dirty="0" err="1"/>
              <a:t>WSAStartup</a:t>
            </a:r>
            <a:r>
              <a:rPr lang="en-US" altLang="ko-KR" dirty="0"/>
              <a:t>/bind/listen/accept</a:t>
            </a:r>
          </a:p>
          <a:p>
            <a:r>
              <a:rPr lang="en-US" altLang="ko-KR" dirty="0"/>
              <a:t>- </a:t>
            </a:r>
            <a:r>
              <a:rPr lang="en-US" altLang="ko-KR" dirty="0" err="1"/>
              <a:t>ClientHandler</a:t>
            </a:r>
            <a:r>
              <a:rPr lang="en-US" altLang="ko-KR" dirty="0"/>
              <a:t> </a:t>
            </a:r>
            <a:r>
              <a:rPr lang="ko-KR" altLang="en-US" dirty="0"/>
              <a:t>스레드 처리</a:t>
            </a:r>
            <a:endParaRPr lang="en-US" altLang="ko-KR" dirty="0"/>
          </a:p>
          <a:p>
            <a:r>
              <a:rPr lang="en-US" altLang="ko-KR" dirty="0"/>
              <a:t>- Mutex</a:t>
            </a:r>
            <a:r>
              <a:rPr lang="ko-KR" altLang="en-US" dirty="0"/>
              <a:t>로 접속 목록 보호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A5E6C7E-3CC8-01D5-E4FF-8BF63930057D}"/>
              </a:ext>
            </a:extLst>
          </p:cNvPr>
          <p:cNvSpPr/>
          <p:nvPr/>
        </p:nvSpPr>
        <p:spPr>
          <a:xfrm>
            <a:off x="5855566" y="2933114"/>
            <a:ext cx="3772708" cy="16565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500" dirty="0"/>
          </a:p>
          <a:p>
            <a:r>
              <a:rPr lang="en-US" altLang="ko-KR" sz="1500" dirty="0"/>
              <a:t>- Users.txt</a:t>
            </a:r>
            <a:r>
              <a:rPr lang="ko-KR" altLang="en-US" sz="1500" dirty="0"/>
              <a:t> 사용자 파일 로드</a:t>
            </a:r>
            <a:endParaRPr lang="en-US" altLang="ko-KR" sz="1500" dirty="0"/>
          </a:p>
          <a:p>
            <a:r>
              <a:rPr lang="en-US" altLang="ko-KR" sz="1500" dirty="0"/>
              <a:t>- CrimeStats.csv </a:t>
            </a:r>
            <a:r>
              <a:rPr lang="ko-KR" altLang="en-US" sz="1500" dirty="0"/>
              <a:t>범죄 통계 파싱</a:t>
            </a:r>
            <a:endParaRPr lang="en-US" altLang="ko-KR" sz="1500" dirty="0"/>
          </a:p>
          <a:p>
            <a:r>
              <a:rPr lang="en-US" altLang="ko-KR" sz="1500" dirty="0"/>
              <a:t>- PoliceStats.csv </a:t>
            </a:r>
            <a:r>
              <a:rPr lang="ko-KR" altLang="en-US" sz="1500" dirty="0"/>
              <a:t>경찰 통계 파싱</a:t>
            </a:r>
            <a:endParaRPr lang="en-US" altLang="ko-KR" sz="1500" dirty="0"/>
          </a:p>
          <a:p>
            <a:r>
              <a:rPr lang="en-US" altLang="ko-KR" sz="1500" dirty="0"/>
              <a:t>- CP949/UTF-8 </a:t>
            </a:r>
            <a:r>
              <a:rPr lang="ko-KR" altLang="en-US" sz="1500" dirty="0"/>
              <a:t>변환</a:t>
            </a:r>
            <a:endParaRPr lang="en-US" altLang="ko-KR" sz="1500" dirty="0"/>
          </a:p>
          <a:p>
            <a:r>
              <a:rPr lang="en-US" altLang="ko-KR" sz="1500" dirty="0"/>
              <a:t>- CSV </a:t>
            </a:r>
            <a:r>
              <a:rPr lang="ko-KR" altLang="en-US" sz="1500" dirty="0"/>
              <a:t>데이터 검증</a:t>
            </a:r>
            <a:endParaRPr lang="en-US" altLang="ko-KR" sz="1500" dirty="0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FC0BDBA7-2372-9287-02F4-62DD981ED1CF}"/>
              </a:ext>
            </a:extLst>
          </p:cNvPr>
          <p:cNvSpPr/>
          <p:nvPr/>
        </p:nvSpPr>
        <p:spPr>
          <a:xfrm>
            <a:off x="5855567" y="4733766"/>
            <a:ext cx="3772708" cy="16565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- </a:t>
            </a:r>
            <a:r>
              <a:rPr lang="ko-KR" altLang="en-US" sz="1500" dirty="0"/>
              <a:t>범죄 위험도 </a:t>
            </a:r>
            <a:r>
              <a:rPr lang="en-US" altLang="ko-KR" sz="1500" dirty="0"/>
              <a:t>= </a:t>
            </a:r>
            <a:r>
              <a:rPr lang="ko-KR" altLang="en-US" sz="1500" dirty="0"/>
              <a:t>지역범죄</a:t>
            </a:r>
            <a:r>
              <a:rPr lang="en-US" altLang="ko-KR" sz="1500" dirty="0"/>
              <a:t>/</a:t>
            </a:r>
            <a:r>
              <a:rPr lang="ko-KR" altLang="en-US" sz="1500" dirty="0"/>
              <a:t>전국평균</a:t>
            </a:r>
            <a:endParaRPr lang="en-US" altLang="ko-KR" sz="1500" dirty="0"/>
          </a:p>
          <a:p>
            <a:r>
              <a:rPr lang="en-US" altLang="ko-KR" sz="1500" dirty="0"/>
              <a:t>- </a:t>
            </a:r>
            <a:r>
              <a:rPr lang="ko-KR" altLang="en-US" sz="1500" dirty="0"/>
              <a:t>치안 대응력 </a:t>
            </a:r>
            <a:r>
              <a:rPr lang="en-US" altLang="ko-KR" sz="1500" dirty="0"/>
              <a:t>= </a:t>
            </a:r>
            <a:r>
              <a:rPr lang="ko-KR" altLang="en-US" sz="1500" dirty="0"/>
              <a:t>담당인구</a:t>
            </a:r>
            <a:r>
              <a:rPr lang="en-US" altLang="ko-KR" sz="1500" dirty="0"/>
              <a:t>/</a:t>
            </a:r>
            <a:r>
              <a:rPr lang="ko-KR" altLang="en-US" sz="1500" dirty="0"/>
              <a:t>전국평균</a:t>
            </a:r>
            <a:endParaRPr lang="en-US" altLang="ko-KR" sz="1500" dirty="0"/>
          </a:p>
          <a:p>
            <a:r>
              <a:rPr lang="en-US" altLang="ko-KR" sz="1500" dirty="0"/>
              <a:t>- </a:t>
            </a:r>
            <a:r>
              <a:rPr lang="ko-KR" altLang="en-US" sz="1500" dirty="0"/>
              <a:t>실질위험도 </a:t>
            </a:r>
            <a:r>
              <a:rPr lang="en-US" altLang="ko-KR" sz="1500" dirty="0"/>
              <a:t>= </a:t>
            </a:r>
            <a:r>
              <a:rPr lang="ko-KR" altLang="en-US" sz="1500" dirty="0"/>
              <a:t>범죄위험도</a:t>
            </a:r>
            <a:r>
              <a:rPr lang="en-US" altLang="ko-KR" sz="1500" dirty="0"/>
              <a:t>*</a:t>
            </a:r>
            <a:r>
              <a:rPr lang="ko-KR" altLang="en-US" sz="1500" dirty="0"/>
              <a:t>치안대응력</a:t>
            </a:r>
            <a:endParaRPr lang="en-US" altLang="ko-KR" sz="1500" dirty="0"/>
          </a:p>
          <a:p>
            <a:r>
              <a:rPr lang="en-US" altLang="ko-KR" sz="1500" dirty="0"/>
              <a:t>- </a:t>
            </a:r>
            <a:r>
              <a:rPr lang="ko-KR" altLang="en-US" sz="1500" dirty="0"/>
              <a:t>최대 </a:t>
            </a:r>
            <a:r>
              <a:rPr lang="ko-KR" altLang="en-US" sz="1500" dirty="0" err="1"/>
              <a:t>힙</a:t>
            </a:r>
            <a:r>
              <a:rPr lang="ko-KR" altLang="en-US" sz="1500" dirty="0"/>
              <a:t> 자료구조로 범죄 순위 산출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70C22B57-7775-5221-3AEF-6B0D8D149AA9}"/>
              </a:ext>
            </a:extLst>
          </p:cNvPr>
          <p:cNvSpPr/>
          <p:nvPr/>
        </p:nvSpPr>
        <p:spPr>
          <a:xfrm>
            <a:off x="5855566" y="1065630"/>
            <a:ext cx="3772708" cy="4536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네트워크</a:t>
            </a:r>
            <a:r>
              <a:rPr lang="en-US" altLang="ko-KR" dirty="0"/>
              <a:t>&amp;</a:t>
            </a:r>
            <a:r>
              <a:rPr lang="ko-KR" altLang="en-US" dirty="0"/>
              <a:t>세션 관리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EC08D96-BF1D-82D9-F9DD-F4404222E119}"/>
              </a:ext>
            </a:extLst>
          </p:cNvPr>
          <p:cNvSpPr/>
          <p:nvPr/>
        </p:nvSpPr>
        <p:spPr>
          <a:xfrm>
            <a:off x="5855566" y="2863983"/>
            <a:ext cx="3772708" cy="4536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</a:t>
            </a:r>
            <a:r>
              <a:rPr lang="ko-KR" altLang="en-US"/>
              <a:t>로드</a:t>
            </a:r>
            <a:r>
              <a:rPr lang="en-US" altLang="ko-KR" dirty="0"/>
              <a:t>&amp;</a:t>
            </a:r>
            <a:r>
              <a:rPr lang="ko-KR" altLang="en-US" dirty="0"/>
              <a:t>검증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E7F1670B-C586-9F69-9E69-F3A599CEE61E}"/>
              </a:ext>
            </a:extLst>
          </p:cNvPr>
          <p:cNvSpPr/>
          <p:nvPr/>
        </p:nvSpPr>
        <p:spPr>
          <a:xfrm>
            <a:off x="5855566" y="4732676"/>
            <a:ext cx="3772708" cy="4536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통계 분석</a:t>
            </a:r>
            <a:r>
              <a:rPr lang="en-US" altLang="ko-KR" dirty="0"/>
              <a:t>&amp;</a:t>
            </a:r>
            <a:r>
              <a:rPr lang="ko-KR" altLang="en-US" dirty="0"/>
              <a:t>지수 산출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7FF2AD1D-7CE2-689A-9BDD-F835E10D64B4}"/>
              </a:ext>
            </a:extLst>
          </p:cNvPr>
          <p:cNvSpPr/>
          <p:nvPr/>
        </p:nvSpPr>
        <p:spPr>
          <a:xfrm>
            <a:off x="10225930" y="140677"/>
            <a:ext cx="1770827" cy="655554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DA0AAB2-9409-D4FE-A649-BA26D2D39A9F}"/>
              </a:ext>
            </a:extLst>
          </p:cNvPr>
          <p:cNvSpPr/>
          <p:nvPr/>
        </p:nvSpPr>
        <p:spPr>
          <a:xfrm>
            <a:off x="10228913" y="140677"/>
            <a:ext cx="1770827" cy="81592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68" name="원통형 67">
            <a:extLst>
              <a:ext uri="{FF2B5EF4-FFF2-40B4-BE49-F238E27FC236}">
                <a16:creationId xmlns:a16="http://schemas.microsoft.com/office/drawing/2014/main" id="{6A32486F-233B-7A1C-F35A-300B16216716}"/>
              </a:ext>
            </a:extLst>
          </p:cNvPr>
          <p:cNvSpPr/>
          <p:nvPr/>
        </p:nvSpPr>
        <p:spPr>
          <a:xfrm>
            <a:off x="10339754" y="1135970"/>
            <a:ext cx="1547446" cy="1283678"/>
          </a:xfrm>
          <a:prstGeom prst="can">
            <a:avLst>
              <a:gd name="adj" fmla="val 19521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Users.txt</a:t>
            </a:r>
          </a:p>
          <a:p>
            <a:pPr algn="ctr"/>
            <a:r>
              <a:rPr lang="ko-KR" altLang="en-US" dirty="0"/>
              <a:t>사용자 계정 정보</a:t>
            </a:r>
          </a:p>
        </p:txBody>
      </p:sp>
      <p:sp>
        <p:nvSpPr>
          <p:cNvPr id="69" name="원통형 68">
            <a:extLst>
              <a:ext uri="{FF2B5EF4-FFF2-40B4-BE49-F238E27FC236}">
                <a16:creationId xmlns:a16="http://schemas.microsoft.com/office/drawing/2014/main" id="{85103CC2-6A25-BC67-EECA-BFEDBF3A0938}"/>
              </a:ext>
            </a:extLst>
          </p:cNvPr>
          <p:cNvSpPr/>
          <p:nvPr/>
        </p:nvSpPr>
        <p:spPr>
          <a:xfrm>
            <a:off x="10371938" y="3494073"/>
            <a:ext cx="1547446" cy="1283678"/>
          </a:xfrm>
          <a:prstGeom prst="can">
            <a:avLst>
              <a:gd name="adj" fmla="val 19521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/>
              <a:t>CrimeStats.csv</a:t>
            </a:r>
          </a:p>
          <a:p>
            <a:pPr algn="ctr"/>
            <a:r>
              <a:rPr lang="ko-KR" altLang="en-US" sz="1500" dirty="0"/>
              <a:t>범죄발생지역별 통계</a:t>
            </a:r>
          </a:p>
        </p:txBody>
      </p:sp>
      <p:sp>
        <p:nvSpPr>
          <p:cNvPr id="70" name="원통형 69">
            <a:extLst>
              <a:ext uri="{FF2B5EF4-FFF2-40B4-BE49-F238E27FC236}">
                <a16:creationId xmlns:a16="http://schemas.microsoft.com/office/drawing/2014/main" id="{C3AFCC4C-A995-F378-C30D-120EC955A9F1}"/>
              </a:ext>
            </a:extLst>
          </p:cNvPr>
          <p:cNvSpPr/>
          <p:nvPr/>
        </p:nvSpPr>
        <p:spPr>
          <a:xfrm>
            <a:off x="10371938" y="5031623"/>
            <a:ext cx="1547446" cy="1283678"/>
          </a:xfrm>
          <a:prstGeom prst="can">
            <a:avLst>
              <a:gd name="adj" fmla="val 19521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/>
              <a:t>PoliceStats.csv</a:t>
            </a:r>
          </a:p>
          <a:p>
            <a:pPr algn="ctr"/>
            <a:r>
              <a:rPr lang="ko-KR" altLang="en-US" sz="1500" dirty="0"/>
              <a:t>경찰관담당인구통계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4C8B14A-72FD-8240-A9D8-A390B3BEF035}"/>
              </a:ext>
            </a:extLst>
          </p:cNvPr>
          <p:cNvSpPr/>
          <p:nvPr/>
        </p:nvSpPr>
        <p:spPr>
          <a:xfrm>
            <a:off x="10225930" y="2525151"/>
            <a:ext cx="1770827" cy="81592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파일 입출력</a:t>
            </a:r>
          </a:p>
        </p:txBody>
      </p:sp>
      <p:sp>
        <p:nvSpPr>
          <p:cNvPr id="72" name="화살표: 왼쪽/오른쪽 71">
            <a:extLst>
              <a:ext uri="{FF2B5EF4-FFF2-40B4-BE49-F238E27FC236}">
                <a16:creationId xmlns:a16="http://schemas.microsoft.com/office/drawing/2014/main" id="{A700ABD3-8EE7-E694-6412-086AC6FE084C}"/>
              </a:ext>
            </a:extLst>
          </p:cNvPr>
          <p:cNvSpPr/>
          <p:nvPr/>
        </p:nvSpPr>
        <p:spPr>
          <a:xfrm>
            <a:off x="9495692" y="1466560"/>
            <a:ext cx="876246" cy="657674"/>
          </a:xfrm>
          <a:prstGeom prst="leftRightArrow">
            <a:avLst>
              <a:gd name="adj1" fmla="val 50000"/>
              <a:gd name="adj2" fmla="val 350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화살표: 왼쪽/오른쪽 72">
            <a:extLst>
              <a:ext uri="{FF2B5EF4-FFF2-40B4-BE49-F238E27FC236}">
                <a16:creationId xmlns:a16="http://schemas.microsoft.com/office/drawing/2014/main" id="{C753DC7C-89E7-BFC6-435F-E77B8E0ADF4C}"/>
              </a:ext>
            </a:extLst>
          </p:cNvPr>
          <p:cNvSpPr/>
          <p:nvPr/>
        </p:nvSpPr>
        <p:spPr>
          <a:xfrm>
            <a:off x="9488979" y="4205058"/>
            <a:ext cx="876246" cy="657674"/>
          </a:xfrm>
          <a:prstGeom prst="leftRightArrow">
            <a:avLst>
              <a:gd name="adj1" fmla="val 50000"/>
              <a:gd name="adj2" fmla="val 350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화살표: 위로 구부러짐 73">
            <a:extLst>
              <a:ext uri="{FF2B5EF4-FFF2-40B4-BE49-F238E27FC236}">
                <a16:creationId xmlns:a16="http://schemas.microsoft.com/office/drawing/2014/main" id="{EBA2A6B6-A2EF-C89D-2508-63921BA976D2}"/>
              </a:ext>
            </a:extLst>
          </p:cNvPr>
          <p:cNvSpPr/>
          <p:nvPr/>
        </p:nvSpPr>
        <p:spPr>
          <a:xfrm>
            <a:off x="4886819" y="3530991"/>
            <a:ext cx="666936" cy="47830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화살표: 위로 구부러짐 74">
            <a:extLst>
              <a:ext uri="{FF2B5EF4-FFF2-40B4-BE49-F238E27FC236}">
                <a16:creationId xmlns:a16="http://schemas.microsoft.com/office/drawing/2014/main" id="{1915C081-B22A-6B65-71B5-797A58D01400}"/>
              </a:ext>
            </a:extLst>
          </p:cNvPr>
          <p:cNvSpPr/>
          <p:nvPr/>
        </p:nvSpPr>
        <p:spPr>
          <a:xfrm flipH="1" flipV="1">
            <a:off x="4841632" y="2920253"/>
            <a:ext cx="666936" cy="47830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FEB14D-1B1B-27D2-2F16-2D3E15A7715E}"/>
              </a:ext>
            </a:extLst>
          </p:cNvPr>
          <p:cNvSpPr txBox="1"/>
          <p:nvPr/>
        </p:nvSpPr>
        <p:spPr>
          <a:xfrm>
            <a:off x="4882713" y="413591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/>
              <a:t>요청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CF1103-87E8-527D-F6B6-239557517484}"/>
              </a:ext>
            </a:extLst>
          </p:cNvPr>
          <p:cNvSpPr txBox="1"/>
          <p:nvPr/>
        </p:nvSpPr>
        <p:spPr>
          <a:xfrm>
            <a:off x="4882628" y="250289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응답</a:t>
            </a:r>
          </a:p>
        </p:txBody>
      </p:sp>
      <p:sp>
        <p:nvSpPr>
          <p:cNvPr id="80" name="화살표: 굽음 79">
            <a:extLst>
              <a:ext uri="{FF2B5EF4-FFF2-40B4-BE49-F238E27FC236}">
                <a16:creationId xmlns:a16="http://schemas.microsoft.com/office/drawing/2014/main" id="{CD9C7CF6-9860-5D72-ACF9-004D6A5FB834}"/>
              </a:ext>
            </a:extLst>
          </p:cNvPr>
          <p:cNvSpPr/>
          <p:nvPr/>
        </p:nvSpPr>
        <p:spPr>
          <a:xfrm>
            <a:off x="542880" y="542418"/>
            <a:ext cx="939557" cy="1477120"/>
          </a:xfrm>
          <a:prstGeom prst="ben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BD1451-AE15-D01A-507D-D79BFF7C2494}"/>
              </a:ext>
            </a:extLst>
          </p:cNvPr>
          <p:cNvSpPr txBox="1"/>
          <p:nvPr/>
        </p:nvSpPr>
        <p:spPr>
          <a:xfrm>
            <a:off x="100259" y="201953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/>
              <a:t>번호입력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833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0F6085-AB6E-A4E9-A19F-760811FC39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9FCFC"/>
          </a:solidFill>
          <a:ln w="1778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7780" cap="flat" cmpd="sng" algn="ctr">
                <a:solidFill>
                  <a:srgbClr val="F9FC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CAE3F-87B1-8D08-B8B5-47AF52B7EFB6}"/>
              </a:ext>
            </a:extLst>
          </p:cNvPr>
          <p:cNvSpPr txBox="1"/>
          <p:nvPr/>
        </p:nvSpPr>
        <p:spPr>
          <a:xfrm>
            <a:off x="431800" y="263956"/>
            <a:ext cx="6985000" cy="47192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24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실행 시나리오</a:t>
            </a:r>
            <a:r>
              <a:rPr lang="en-US" altLang="ko-KR" sz="24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4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클라이언트</a:t>
            </a:r>
            <a:r>
              <a:rPr lang="en-US" altLang="ko-KR" sz="24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24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서버 상호작용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F618C2F-F882-8282-791C-E7ED8449EFD0}"/>
              </a:ext>
            </a:extLst>
          </p:cNvPr>
          <p:cNvSpPr/>
          <p:nvPr/>
        </p:nvSpPr>
        <p:spPr>
          <a:xfrm>
            <a:off x="431800" y="1143000"/>
            <a:ext cx="3238500" cy="4445000"/>
          </a:xfrm>
          <a:prstGeom prst="roundRect">
            <a:avLst/>
          </a:prstGeom>
          <a:solidFill>
            <a:srgbClr val="E9F8E5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500" b="1">
                <a:solidFill>
                  <a:srgbClr val="141E22"/>
                </a:solidFill>
                <a:latin typeface="맑은 고딕" panose="020B0503020000020004" pitchFamily="50" charset="-127"/>
              </a:rPr>
              <a:t>클라이언트</a:t>
            </a:r>
            <a:r>
              <a:rPr lang="en-US" altLang="ko-KR" sz="1500" b="1">
                <a:solidFill>
                  <a:srgbClr val="141E22"/>
                </a:solidFill>
                <a:latin typeface="맑은 고딕" panose="020B0503020000020004" pitchFamily="50" charset="-127"/>
              </a:rPr>
              <a:t>(Client)</a:t>
            </a:r>
            <a:endParaRPr lang="ko-KR" altLang="en-US" sz="1500" b="1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09A7CE9-DC70-3AE6-E5B5-3E6950331520}"/>
              </a:ext>
            </a:extLst>
          </p:cNvPr>
          <p:cNvSpPr/>
          <p:nvPr/>
        </p:nvSpPr>
        <p:spPr>
          <a:xfrm>
            <a:off x="4470400" y="1143000"/>
            <a:ext cx="3149600" cy="4445000"/>
          </a:xfrm>
          <a:prstGeom prst="roundRect">
            <a:avLst/>
          </a:prstGeom>
          <a:solidFill>
            <a:srgbClr val="ECF6FA"/>
          </a:solidFill>
          <a:ln w="17780">
            <a:solidFill>
              <a:srgbClr val="1458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500" b="1">
                <a:solidFill>
                  <a:srgbClr val="141E22"/>
                </a:solidFill>
                <a:latin typeface="맑은 고딕" panose="020B0503020000020004" pitchFamily="50" charset="-127"/>
              </a:rPr>
              <a:t>공통 프로토콜</a:t>
            </a:r>
            <a:r>
              <a:rPr lang="en-US" altLang="ko-KR" sz="1500" b="1">
                <a:solidFill>
                  <a:srgbClr val="141E22"/>
                </a:solidFill>
                <a:latin typeface="맑은 고딕" panose="020B0503020000020004" pitchFamily="50" charset="-127"/>
              </a:rPr>
              <a:t>(Common.h)</a:t>
            </a:r>
            <a:endParaRPr lang="ko-KR" altLang="en-US" sz="1500" b="1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420DB1E-63C5-ED59-28EC-95502A5B06EA}"/>
              </a:ext>
            </a:extLst>
          </p:cNvPr>
          <p:cNvSpPr/>
          <p:nvPr/>
        </p:nvSpPr>
        <p:spPr>
          <a:xfrm>
            <a:off x="8445500" y="1143000"/>
            <a:ext cx="3302000" cy="4445000"/>
          </a:xfrm>
          <a:prstGeom prst="roundRect">
            <a:avLst/>
          </a:prstGeom>
          <a:solidFill>
            <a:srgbClr val="E7F6FA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500" b="1">
                <a:solidFill>
                  <a:srgbClr val="141E22"/>
                </a:solidFill>
                <a:latin typeface="맑은 고딕" panose="020B0503020000020004" pitchFamily="50" charset="-127"/>
              </a:rPr>
              <a:t>서버</a:t>
            </a:r>
            <a:r>
              <a:rPr lang="en-US" altLang="ko-KR" sz="1500" b="1">
                <a:solidFill>
                  <a:srgbClr val="141E22"/>
                </a:solidFill>
                <a:latin typeface="맑은 고딕" panose="020B0503020000020004" pitchFamily="50" charset="-127"/>
              </a:rPr>
              <a:t>(Server)</a:t>
            </a:r>
            <a:endParaRPr lang="ko-KR" altLang="en-US" sz="1500" b="1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9BE7D3-C3E7-8963-661F-D98061292625}"/>
              </a:ext>
            </a:extLst>
          </p:cNvPr>
          <p:cNvSpPr txBox="1"/>
          <p:nvPr/>
        </p:nvSpPr>
        <p:spPr>
          <a:xfrm>
            <a:off x="889000" y="1295400"/>
            <a:ext cx="23495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236E2A"/>
                </a:solidFill>
                <a:latin typeface="맑은 고딕" panose="020B0503020000020004" pitchFamily="50" charset="-127"/>
              </a:rPr>
              <a:t>클라이언트</a:t>
            </a:r>
            <a:r>
              <a:rPr lang="en-US" altLang="ko-KR" sz="1300" b="1" dirty="0">
                <a:solidFill>
                  <a:srgbClr val="236E2A"/>
                </a:solidFill>
                <a:latin typeface="맑은 고딕" panose="020B0503020000020004" pitchFamily="50" charset="-127"/>
              </a:rPr>
              <a:t>(Client)</a:t>
            </a:r>
            <a:endParaRPr lang="ko-KR" altLang="en-US" sz="1300" b="1" dirty="0">
              <a:solidFill>
                <a:srgbClr val="236E2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E68F77-77A5-EAC8-2057-30A95CD6C566}"/>
              </a:ext>
            </a:extLst>
          </p:cNvPr>
          <p:cNvSpPr txBox="1"/>
          <p:nvPr/>
        </p:nvSpPr>
        <p:spPr>
          <a:xfrm>
            <a:off x="4927600" y="1295400"/>
            <a:ext cx="22225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>
                <a:solidFill>
                  <a:srgbClr val="145867"/>
                </a:solidFill>
                <a:latin typeface="맑은 고딕" panose="020B0503020000020004" pitchFamily="50" charset="-127"/>
              </a:rPr>
              <a:t>공통 프로토콜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473742-F54E-74B4-BD23-2F4E93C69359}"/>
              </a:ext>
            </a:extLst>
          </p:cNvPr>
          <p:cNvSpPr txBox="1"/>
          <p:nvPr/>
        </p:nvSpPr>
        <p:spPr>
          <a:xfrm>
            <a:off x="9194800" y="1295400"/>
            <a:ext cx="1778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>
                <a:solidFill>
                  <a:srgbClr val="0D606F"/>
                </a:solidFill>
                <a:latin typeface="맑은 고딕" panose="020B0503020000020004" pitchFamily="50" charset="-127"/>
              </a:rPr>
              <a:t>서버</a:t>
            </a:r>
            <a:r>
              <a:rPr lang="en-US" altLang="ko-KR" sz="1300" b="1">
                <a:solidFill>
                  <a:srgbClr val="0D606F"/>
                </a:solidFill>
                <a:latin typeface="맑은 고딕" panose="020B0503020000020004" pitchFamily="50" charset="-127"/>
              </a:rPr>
              <a:t>(Server)</a:t>
            </a:r>
            <a:endParaRPr lang="ko-KR" altLang="en-US" sz="1300" b="1">
              <a:solidFill>
                <a:srgbClr val="0D606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40CCDD7-9F88-778B-27BD-FB8330D85E1C}"/>
              </a:ext>
            </a:extLst>
          </p:cNvPr>
          <p:cNvSpPr/>
          <p:nvPr/>
        </p:nvSpPr>
        <p:spPr>
          <a:xfrm>
            <a:off x="685800" y="1651000"/>
            <a:ext cx="2730500" cy="571500"/>
          </a:xfrm>
          <a:prstGeom prst="roundRect">
            <a:avLst/>
          </a:prstGeom>
          <a:solidFill>
            <a:srgbClr val="CFEFC6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1. Client.exe </a:t>
            </a:r>
            <a:r>
              <a:rPr lang="ko-KR" altLang="en-US" sz="90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실행
서버 </a:t>
            </a:r>
            <a:r>
              <a:rPr lang="en-US" altLang="ko-KR" sz="90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127.0.0.1:9000 </a:t>
            </a:r>
            <a:r>
              <a:rPr lang="ko-KR" altLang="en-US" sz="90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접속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9276BC5-2670-27AD-14BE-6DF1333BB85F}"/>
              </a:ext>
            </a:extLst>
          </p:cNvPr>
          <p:cNvSpPr/>
          <p:nvPr/>
        </p:nvSpPr>
        <p:spPr>
          <a:xfrm>
            <a:off x="685800" y="2387600"/>
            <a:ext cx="2730500" cy="571500"/>
          </a:xfrm>
          <a:prstGeom prst="roundRect">
            <a:avLst/>
          </a:prstGeom>
          <a:solidFill>
            <a:srgbClr val="CFEFC6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2. </a:t>
            </a:r>
            <a:r>
              <a:rPr lang="ko-KR" altLang="en-US" sz="90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로그인 </a:t>
            </a:r>
            <a:r>
              <a:rPr lang="en-US" altLang="ko-KR" sz="90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90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회원가입
성공 시 메인 메뉴 이동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87E4832-7BFA-2A19-4617-56364C3090D1}"/>
              </a:ext>
            </a:extLst>
          </p:cNvPr>
          <p:cNvSpPr/>
          <p:nvPr/>
        </p:nvSpPr>
        <p:spPr>
          <a:xfrm>
            <a:off x="685800" y="3124200"/>
            <a:ext cx="2730500" cy="838200"/>
          </a:xfrm>
          <a:prstGeom prst="roundRect">
            <a:avLst/>
          </a:prstGeom>
          <a:solidFill>
            <a:srgbClr val="CFEFC6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85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3. </a:t>
            </a:r>
            <a:r>
              <a:rPr lang="ko-KR" altLang="en-US" sz="85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번호 기반 기능 선택
</a:t>
            </a:r>
            <a:r>
              <a:rPr lang="en-US" altLang="ko-KR" sz="85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[1] </a:t>
            </a:r>
            <a:r>
              <a:rPr lang="ko-KR" altLang="en-US" sz="85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범죄 발생 통계
</a:t>
            </a:r>
            <a:r>
              <a:rPr lang="en-US" altLang="ko-KR" sz="85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[2] </a:t>
            </a:r>
            <a:r>
              <a:rPr lang="ko-KR" altLang="en-US" sz="85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치안 인프라
</a:t>
            </a:r>
            <a:r>
              <a:rPr lang="en-US" altLang="ko-KR" sz="85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[3] </a:t>
            </a:r>
            <a:r>
              <a:rPr lang="ko-KR" altLang="en-US" sz="85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실질 위험도</a:t>
            </a:r>
            <a:r>
              <a:rPr lang="en-US" altLang="ko-KR" sz="85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5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가이드라인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97D4EA4-1605-41D9-6F93-B3F9C658B7E1}"/>
              </a:ext>
            </a:extLst>
          </p:cNvPr>
          <p:cNvSpPr/>
          <p:nvPr/>
        </p:nvSpPr>
        <p:spPr>
          <a:xfrm>
            <a:off x="685800" y="4140200"/>
            <a:ext cx="2730500" cy="571500"/>
          </a:xfrm>
          <a:prstGeom prst="roundRect">
            <a:avLst/>
          </a:prstGeom>
          <a:solidFill>
            <a:srgbClr val="CFEFC6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4. </a:t>
            </a:r>
            <a:r>
              <a:rPr lang="ko-KR" altLang="en-US" sz="900" b="1">
                <a:solidFill>
                  <a:srgbClr val="141E22"/>
                </a:solidFill>
                <a:latin typeface="맑은 고딕" panose="020B0503020000020004" pitchFamily="50" charset="-127"/>
              </a:rPr>
              <a:t>결과 확인
엔터 입력 후 메뉴 복귀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3CE39FA-3C72-A578-CA36-4D65E1C3D40C}"/>
              </a:ext>
            </a:extLst>
          </p:cNvPr>
          <p:cNvSpPr/>
          <p:nvPr/>
        </p:nvSpPr>
        <p:spPr>
          <a:xfrm>
            <a:off x="685800" y="4876800"/>
            <a:ext cx="2730500" cy="457200"/>
          </a:xfrm>
          <a:prstGeom prst="roundRect">
            <a:avLst/>
          </a:prstGeom>
          <a:solidFill>
            <a:srgbClr val="CFEFC6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5. </a:t>
            </a:r>
            <a:r>
              <a:rPr lang="ko-KR" altLang="en-US" sz="900" b="1" dirty="0">
                <a:solidFill>
                  <a:srgbClr val="141E22"/>
                </a:solidFill>
                <a:latin typeface="맑은 고딕" panose="020B0503020000020004" pitchFamily="50" charset="-127"/>
              </a:rPr>
              <a:t>로그아웃 → 초기화면 → 종료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2C931D5-9142-E363-ED80-D7E4B73B7078}"/>
              </a:ext>
            </a:extLst>
          </p:cNvPr>
          <p:cNvSpPr/>
          <p:nvPr/>
        </p:nvSpPr>
        <p:spPr>
          <a:xfrm>
            <a:off x="4749800" y="1651000"/>
            <a:ext cx="2590800" cy="571500"/>
          </a:xfrm>
          <a:prstGeom prst="roundRect">
            <a:avLst/>
          </a:prstGeom>
          <a:solidFill>
            <a:srgbClr val="D9F1F8"/>
          </a:solidFill>
          <a:ln w="17780">
            <a:solidFill>
              <a:srgbClr val="1458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PKT_LOGIN_REQ / RES
PKT_REGISTER_REQ</a:t>
            </a:r>
            <a:endParaRPr lang="ko-KR" altLang="en-US" sz="900" b="1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65868F48-9D2E-8D8D-B93B-86F35EF22387}"/>
              </a:ext>
            </a:extLst>
          </p:cNvPr>
          <p:cNvSpPr/>
          <p:nvPr/>
        </p:nvSpPr>
        <p:spPr>
          <a:xfrm>
            <a:off x="4749800" y="2387600"/>
            <a:ext cx="2590800" cy="571500"/>
          </a:xfrm>
          <a:prstGeom prst="roundRect">
            <a:avLst/>
          </a:prstGeom>
          <a:solidFill>
            <a:srgbClr val="D9F1F8"/>
          </a:solidFill>
          <a:ln w="17780">
            <a:solidFill>
              <a:srgbClr val="1458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PKT_REQ_PROVINCE_LIST
PKT_REQ_CITY_LIST</a:t>
            </a:r>
            <a:endParaRPr lang="ko-KR" altLang="en-US" sz="900" b="1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DE780A3A-1A29-9A8A-94D4-FDAA3A13C304}"/>
              </a:ext>
            </a:extLst>
          </p:cNvPr>
          <p:cNvSpPr/>
          <p:nvPr/>
        </p:nvSpPr>
        <p:spPr>
          <a:xfrm>
            <a:off x="4749800" y="3124200"/>
            <a:ext cx="2590800" cy="838200"/>
          </a:xfrm>
          <a:prstGeom prst="roundRect">
            <a:avLst/>
          </a:prstGeom>
          <a:solidFill>
            <a:srgbClr val="D9F1F8"/>
          </a:solidFill>
          <a:ln w="17780">
            <a:solidFill>
              <a:srgbClr val="1458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850" b="1">
                <a:solidFill>
                  <a:srgbClr val="141E22"/>
                </a:solidFill>
                <a:latin typeface="맑은 고딕" panose="020B0503020000020004" pitchFamily="50" charset="-127"/>
              </a:rPr>
              <a:t>메뉴별 요청 패킷
</a:t>
            </a:r>
            <a:r>
              <a:rPr lang="en-US" altLang="ko-KR" sz="850" b="1">
                <a:solidFill>
                  <a:srgbClr val="141E22"/>
                </a:solidFill>
                <a:latin typeface="맑은 고딕" panose="020B0503020000020004" pitchFamily="50" charset="-127"/>
              </a:rPr>
              <a:t>REQ-01 </a:t>
            </a:r>
            <a:r>
              <a:rPr lang="ko-KR" altLang="en-US" sz="850" b="1">
                <a:solidFill>
                  <a:srgbClr val="141E22"/>
                </a:solidFill>
                <a:latin typeface="맑은 고딕" panose="020B0503020000020004" pitchFamily="50" charset="-127"/>
              </a:rPr>
              <a:t>범죄 통계
</a:t>
            </a:r>
            <a:r>
              <a:rPr lang="en-US" altLang="ko-KR" sz="850" b="1">
                <a:solidFill>
                  <a:srgbClr val="141E22"/>
                </a:solidFill>
                <a:latin typeface="맑은 고딕" panose="020B0503020000020004" pitchFamily="50" charset="-127"/>
              </a:rPr>
              <a:t>REQ-03 </a:t>
            </a:r>
            <a:r>
              <a:rPr lang="ko-KR" altLang="en-US" sz="850" b="1">
                <a:solidFill>
                  <a:srgbClr val="141E22"/>
                </a:solidFill>
                <a:latin typeface="맑은 고딕" panose="020B0503020000020004" pitchFamily="50" charset="-127"/>
              </a:rPr>
              <a:t>치안 인프라
</a:t>
            </a:r>
            <a:r>
              <a:rPr lang="en-US" altLang="ko-KR" sz="850" b="1">
                <a:solidFill>
                  <a:srgbClr val="141E22"/>
                </a:solidFill>
                <a:latin typeface="맑은 고딕" panose="020B0503020000020004" pitchFamily="50" charset="-127"/>
              </a:rPr>
              <a:t>REQ-05 </a:t>
            </a:r>
            <a:r>
              <a:rPr lang="ko-KR" altLang="en-US" sz="850" b="1">
                <a:solidFill>
                  <a:srgbClr val="141E22"/>
                </a:solidFill>
                <a:latin typeface="맑은 고딕" panose="020B0503020000020004" pitchFamily="50" charset="-127"/>
              </a:rPr>
              <a:t>위험도</a:t>
            </a:r>
            <a:r>
              <a:rPr lang="en-US" altLang="ko-KR" sz="850" b="1">
                <a:solidFill>
                  <a:srgbClr val="141E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50" b="1">
                <a:solidFill>
                  <a:srgbClr val="141E22"/>
                </a:solidFill>
                <a:latin typeface="맑은 고딕" panose="020B0503020000020004" pitchFamily="50" charset="-127"/>
              </a:rPr>
              <a:t>가이드라인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5312EB4-9D1B-347C-BD4E-39F66AFD7D95}"/>
              </a:ext>
            </a:extLst>
          </p:cNvPr>
          <p:cNvSpPr/>
          <p:nvPr/>
        </p:nvSpPr>
        <p:spPr>
          <a:xfrm>
            <a:off x="4749800" y="4140200"/>
            <a:ext cx="2590800" cy="571500"/>
          </a:xfrm>
          <a:prstGeom prst="roundRect">
            <a:avLst/>
          </a:prstGeom>
          <a:solidFill>
            <a:srgbClr val="D9F1F8"/>
          </a:solidFill>
          <a:ln w="17780">
            <a:solidFill>
              <a:srgbClr val="1458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PKT_RES_TEXT
</a:t>
            </a:r>
            <a:r>
              <a:rPr lang="ko-KR" altLang="en-US" sz="900" b="1">
                <a:solidFill>
                  <a:srgbClr val="141E22"/>
                </a:solidFill>
                <a:latin typeface="맑은 고딕" panose="020B0503020000020004" pitchFamily="50" charset="-127"/>
              </a:rPr>
              <a:t>또는 </a:t>
            </a:r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PKT_ERROR_RES</a:t>
            </a:r>
            <a:endParaRPr lang="ko-KR" altLang="en-US" sz="900" b="1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9F4D9828-C983-EFE4-F146-6942B7A473DA}"/>
              </a:ext>
            </a:extLst>
          </p:cNvPr>
          <p:cNvSpPr/>
          <p:nvPr/>
        </p:nvSpPr>
        <p:spPr>
          <a:xfrm>
            <a:off x="4749800" y="4876800"/>
            <a:ext cx="2590800" cy="457200"/>
          </a:xfrm>
          <a:prstGeom prst="roundRect">
            <a:avLst/>
          </a:prstGeom>
          <a:solidFill>
            <a:srgbClr val="D9F1F8"/>
          </a:solidFill>
          <a:ln w="17780">
            <a:solidFill>
              <a:srgbClr val="1458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SendPacket / RecvPacket</a:t>
            </a:r>
            <a:endParaRPr lang="ko-KR" altLang="en-US" sz="900" b="1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2827A4B-4930-C9AF-1144-C58E6B789994}"/>
              </a:ext>
            </a:extLst>
          </p:cNvPr>
          <p:cNvSpPr/>
          <p:nvPr/>
        </p:nvSpPr>
        <p:spPr>
          <a:xfrm>
            <a:off x="8712200" y="1651000"/>
            <a:ext cx="2768600" cy="571500"/>
          </a:xfrm>
          <a:prstGeom prst="roundRect">
            <a:avLst/>
          </a:prstGeom>
          <a:solidFill>
            <a:srgbClr val="D1EFF6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1. Server.exe </a:t>
            </a:r>
            <a:r>
              <a:rPr lang="ko-KR" altLang="en-US" sz="900" b="1">
                <a:solidFill>
                  <a:srgbClr val="141E22"/>
                </a:solidFill>
                <a:latin typeface="맑은 고딕" panose="020B0503020000020004" pitchFamily="50" charset="-127"/>
              </a:rPr>
              <a:t>선 실행
파일 로드 및 검증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E78DB843-67DC-AEB1-436C-006246818768}"/>
              </a:ext>
            </a:extLst>
          </p:cNvPr>
          <p:cNvSpPr/>
          <p:nvPr/>
        </p:nvSpPr>
        <p:spPr>
          <a:xfrm>
            <a:off x="8712200" y="2387600"/>
            <a:ext cx="2768600" cy="571500"/>
          </a:xfrm>
          <a:prstGeom prst="roundRect">
            <a:avLst/>
          </a:prstGeom>
          <a:solidFill>
            <a:srgbClr val="D1EFF6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2. Winsock </a:t>
            </a:r>
            <a:r>
              <a:rPr lang="ko-KR" altLang="en-US" sz="900" b="1">
                <a:solidFill>
                  <a:srgbClr val="141E22"/>
                </a:solidFill>
                <a:latin typeface="맑은 고딕" panose="020B0503020000020004" pitchFamily="50" charset="-127"/>
              </a:rPr>
              <a:t>준비
</a:t>
            </a:r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accept </a:t>
            </a:r>
            <a:r>
              <a:rPr lang="ko-KR" altLang="en-US" sz="900" b="1">
                <a:solidFill>
                  <a:srgbClr val="141E22"/>
                </a:solidFill>
                <a:latin typeface="맑은 고딕" panose="020B0503020000020004" pitchFamily="50" charset="-127"/>
              </a:rPr>
              <a:t>후 </a:t>
            </a:r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ClientHandler </a:t>
            </a:r>
            <a:r>
              <a:rPr lang="ko-KR" altLang="en-US" sz="900" b="1">
                <a:solidFill>
                  <a:srgbClr val="141E22"/>
                </a:solidFill>
                <a:latin typeface="맑은 고딕" panose="020B0503020000020004" pitchFamily="50" charset="-127"/>
              </a:rPr>
              <a:t>실행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7F29C75B-01D7-ED54-4DEE-3CD5DEC85F96}"/>
              </a:ext>
            </a:extLst>
          </p:cNvPr>
          <p:cNvSpPr/>
          <p:nvPr/>
        </p:nvSpPr>
        <p:spPr>
          <a:xfrm>
            <a:off x="8712200" y="3124200"/>
            <a:ext cx="2768600" cy="838200"/>
          </a:xfrm>
          <a:prstGeom prst="roundRect">
            <a:avLst/>
          </a:prstGeom>
          <a:solidFill>
            <a:srgbClr val="D1EFF6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850" b="1">
                <a:solidFill>
                  <a:srgbClr val="141E22"/>
                </a:solidFill>
                <a:latin typeface="맑은 고딕" panose="020B0503020000020004" pitchFamily="50" charset="-127"/>
              </a:rPr>
              <a:t>3. </a:t>
            </a:r>
            <a:r>
              <a:rPr lang="ko-KR" altLang="en-US" sz="850" b="1">
                <a:solidFill>
                  <a:srgbClr val="141E22"/>
                </a:solidFill>
                <a:latin typeface="맑은 고딕" panose="020B0503020000020004" pitchFamily="50" charset="-127"/>
              </a:rPr>
              <a:t>요청 분기 및 분석
범죄 순위</a:t>
            </a:r>
            <a:r>
              <a:rPr lang="en-US" altLang="ko-KR" sz="850" b="1">
                <a:solidFill>
                  <a:srgbClr val="141E2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50" b="1">
                <a:solidFill>
                  <a:srgbClr val="141E22"/>
                </a:solidFill>
                <a:latin typeface="맑은 고딕" panose="020B0503020000020004" pitchFamily="50" charset="-127"/>
              </a:rPr>
              <a:t>최대 힙
위험도</a:t>
            </a:r>
            <a:r>
              <a:rPr lang="en-US" altLang="ko-KR" sz="850" b="1">
                <a:solidFill>
                  <a:srgbClr val="141E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50" b="1">
                <a:solidFill>
                  <a:srgbClr val="141E22"/>
                </a:solidFill>
                <a:latin typeface="맑은 고딕" panose="020B0503020000020004" pitchFamily="50" charset="-127"/>
              </a:rPr>
              <a:t>대응력</a:t>
            </a:r>
            <a:r>
              <a:rPr lang="en-US" altLang="ko-KR" sz="850" b="1">
                <a:solidFill>
                  <a:srgbClr val="141E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50" b="1">
                <a:solidFill>
                  <a:srgbClr val="141E22"/>
                </a:solidFill>
                <a:latin typeface="맑은 고딕" panose="020B0503020000020004" pitchFamily="50" charset="-127"/>
              </a:rPr>
              <a:t>가이드라인 산출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9D45573-63B4-E284-8287-C3A2D5149898}"/>
              </a:ext>
            </a:extLst>
          </p:cNvPr>
          <p:cNvSpPr/>
          <p:nvPr/>
        </p:nvSpPr>
        <p:spPr>
          <a:xfrm>
            <a:off x="8712200" y="4140200"/>
            <a:ext cx="2768600" cy="571500"/>
          </a:xfrm>
          <a:prstGeom prst="roundRect">
            <a:avLst/>
          </a:prstGeom>
          <a:solidFill>
            <a:srgbClr val="D1EFF6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4. </a:t>
            </a:r>
            <a:r>
              <a:rPr lang="ko-KR" altLang="en-US" sz="900" b="1">
                <a:solidFill>
                  <a:srgbClr val="141E22"/>
                </a:solidFill>
                <a:latin typeface="맑은 고딕" panose="020B0503020000020004" pitchFamily="50" charset="-127"/>
              </a:rPr>
              <a:t>결과 문자열 생성
</a:t>
            </a:r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UTF-8 </a:t>
            </a:r>
            <a:r>
              <a:rPr lang="ko-KR" altLang="en-US" sz="900" b="1">
                <a:solidFill>
                  <a:srgbClr val="141E22"/>
                </a:solidFill>
                <a:latin typeface="맑은 고딕" panose="020B0503020000020004" pitchFamily="50" charset="-127"/>
              </a:rPr>
              <a:t>텍스트 응답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2929013-DBAD-811E-55E7-8E800EBEB3FE}"/>
              </a:ext>
            </a:extLst>
          </p:cNvPr>
          <p:cNvSpPr/>
          <p:nvPr/>
        </p:nvSpPr>
        <p:spPr>
          <a:xfrm>
            <a:off x="8712200" y="4876800"/>
            <a:ext cx="2768600" cy="457200"/>
          </a:xfrm>
          <a:prstGeom prst="roundRect">
            <a:avLst/>
          </a:prstGeom>
          <a:solidFill>
            <a:srgbClr val="D1EFF6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5. </a:t>
            </a:r>
            <a:r>
              <a:rPr lang="ko-KR" altLang="en-US" sz="900" b="1">
                <a:solidFill>
                  <a:srgbClr val="141E22"/>
                </a:solidFill>
                <a:latin typeface="맑은 고딕" panose="020B0503020000020004" pitchFamily="50" charset="-127"/>
              </a:rPr>
              <a:t>연결 종료 시 </a:t>
            </a:r>
            <a:r>
              <a:rPr lang="en-US" altLang="ko-KR" sz="900" b="1">
                <a:solidFill>
                  <a:srgbClr val="141E22"/>
                </a:solidFill>
                <a:latin typeface="맑은 고딕" panose="020B0503020000020004" pitchFamily="50" charset="-127"/>
              </a:rPr>
              <a:t>ClientNode </a:t>
            </a:r>
            <a:r>
              <a:rPr lang="ko-KR" altLang="en-US" sz="900" b="1">
                <a:solidFill>
                  <a:srgbClr val="141E22"/>
                </a:solidFill>
                <a:latin typeface="맑은 고딕" panose="020B0503020000020004" pitchFamily="50" charset="-127"/>
              </a:rPr>
              <a:t>제거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EC5ADCDD-53FD-D390-4FD7-7C34FB1C22B0}"/>
              </a:ext>
            </a:extLst>
          </p:cNvPr>
          <p:cNvCxnSpPr/>
          <p:nvPr/>
        </p:nvCxnSpPr>
        <p:spPr>
          <a:xfrm>
            <a:off x="7340600" y="3416300"/>
            <a:ext cx="1371600" cy="0"/>
          </a:xfrm>
          <a:prstGeom prst="straightConnector1">
            <a:avLst/>
          </a:prstGeom>
          <a:ln w="27940">
            <a:solidFill>
              <a:srgbClr val="145867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BCBD5279-B1BF-0B53-B288-C1ACCA3D77A8}"/>
              </a:ext>
            </a:extLst>
          </p:cNvPr>
          <p:cNvCxnSpPr/>
          <p:nvPr/>
        </p:nvCxnSpPr>
        <p:spPr>
          <a:xfrm>
            <a:off x="3619500" y="3517900"/>
            <a:ext cx="1079500" cy="0"/>
          </a:xfrm>
          <a:prstGeom prst="straightConnector1">
            <a:avLst/>
          </a:prstGeom>
          <a:ln w="27940">
            <a:solidFill>
              <a:srgbClr val="145867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9C66D99-737E-7687-F6BB-0918CB1D2F2E}"/>
              </a:ext>
            </a:extLst>
          </p:cNvPr>
          <p:cNvSpPr txBox="1"/>
          <p:nvPr/>
        </p:nvSpPr>
        <p:spPr>
          <a:xfrm>
            <a:off x="3849256" y="3178292"/>
            <a:ext cx="7874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000" b="1" dirty="0">
                <a:solidFill>
                  <a:srgbClr val="0C505F"/>
                </a:solidFill>
                <a:latin typeface="맑은 고딕" panose="020B0503020000020004" pitchFamily="50" charset="-127"/>
              </a:rPr>
              <a:t>요청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3EBFE9-F936-7F43-BC75-8AC7099D61A4}"/>
              </a:ext>
            </a:extLst>
          </p:cNvPr>
          <p:cNvSpPr txBox="1"/>
          <p:nvPr/>
        </p:nvSpPr>
        <p:spPr>
          <a:xfrm>
            <a:off x="7779324" y="3091868"/>
            <a:ext cx="7874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000" b="1" dirty="0">
                <a:solidFill>
                  <a:srgbClr val="0C505F"/>
                </a:solidFill>
                <a:latin typeface="맑은 고딕" panose="020B0503020000020004" pitchFamily="50" charset="-127"/>
              </a:rPr>
              <a:t>처리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CDA5A1-2DB4-57FC-87D4-BB92D3CBEF6A}"/>
              </a:ext>
            </a:extLst>
          </p:cNvPr>
          <p:cNvSpPr txBox="1"/>
          <p:nvPr/>
        </p:nvSpPr>
        <p:spPr>
          <a:xfrm>
            <a:off x="3844636" y="3617020"/>
            <a:ext cx="9144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000" b="1" dirty="0">
                <a:solidFill>
                  <a:srgbClr val="0C505F"/>
                </a:solidFill>
                <a:latin typeface="맑은 고딕" panose="020B0503020000020004" pitchFamily="50" charset="-127"/>
              </a:rPr>
              <a:t>응답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1361505-31EA-76D8-F9C0-DB9855D8A6BF}"/>
              </a:ext>
            </a:extLst>
          </p:cNvPr>
          <p:cNvSpPr txBox="1"/>
          <p:nvPr/>
        </p:nvSpPr>
        <p:spPr>
          <a:xfrm>
            <a:off x="7764316" y="3517903"/>
            <a:ext cx="9144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000" b="1" dirty="0">
                <a:solidFill>
                  <a:srgbClr val="0C505F"/>
                </a:solidFill>
                <a:latin typeface="맑은 고딕" panose="020B0503020000020004" pitchFamily="50" charset="-127"/>
              </a:rPr>
              <a:t>결과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1F90AFC3-7D0C-DABB-0E79-0109B3F3BE7B}"/>
              </a:ext>
            </a:extLst>
          </p:cNvPr>
          <p:cNvSpPr/>
          <p:nvPr/>
        </p:nvSpPr>
        <p:spPr>
          <a:xfrm>
            <a:off x="431800" y="5791200"/>
            <a:ext cx="11315700" cy="736600"/>
          </a:xfrm>
          <a:prstGeom prst="roundRect">
            <a:avLst/>
          </a:prstGeom>
          <a:solidFill>
            <a:srgbClr val="FFF8DC"/>
          </a:solidFill>
          <a:ln w="1778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300" b="1" dirty="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AB9393-A272-176F-217C-EFEA587AFEBE}"/>
              </a:ext>
            </a:extLst>
          </p:cNvPr>
          <p:cNvSpPr txBox="1"/>
          <p:nvPr/>
        </p:nvSpPr>
        <p:spPr>
          <a:xfrm>
            <a:off x="660400" y="6010564"/>
            <a:ext cx="109220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서버 먼저 실행 → 클라이언트 실행 → 로그인 → 지역 선택 → 기능별 요청 전송 → 서버 분석 → 결과 출력 → </a:t>
            </a:r>
            <a:r>
              <a:rPr lang="ko-KR" altLang="en-US" sz="1200" b="1" dirty="0" err="1">
                <a:solidFill>
                  <a:srgbClr val="46300C"/>
                </a:solidFill>
                <a:latin typeface="맑은 고딕" panose="020B0503020000020004" pitchFamily="50" charset="-127"/>
              </a:rPr>
              <a:t>엔터로</a:t>
            </a:r>
            <a:r>
              <a:rPr lang="ko-KR" altLang="en-US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 메뉴 복귀 → 로그아웃 → 종료</a:t>
            </a:r>
          </a:p>
        </p:txBody>
      </p:sp>
    </p:spTree>
    <p:extLst>
      <p:ext uri="{BB962C8B-B14F-4D97-AF65-F5344CB8AC3E}">
        <p14:creationId xmlns:p14="http://schemas.microsoft.com/office/powerpoint/2010/main" val="404793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FAC2E2D-A77C-C69C-24CB-392F4C7CC7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9FCFC"/>
          </a:solidFill>
          <a:ln w="1778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7780" cap="flat" cmpd="sng" algn="ctr">
                <a:solidFill>
                  <a:srgbClr val="F9FC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76FA71-5AEF-71EB-DAB1-1FE928B43FCA}"/>
              </a:ext>
            </a:extLst>
          </p:cNvPr>
          <p:cNvSpPr/>
          <p:nvPr/>
        </p:nvSpPr>
        <p:spPr>
          <a:xfrm>
            <a:off x="0" y="0"/>
            <a:ext cx="228600" cy="965200"/>
          </a:xfrm>
          <a:prstGeom prst="rect">
            <a:avLst/>
          </a:prstGeom>
          <a:solidFill>
            <a:srgbClr val="0C5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96FDD-F67A-D6CA-FC37-651D81577684}"/>
              </a:ext>
            </a:extLst>
          </p:cNvPr>
          <p:cNvSpPr txBox="1"/>
          <p:nvPr/>
        </p:nvSpPr>
        <p:spPr>
          <a:xfrm>
            <a:off x="444500" y="203200"/>
            <a:ext cx="8255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2600" b="1">
                <a:solidFill>
                  <a:srgbClr val="000000"/>
                </a:solidFill>
                <a:latin typeface="맑은 고딕" panose="020B0503020000020004" pitchFamily="50" charset="-127"/>
              </a:rPr>
              <a:t>1-4. </a:t>
            </a:r>
            <a:r>
              <a:rPr lang="ko-KR" altLang="en-US" sz="2600" b="1">
                <a:solidFill>
                  <a:srgbClr val="000000"/>
                </a:solidFill>
                <a:latin typeface="맑은 고딕" panose="020B0503020000020004" pitchFamily="50" charset="-127"/>
              </a:rPr>
              <a:t>활용방안 및 기대효과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4A0DE2D-9D6B-7DEE-0BF1-965CE892CA5B}"/>
              </a:ext>
            </a:extLst>
          </p:cNvPr>
          <p:cNvCxnSpPr/>
          <p:nvPr/>
        </p:nvCxnSpPr>
        <p:spPr>
          <a:xfrm>
            <a:off x="444500" y="787400"/>
            <a:ext cx="7366000" cy="0"/>
          </a:xfrm>
          <a:prstGeom prst="line">
            <a:avLst/>
          </a:prstGeom>
          <a:ln w="19050">
            <a:solidFill>
              <a:srgbClr val="234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B9EFA0E-192C-F5CF-960B-3E89790FD869}"/>
              </a:ext>
            </a:extLst>
          </p:cNvPr>
          <p:cNvSpPr/>
          <p:nvPr/>
        </p:nvSpPr>
        <p:spPr>
          <a:xfrm>
            <a:off x="571500" y="1422400"/>
            <a:ext cx="3581400" cy="3657600"/>
          </a:xfrm>
          <a:prstGeom prst="roundRect">
            <a:avLst/>
          </a:prstGeom>
          <a:solidFill>
            <a:srgbClr val="EBF9E6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F1F636-954D-6C7A-2951-470B245D3E25}"/>
              </a:ext>
            </a:extLst>
          </p:cNvPr>
          <p:cNvSpPr txBox="1"/>
          <p:nvPr/>
        </p:nvSpPr>
        <p:spPr>
          <a:xfrm>
            <a:off x="1676400" y="1600200"/>
            <a:ext cx="1460500" cy="3642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700" b="1">
                <a:solidFill>
                  <a:srgbClr val="124C1A"/>
                </a:solidFill>
                <a:latin typeface="맑은 고딕" panose="020B0503020000020004" pitchFamily="50" charset="-127"/>
              </a:rPr>
              <a:t>활용방안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FF3BADA-620C-0BEA-BBBE-27927FF05135}"/>
              </a:ext>
            </a:extLst>
          </p:cNvPr>
          <p:cNvSpPr/>
          <p:nvPr/>
        </p:nvSpPr>
        <p:spPr>
          <a:xfrm>
            <a:off x="914400" y="2095500"/>
            <a:ext cx="482600" cy="482600"/>
          </a:xfrm>
          <a:prstGeom prst="ellipse">
            <a:avLst/>
          </a:prstGeom>
          <a:solidFill>
            <a:srgbClr val="2D8430"/>
          </a:solidFill>
          <a:ln w="19050">
            <a:solidFill>
              <a:srgbClr val="1E6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4BD211-50FC-4571-92CE-F2167D32E8D9}"/>
              </a:ext>
            </a:extLst>
          </p:cNvPr>
          <p:cNvSpPr txBox="1"/>
          <p:nvPr/>
        </p:nvSpPr>
        <p:spPr>
          <a:xfrm>
            <a:off x="1549400" y="2073562"/>
            <a:ext cx="22352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14281C"/>
                </a:solidFill>
                <a:latin typeface="맑은 고딕" panose="020B0503020000020004" pitchFamily="50" charset="-127"/>
              </a:rPr>
              <a:t>우리 동네 위험 수준 확인
범죄 빈도와 위험 등급 조회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8F627A3-76B0-269E-B71D-FD3367FB84F8}"/>
              </a:ext>
            </a:extLst>
          </p:cNvPr>
          <p:cNvSpPr/>
          <p:nvPr/>
        </p:nvSpPr>
        <p:spPr>
          <a:xfrm>
            <a:off x="914400" y="3098800"/>
            <a:ext cx="482600" cy="482600"/>
          </a:xfrm>
          <a:prstGeom prst="ellipse">
            <a:avLst/>
          </a:prstGeom>
          <a:solidFill>
            <a:srgbClr val="2D8430"/>
          </a:solidFill>
          <a:ln w="19050">
            <a:solidFill>
              <a:srgbClr val="1E6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7B51A7-92AB-9785-4538-D4672A6784AD}"/>
              </a:ext>
            </a:extLst>
          </p:cNvPr>
          <p:cNvSpPr txBox="1"/>
          <p:nvPr/>
        </p:nvSpPr>
        <p:spPr>
          <a:xfrm>
            <a:off x="1549400" y="3058388"/>
            <a:ext cx="22352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14281C"/>
                </a:solidFill>
                <a:latin typeface="맑은 고딕" panose="020B0503020000020004" pitchFamily="50" charset="-127"/>
              </a:rPr>
              <a:t>이사</a:t>
            </a:r>
            <a:r>
              <a:rPr lang="en-US" altLang="ko-KR" sz="1300" b="1" dirty="0">
                <a:solidFill>
                  <a:srgbClr val="14281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 b="1" dirty="0">
                <a:solidFill>
                  <a:srgbClr val="14281C"/>
                </a:solidFill>
                <a:latin typeface="맑은 고딕" panose="020B0503020000020004" pitchFamily="50" charset="-127"/>
              </a:rPr>
              <a:t>통학</a:t>
            </a:r>
            <a:r>
              <a:rPr lang="en-US" altLang="ko-KR" sz="1300" b="1" dirty="0">
                <a:solidFill>
                  <a:srgbClr val="14281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 b="1" dirty="0">
                <a:solidFill>
                  <a:srgbClr val="14281C"/>
                </a:solidFill>
                <a:latin typeface="맑은 고딕" panose="020B0503020000020004" pitchFamily="50" charset="-127"/>
              </a:rPr>
              <a:t>귀가 경로 판단
지역별 치안 인프라 비교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69E79430-2329-9DC1-D7B6-88AF0C5744C8}"/>
              </a:ext>
            </a:extLst>
          </p:cNvPr>
          <p:cNvSpPr/>
          <p:nvPr/>
        </p:nvSpPr>
        <p:spPr>
          <a:xfrm>
            <a:off x="914400" y="4102100"/>
            <a:ext cx="482600" cy="482600"/>
          </a:xfrm>
          <a:prstGeom prst="ellipse">
            <a:avLst/>
          </a:prstGeom>
          <a:solidFill>
            <a:srgbClr val="2D8430"/>
          </a:solidFill>
          <a:ln w="19050">
            <a:solidFill>
              <a:srgbClr val="1E6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B0AEB3-9FFE-AE9B-497E-B61175893B9E}"/>
              </a:ext>
            </a:extLst>
          </p:cNvPr>
          <p:cNvSpPr txBox="1"/>
          <p:nvPr/>
        </p:nvSpPr>
        <p:spPr>
          <a:xfrm>
            <a:off x="1549400" y="4052452"/>
            <a:ext cx="22352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14281C"/>
                </a:solidFill>
                <a:latin typeface="맑은 고딕" panose="020B0503020000020004" pitchFamily="50" charset="-127"/>
              </a:rPr>
              <a:t>맞춤형 안전 행동 선택
위험 유형별 예방 수칙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F6EBFA0-1157-8579-6698-5C85D96DBA01}"/>
              </a:ext>
            </a:extLst>
          </p:cNvPr>
          <p:cNvSpPr/>
          <p:nvPr/>
        </p:nvSpPr>
        <p:spPr>
          <a:xfrm>
            <a:off x="4180608" y="1462727"/>
            <a:ext cx="3708400" cy="3657600"/>
          </a:xfrm>
          <a:prstGeom prst="roundRect">
            <a:avLst/>
          </a:prstGeom>
          <a:solidFill>
            <a:srgbClr val="E8F6FA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0BD209-5954-3013-4943-FC474EFDD64E}"/>
              </a:ext>
            </a:extLst>
          </p:cNvPr>
          <p:cNvSpPr txBox="1"/>
          <p:nvPr/>
        </p:nvSpPr>
        <p:spPr>
          <a:xfrm>
            <a:off x="5336308" y="1640527"/>
            <a:ext cx="1460500" cy="3642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700" b="1">
                <a:solidFill>
                  <a:srgbClr val="0A4652"/>
                </a:solidFill>
                <a:latin typeface="맑은 고딕" panose="020B0503020000020004" pitchFamily="50" charset="-127"/>
              </a:rPr>
              <a:t>기대효과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7DBC121E-F164-5A1C-A4F7-FAFCA3088397}"/>
              </a:ext>
            </a:extLst>
          </p:cNvPr>
          <p:cNvSpPr/>
          <p:nvPr/>
        </p:nvSpPr>
        <p:spPr>
          <a:xfrm>
            <a:off x="4498108" y="2072327"/>
            <a:ext cx="431800" cy="431800"/>
          </a:xfrm>
          <a:prstGeom prst="ellipse">
            <a:avLst/>
          </a:prstGeom>
          <a:solidFill>
            <a:srgbClr val="0D606F"/>
          </a:solidFill>
          <a:ln w="19050"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A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C51382-72D5-3475-9759-C328040240F1}"/>
              </a:ext>
            </a:extLst>
          </p:cNvPr>
          <p:cNvSpPr txBox="1"/>
          <p:nvPr/>
        </p:nvSpPr>
        <p:spPr>
          <a:xfrm>
            <a:off x="5082308" y="2031915"/>
            <a:ext cx="23114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14282C"/>
                </a:solidFill>
                <a:latin typeface="맑은 고딕" panose="020B0503020000020004" pitchFamily="50" charset="-127"/>
              </a:rPr>
              <a:t>막연한 불안 감소
숫자보다 쉬운 등급으로 이해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22033BF-C8D7-9BB5-B06C-4FB4173D18D0}"/>
              </a:ext>
            </a:extLst>
          </p:cNvPr>
          <p:cNvSpPr/>
          <p:nvPr/>
        </p:nvSpPr>
        <p:spPr>
          <a:xfrm>
            <a:off x="4498108" y="2808927"/>
            <a:ext cx="431800" cy="431800"/>
          </a:xfrm>
          <a:prstGeom prst="ellipse">
            <a:avLst/>
          </a:prstGeom>
          <a:solidFill>
            <a:srgbClr val="0D606F"/>
          </a:solidFill>
          <a:ln w="19050"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B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32054C-8D6A-C0D4-3A69-8E563A8C7FD7}"/>
              </a:ext>
            </a:extLst>
          </p:cNvPr>
          <p:cNvSpPr txBox="1"/>
          <p:nvPr/>
        </p:nvSpPr>
        <p:spPr>
          <a:xfrm>
            <a:off x="5082308" y="2740807"/>
            <a:ext cx="2311400" cy="70275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14282C"/>
                </a:solidFill>
                <a:latin typeface="맑은 고딕" panose="020B0503020000020004" pitchFamily="50" charset="-127"/>
              </a:rPr>
              <a:t>사용자 체감 치안 판단 보조
범죄와 경찰 대응력을 함께 반영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022E8B3-BF41-1507-3BC8-F08797FEAFEE}"/>
              </a:ext>
            </a:extLst>
          </p:cNvPr>
          <p:cNvSpPr/>
          <p:nvPr/>
        </p:nvSpPr>
        <p:spPr>
          <a:xfrm>
            <a:off x="4498108" y="3545527"/>
            <a:ext cx="431800" cy="431800"/>
          </a:xfrm>
          <a:prstGeom prst="ellipse">
            <a:avLst/>
          </a:prstGeom>
          <a:solidFill>
            <a:srgbClr val="0D606F"/>
          </a:solidFill>
          <a:ln w="19050"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C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01F06A-223D-B837-8D3A-1CCE9405DEAC}"/>
              </a:ext>
            </a:extLst>
          </p:cNvPr>
          <p:cNvSpPr txBox="1"/>
          <p:nvPr/>
        </p:nvSpPr>
        <p:spPr>
          <a:xfrm>
            <a:off x="5082308" y="3514351"/>
            <a:ext cx="23114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14282C"/>
                </a:solidFill>
                <a:latin typeface="맑은 고딕" panose="020B0503020000020004" pitchFamily="50" charset="-127"/>
              </a:rPr>
              <a:t>생활권 선택에 도움
거주지</a:t>
            </a:r>
            <a:r>
              <a:rPr lang="en-US" altLang="ko-KR" sz="1300" b="1" dirty="0">
                <a:solidFill>
                  <a:srgbClr val="14282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 b="1" dirty="0">
                <a:solidFill>
                  <a:srgbClr val="14282C"/>
                </a:solidFill>
                <a:latin typeface="맑은 고딕" panose="020B0503020000020004" pitchFamily="50" charset="-127"/>
              </a:rPr>
              <a:t>학교</a:t>
            </a:r>
            <a:r>
              <a:rPr lang="en-US" altLang="ko-KR" sz="1300" b="1" dirty="0">
                <a:solidFill>
                  <a:srgbClr val="14282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 b="1" dirty="0">
                <a:solidFill>
                  <a:srgbClr val="14282C"/>
                </a:solidFill>
                <a:latin typeface="맑은 고딕" panose="020B0503020000020004" pitchFamily="50" charset="-127"/>
              </a:rPr>
              <a:t>직장 주변 비교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ED26AF8-054A-A469-EBB0-5496817A07E0}"/>
              </a:ext>
            </a:extLst>
          </p:cNvPr>
          <p:cNvSpPr/>
          <p:nvPr/>
        </p:nvSpPr>
        <p:spPr>
          <a:xfrm>
            <a:off x="4498108" y="4282127"/>
            <a:ext cx="431800" cy="431800"/>
          </a:xfrm>
          <a:prstGeom prst="ellipse">
            <a:avLst/>
          </a:prstGeom>
          <a:solidFill>
            <a:srgbClr val="0D606F"/>
          </a:solidFill>
          <a:ln w="19050"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D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9C09D1-DBE8-01B1-473D-965F50F18FC5}"/>
              </a:ext>
            </a:extLst>
          </p:cNvPr>
          <p:cNvSpPr txBox="1"/>
          <p:nvPr/>
        </p:nvSpPr>
        <p:spPr>
          <a:xfrm>
            <a:off x="5082308" y="4214007"/>
            <a:ext cx="23114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>
                <a:solidFill>
                  <a:srgbClr val="14282C"/>
                </a:solidFill>
                <a:latin typeface="맑은 고딕" panose="020B0503020000020004" pitchFamily="50" charset="-127"/>
              </a:rPr>
              <a:t>안전 행동 실천 유도
상황별 예방 가이드 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475606C-6837-F1B5-9A46-E4F40E0B9026}"/>
              </a:ext>
            </a:extLst>
          </p:cNvPr>
          <p:cNvSpPr/>
          <p:nvPr/>
        </p:nvSpPr>
        <p:spPr>
          <a:xfrm>
            <a:off x="762000" y="5486400"/>
            <a:ext cx="10668000" cy="914400"/>
          </a:xfrm>
          <a:prstGeom prst="roundRect">
            <a:avLst/>
          </a:prstGeom>
          <a:solidFill>
            <a:srgbClr val="FFF8DC"/>
          </a:solidFill>
          <a:ln w="1778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F9572D-48BB-39EE-BD82-466406EC3269}"/>
              </a:ext>
            </a:extLst>
          </p:cNvPr>
          <p:cNvSpPr txBox="1"/>
          <p:nvPr/>
        </p:nvSpPr>
        <p:spPr>
          <a:xfrm>
            <a:off x="4648200" y="5613400"/>
            <a:ext cx="2921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>
                <a:solidFill>
                  <a:srgbClr val="46300C"/>
                </a:solidFill>
                <a:latin typeface="맑은 고딕" panose="020B0503020000020004" pitchFamily="50" charset="-127"/>
              </a:rPr>
              <a:t>사용자 이용 흐름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DF2410-02E2-A18E-286D-DD9CD500ACEE}"/>
              </a:ext>
            </a:extLst>
          </p:cNvPr>
          <p:cNvSpPr txBox="1"/>
          <p:nvPr/>
        </p:nvSpPr>
        <p:spPr>
          <a:xfrm>
            <a:off x="1333500" y="5943600"/>
            <a:ext cx="9525000" cy="2749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120" b="1">
                <a:solidFill>
                  <a:srgbClr val="46300C"/>
                </a:solidFill>
                <a:latin typeface="맑은 고딕" panose="020B0503020000020004" pitchFamily="50" charset="-127"/>
              </a:rPr>
              <a:t>지역 입력 → 범죄 발생 현황 확인 → 치안 인프라 확인 → 실질 위험도와 맞춤형 가이드라인 확인 → 생활 안전 판단</a:t>
            </a:r>
          </a:p>
        </p:txBody>
      </p:sp>
    </p:spTree>
    <p:extLst>
      <p:ext uri="{BB962C8B-B14F-4D97-AF65-F5344CB8AC3E}">
        <p14:creationId xmlns:p14="http://schemas.microsoft.com/office/powerpoint/2010/main" val="115630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482160A-2B92-627B-981B-C3E6BFB86E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8FCFC"/>
          </a:solidFill>
          <a:ln w="1524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240" cap="flat" cmpd="sng" algn="ctr">
                <a:solidFill>
                  <a:srgbClr val="F8FC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DD65282-76D9-0DF0-63A1-59C863C30A6B}"/>
              </a:ext>
            </a:extLst>
          </p:cNvPr>
          <p:cNvSpPr/>
          <p:nvPr/>
        </p:nvSpPr>
        <p:spPr>
          <a:xfrm>
            <a:off x="0" y="0"/>
            <a:ext cx="228600" cy="965200"/>
          </a:xfrm>
          <a:prstGeom prst="rect">
            <a:avLst/>
          </a:prstGeom>
          <a:solidFill>
            <a:srgbClr val="0C5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85BAA6-568C-DA64-F867-F289C366BE35}"/>
              </a:ext>
            </a:extLst>
          </p:cNvPr>
          <p:cNvSpPr txBox="1"/>
          <p:nvPr/>
        </p:nvSpPr>
        <p:spPr>
          <a:xfrm>
            <a:off x="444500" y="203200"/>
            <a:ext cx="10033000" cy="471924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en-US" altLang="ko-KR" sz="2400" b="1">
                <a:solidFill>
                  <a:srgbClr val="000000"/>
                </a:solidFill>
                <a:latin typeface="맑은 고딕" panose="020B0503020000020004" pitchFamily="50" charset="-127"/>
              </a:rPr>
              <a:t>2-1. </a:t>
            </a:r>
            <a:r>
              <a:rPr lang="ko-KR" altLang="en-US" sz="2400" b="1">
                <a:solidFill>
                  <a:srgbClr val="000000"/>
                </a:solidFill>
                <a:latin typeface="맑은 고딕" panose="020B0503020000020004" pitchFamily="50" charset="-127"/>
              </a:rPr>
              <a:t>주요 구성요소 상세 개발 계획 </a:t>
            </a:r>
            <a:r>
              <a:rPr lang="en-US" altLang="ko-KR" sz="2400" b="1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2400" b="1">
                <a:solidFill>
                  <a:srgbClr val="000000"/>
                </a:solidFill>
                <a:latin typeface="맑은 고딕" panose="020B0503020000020004" pitchFamily="50" charset="-127"/>
              </a:rPr>
              <a:t>서버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78D1287-69BA-BD66-50C7-07B38D51FA26}"/>
              </a:ext>
            </a:extLst>
          </p:cNvPr>
          <p:cNvCxnSpPr/>
          <p:nvPr/>
        </p:nvCxnSpPr>
        <p:spPr>
          <a:xfrm>
            <a:off x="444500" y="787400"/>
            <a:ext cx="8763000" cy="0"/>
          </a:xfrm>
          <a:prstGeom prst="line">
            <a:avLst/>
          </a:prstGeom>
          <a:ln w="19050">
            <a:solidFill>
              <a:srgbClr val="234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4ABC2E33-6177-0622-302D-3F5E004713E9}"/>
              </a:ext>
            </a:extLst>
          </p:cNvPr>
          <p:cNvSpPr/>
          <p:nvPr/>
        </p:nvSpPr>
        <p:spPr>
          <a:xfrm>
            <a:off x="533400" y="1219200"/>
            <a:ext cx="3175000" cy="4318000"/>
          </a:xfrm>
          <a:prstGeom prst="roundRect">
            <a:avLst/>
          </a:prstGeom>
          <a:solidFill>
            <a:srgbClr val="EBF9E6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187A7C-3199-0061-871D-EF21AE5AEF80}"/>
              </a:ext>
            </a:extLst>
          </p:cNvPr>
          <p:cNvSpPr txBox="1"/>
          <p:nvPr/>
        </p:nvSpPr>
        <p:spPr>
          <a:xfrm>
            <a:off x="1333500" y="1371600"/>
            <a:ext cx="1651000" cy="364202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rgbClr val="124C1A"/>
                </a:solidFill>
                <a:latin typeface="맑은 고딕" panose="020B0503020000020004" pitchFamily="50" charset="-127"/>
              </a:rPr>
              <a:t>서버 실행 흐름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480FC721-7CA9-346A-B342-983A7BF8A142}"/>
              </a:ext>
            </a:extLst>
          </p:cNvPr>
          <p:cNvSpPr/>
          <p:nvPr/>
        </p:nvSpPr>
        <p:spPr>
          <a:xfrm>
            <a:off x="838200" y="1917700"/>
            <a:ext cx="381000" cy="381000"/>
          </a:xfrm>
          <a:prstGeom prst="ellipse">
            <a:avLst/>
          </a:prstGeom>
          <a:solidFill>
            <a:srgbClr val="2D8430"/>
          </a:solidFill>
          <a:ln w="16510">
            <a:solidFill>
              <a:srgbClr val="1E6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B1153B-15A8-DAC1-1ACF-C7FF9D2CE2B3}"/>
              </a:ext>
            </a:extLst>
          </p:cNvPr>
          <p:cNvSpPr txBox="1"/>
          <p:nvPr/>
        </p:nvSpPr>
        <p:spPr>
          <a:xfrm>
            <a:off x="1346200" y="1866900"/>
            <a:ext cx="2349500" cy="333425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500" b="1" dirty="0">
                <a:solidFill>
                  <a:srgbClr val="142428"/>
                </a:solidFill>
                <a:latin typeface="맑은 고딕" panose="020B0503020000020004" pitchFamily="50" charset="-127"/>
              </a:rPr>
              <a:t>서버 초기화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95885B-F8D7-9E22-DBCD-72DFC061FEA2}"/>
              </a:ext>
            </a:extLst>
          </p:cNvPr>
          <p:cNvSpPr txBox="1"/>
          <p:nvPr/>
        </p:nvSpPr>
        <p:spPr>
          <a:xfrm>
            <a:off x="1346200" y="2157844"/>
            <a:ext cx="2349500" cy="287258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en-US" altLang="ko-KR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Winsock, </a:t>
            </a:r>
            <a:r>
              <a:rPr lang="ko-KR" altLang="en-US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소켓</a:t>
            </a:r>
            <a:r>
              <a:rPr lang="en-US" altLang="ko-KR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포트 설정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8D9A546-BD65-4EB5-77A7-7457D89185C3}"/>
              </a:ext>
            </a:extLst>
          </p:cNvPr>
          <p:cNvCxnSpPr/>
          <p:nvPr/>
        </p:nvCxnSpPr>
        <p:spPr>
          <a:xfrm>
            <a:off x="1028700" y="2374900"/>
            <a:ext cx="0" cy="304800"/>
          </a:xfrm>
          <a:prstGeom prst="straightConnector1">
            <a:avLst/>
          </a:prstGeom>
          <a:ln w="20320">
            <a:solidFill>
              <a:srgbClr val="2D843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F4A92C4-F2AF-A1C1-985A-9AC62E607804}"/>
              </a:ext>
            </a:extLst>
          </p:cNvPr>
          <p:cNvSpPr/>
          <p:nvPr/>
        </p:nvSpPr>
        <p:spPr>
          <a:xfrm>
            <a:off x="838200" y="2768600"/>
            <a:ext cx="381000" cy="381000"/>
          </a:xfrm>
          <a:prstGeom prst="ellipse">
            <a:avLst/>
          </a:prstGeom>
          <a:solidFill>
            <a:srgbClr val="2D8430"/>
          </a:solidFill>
          <a:ln w="16510">
            <a:solidFill>
              <a:srgbClr val="1E6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8639DE-6403-7597-C133-1FAD3389B7FE}"/>
              </a:ext>
            </a:extLst>
          </p:cNvPr>
          <p:cNvSpPr txBox="1"/>
          <p:nvPr/>
        </p:nvSpPr>
        <p:spPr>
          <a:xfrm>
            <a:off x="1346200" y="2717800"/>
            <a:ext cx="2349500" cy="333425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500" b="1">
                <a:solidFill>
                  <a:srgbClr val="142428"/>
                </a:solidFill>
                <a:latin typeface="맑은 고딕" panose="020B0503020000020004" pitchFamily="50" charset="-127"/>
              </a:rPr>
              <a:t>데이터 로드</a:t>
            </a:r>
            <a:r>
              <a:rPr lang="en-US" altLang="ko-KR" sz="1500" b="1">
                <a:solidFill>
                  <a:srgbClr val="14242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500" b="1">
                <a:solidFill>
                  <a:srgbClr val="142428"/>
                </a:solidFill>
                <a:latin typeface="맑은 고딕" panose="020B0503020000020004" pitchFamily="50" charset="-127"/>
              </a:rPr>
              <a:t>검증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A24C02-5770-19F7-7241-32C2A8D2D870}"/>
              </a:ext>
            </a:extLst>
          </p:cNvPr>
          <p:cNvSpPr txBox="1"/>
          <p:nvPr/>
        </p:nvSpPr>
        <p:spPr>
          <a:xfrm>
            <a:off x="1346200" y="3008744"/>
            <a:ext cx="2349500" cy="287258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사용자</a:t>
            </a:r>
            <a:r>
              <a:rPr lang="en-US" altLang="ko-KR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범죄</a:t>
            </a:r>
            <a:r>
              <a:rPr lang="en-US" altLang="ko-KR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치안 </a:t>
            </a:r>
            <a:r>
              <a:rPr lang="en-US" altLang="ko-KR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CSV </a:t>
            </a:r>
            <a:r>
              <a:rPr lang="ko-KR" altLang="en-US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확인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7879642-1B82-A186-1D30-41AF8F33AB04}"/>
              </a:ext>
            </a:extLst>
          </p:cNvPr>
          <p:cNvCxnSpPr/>
          <p:nvPr/>
        </p:nvCxnSpPr>
        <p:spPr>
          <a:xfrm>
            <a:off x="1028700" y="3225800"/>
            <a:ext cx="0" cy="304800"/>
          </a:xfrm>
          <a:prstGeom prst="straightConnector1">
            <a:avLst/>
          </a:prstGeom>
          <a:ln w="20320">
            <a:solidFill>
              <a:srgbClr val="2D843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B3583800-8CCD-EB9C-B1D9-37FB5600156E}"/>
              </a:ext>
            </a:extLst>
          </p:cNvPr>
          <p:cNvSpPr/>
          <p:nvPr/>
        </p:nvSpPr>
        <p:spPr>
          <a:xfrm>
            <a:off x="838200" y="3619500"/>
            <a:ext cx="381000" cy="381000"/>
          </a:xfrm>
          <a:prstGeom prst="ellipse">
            <a:avLst/>
          </a:prstGeom>
          <a:solidFill>
            <a:srgbClr val="2D8430"/>
          </a:solidFill>
          <a:ln w="16510">
            <a:solidFill>
              <a:srgbClr val="1E6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BFBC4F-30E8-4338-38A6-9A005596C273}"/>
              </a:ext>
            </a:extLst>
          </p:cNvPr>
          <p:cNvSpPr txBox="1"/>
          <p:nvPr/>
        </p:nvSpPr>
        <p:spPr>
          <a:xfrm>
            <a:off x="1346200" y="3568700"/>
            <a:ext cx="2349500" cy="333425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500" b="1">
                <a:solidFill>
                  <a:srgbClr val="142428"/>
                </a:solidFill>
                <a:latin typeface="맑은 고딕" panose="020B0503020000020004" pitchFamily="50" charset="-127"/>
              </a:rPr>
              <a:t>접속 대기</a:t>
            </a:r>
            <a:r>
              <a:rPr lang="en-US" altLang="ko-KR" sz="1500" b="1">
                <a:solidFill>
                  <a:srgbClr val="14242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500" b="1">
                <a:solidFill>
                  <a:srgbClr val="142428"/>
                </a:solidFill>
                <a:latin typeface="맑은 고딕" panose="020B0503020000020004" pitchFamily="50" charset="-127"/>
              </a:rPr>
              <a:t>스레드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039C33-9B5B-6475-FA47-112902DC1CA2}"/>
              </a:ext>
            </a:extLst>
          </p:cNvPr>
          <p:cNvSpPr txBox="1"/>
          <p:nvPr/>
        </p:nvSpPr>
        <p:spPr>
          <a:xfrm>
            <a:off x="1346200" y="3859644"/>
            <a:ext cx="2349500" cy="287258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en-US" altLang="ko-KR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accept </a:t>
            </a:r>
            <a:r>
              <a:rPr lang="ko-KR" altLang="en-US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후 </a:t>
            </a:r>
            <a:r>
              <a:rPr lang="en-US" altLang="ko-KR" sz="1200" dirty="0" err="1">
                <a:solidFill>
                  <a:srgbClr val="374346"/>
                </a:solidFill>
                <a:latin typeface="맑은 고딕" panose="020B0503020000020004" pitchFamily="50" charset="-127"/>
              </a:rPr>
              <a:t>ClientHandler</a:t>
            </a:r>
            <a:r>
              <a:rPr lang="en-US" altLang="ko-KR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실행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CEEFC9C-FEA2-6C45-25E6-2561F2142E0E}"/>
              </a:ext>
            </a:extLst>
          </p:cNvPr>
          <p:cNvCxnSpPr/>
          <p:nvPr/>
        </p:nvCxnSpPr>
        <p:spPr>
          <a:xfrm>
            <a:off x="1028700" y="4076700"/>
            <a:ext cx="0" cy="304800"/>
          </a:xfrm>
          <a:prstGeom prst="straightConnector1">
            <a:avLst/>
          </a:prstGeom>
          <a:ln w="20320">
            <a:solidFill>
              <a:srgbClr val="2D843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타원 64">
            <a:extLst>
              <a:ext uri="{FF2B5EF4-FFF2-40B4-BE49-F238E27FC236}">
                <a16:creationId xmlns:a16="http://schemas.microsoft.com/office/drawing/2014/main" id="{A131F561-44A6-DAB7-DA40-14EBC8EB4E39}"/>
              </a:ext>
            </a:extLst>
          </p:cNvPr>
          <p:cNvSpPr/>
          <p:nvPr/>
        </p:nvSpPr>
        <p:spPr>
          <a:xfrm>
            <a:off x="838200" y="4470400"/>
            <a:ext cx="381000" cy="381000"/>
          </a:xfrm>
          <a:prstGeom prst="ellipse">
            <a:avLst/>
          </a:prstGeom>
          <a:solidFill>
            <a:srgbClr val="2D8430"/>
          </a:solidFill>
          <a:ln w="16510">
            <a:solidFill>
              <a:srgbClr val="1E6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CC65D09-C392-0C57-C553-7190B3F1AC9C}"/>
              </a:ext>
            </a:extLst>
          </p:cNvPr>
          <p:cNvSpPr txBox="1"/>
          <p:nvPr/>
        </p:nvSpPr>
        <p:spPr>
          <a:xfrm>
            <a:off x="1346200" y="4419600"/>
            <a:ext cx="2349500" cy="333425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500" b="1">
                <a:solidFill>
                  <a:srgbClr val="142428"/>
                </a:solidFill>
                <a:latin typeface="맑은 고딕" panose="020B0503020000020004" pitchFamily="50" charset="-127"/>
              </a:rPr>
              <a:t>요청 처리</a:t>
            </a:r>
            <a:r>
              <a:rPr lang="en-US" altLang="ko-KR" sz="1500" b="1">
                <a:solidFill>
                  <a:srgbClr val="14242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500" b="1">
                <a:solidFill>
                  <a:srgbClr val="142428"/>
                </a:solidFill>
                <a:latin typeface="맑은 고딕" panose="020B0503020000020004" pitchFamily="50" charset="-127"/>
              </a:rPr>
              <a:t>응답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1EEC09A-FEC2-A6C9-BB72-046E7EFC8400}"/>
              </a:ext>
            </a:extLst>
          </p:cNvPr>
          <p:cNvSpPr txBox="1"/>
          <p:nvPr/>
        </p:nvSpPr>
        <p:spPr>
          <a:xfrm>
            <a:off x="1346200" y="4710544"/>
            <a:ext cx="2349500" cy="287258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200">
                <a:solidFill>
                  <a:srgbClr val="374346"/>
                </a:solidFill>
                <a:latin typeface="맑은 고딕" panose="020B0503020000020004" pitchFamily="50" charset="-127"/>
              </a:rPr>
              <a:t>패킷 타입별 분석 결과 전송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09860C5F-BE70-4496-CEAA-34F1F106EC49}"/>
              </a:ext>
            </a:extLst>
          </p:cNvPr>
          <p:cNvCxnSpPr/>
          <p:nvPr/>
        </p:nvCxnSpPr>
        <p:spPr>
          <a:xfrm>
            <a:off x="3708400" y="3365500"/>
            <a:ext cx="457200" cy="0"/>
          </a:xfrm>
          <a:prstGeom prst="straightConnector1">
            <a:avLst/>
          </a:prstGeom>
          <a:ln w="29210">
            <a:solidFill>
              <a:srgbClr val="14586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65A150C-1C7D-CDA1-39B1-F7DAFDEB6E50}"/>
              </a:ext>
            </a:extLst>
          </p:cNvPr>
          <p:cNvSpPr txBox="1"/>
          <p:nvPr/>
        </p:nvSpPr>
        <p:spPr>
          <a:xfrm>
            <a:off x="5892800" y="1108789"/>
            <a:ext cx="3683000" cy="410369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0A4652"/>
                </a:solidFill>
                <a:latin typeface="맑은 고딕" panose="020B0503020000020004" pitchFamily="50" charset="-127"/>
              </a:rPr>
              <a:t>서버 주요 모듈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2F594981-6BDC-2621-6F58-AB6D074A3AD8}"/>
              </a:ext>
            </a:extLst>
          </p:cNvPr>
          <p:cNvSpPr/>
          <p:nvPr/>
        </p:nvSpPr>
        <p:spPr>
          <a:xfrm>
            <a:off x="4127500" y="1549400"/>
            <a:ext cx="2260600" cy="121920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54ED1523-9A1E-4E31-B3AB-410B930AAFC2}"/>
              </a:ext>
            </a:extLst>
          </p:cNvPr>
          <p:cNvSpPr/>
          <p:nvPr/>
        </p:nvSpPr>
        <p:spPr>
          <a:xfrm>
            <a:off x="4127500" y="1549400"/>
            <a:ext cx="2260600" cy="381000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네트워크 </a:t>
            </a:r>
            <a:r>
              <a:rPr lang="en-US" altLang="ko-KR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세션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647EA5D-08BF-0BA8-FF59-87FB364784A8}"/>
              </a:ext>
            </a:extLst>
          </p:cNvPr>
          <p:cNvSpPr txBox="1"/>
          <p:nvPr/>
        </p:nvSpPr>
        <p:spPr>
          <a:xfrm>
            <a:off x="4127500" y="2013528"/>
            <a:ext cx="2260600" cy="564257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0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0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WSAStartup</a:t>
            </a:r>
            <a:r>
              <a:rPr lang="en-US" altLang="ko-KR" sz="1000" dirty="0">
                <a:solidFill>
                  <a:srgbClr val="192428"/>
                </a:solidFill>
                <a:latin typeface="맑은 고딕" panose="020B0503020000020004" pitchFamily="50" charset="-127"/>
              </a:rPr>
              <a:t>/bind/listen/accept
</a:t>
            </a:r>
            <a:r>
              <a:rPr lang="ko-KR" altLang="en-US" sz="10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0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ClientHandler</a:t>
            </a:r>
            <a:r>
              <a:rPr lang="en-US" altLang="ko-KR" sz="1000" dirty="0">
                <a:solidFill>
                  <a:srgbClr val="19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rgbClr val="192428"/>
                </a:solidFill>
                <a:latin typeface="맑은 고딕" panose="020B0503020000020004" pitchFamily="50" charset="-127"/>
              </a:rPr>
              <a:t>스레드 처리
</a:t>
            </a:r>
            <a:r>
              <a:rPr lang="ko-KR" altLang="en-US" sz="10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ㆍ클라이언트</a:t>
            </a:r>
            <a:r>
              <a:rPr lang="ko-KR" altLang="en-US" sz="1000" dirty="0">
                <a:solidFill>
                  <a:srgbClr val="192428"/>
                </a:solidFill>
                <a:latin typeface="맑은 고딕" panose="020B0503020000020004" pitchFamily="50" charset="-127"/>
              </a:rPr>
              <a:t> 접속 종료 정리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A07AE10D-8AB7-5E6B-122A-2D604C762A12}"/>
              </a:ext>
            </a:extLst>
          </p:cNvPr>
          <p:cNvSpPr/>
          <p:nvPr/>
        </p:nvSpPr>
        <p:spPr>
          <a:xfrm>
            <a:off x="6604000" y="1549400"/>
            <a:ext cx="2260600" cy="121920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AC17B1D2-D6DD-8864-6C66-7909A2404B12}"/>
              </a:ext>
            </a:extLst>
          </p:cNvPr>
          <p:cNvSpPr/>
          <p:nvPr/>
        </p:nvSpPr>
        <p:spPr>
          <a:xfrm>
            <a:off x="6604000" y="1549400"/>
            <a:ext cx="2260600" cy="381000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공통 패킷 처리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64577C-054C-7E94-C7FC-18CE597A9BC5}"/>
              </a:ext>
            </a:extLst>
          </p:cNvPr>
          <p:cNvSpPr txBox="1"/>
          <p:nvPr/>
        </p:nvSpPr>
        <p:spPr>
          <a:xfrm>
            <a:off x="6604000" y="1995056"/>
            <a:ext cx="2260600" cy="610424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PacketHeader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type,length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)
</a:t>
            </a:r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SendPacket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/</a:t>
            </a:r>
            <a:r>
              <a:rPr lang="en-US" altLang="ko-KR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RecvPacket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사용
</a:t>
            </a:r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ㆍ요청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응답 약속 통일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424A3C90-1DB9-594F-B4CD-154C7CC7C703}"/>
              </a:ext>
            </a:extLst>
          </p:cNvPr>
          <p:cNvSpPr/>
          <p:nvPr/>
        </p:nvSpPr>
        <p:spPr>
          <a:xfrm>
            <a:off x="9080500" y="1549400"/>
            <a:ext cx="2260600" cy="121920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C0BEC13-6302-7C4C-41AE-A6B44279F124}"/>
              </a:ext>
            </a:extLst>
          </p:cNvPr>
          <p:cNvSpPr/>
          <p:nvPr/>
        </p:nvSpPr>
        <p:spPr>
          <a:xfrm>
            <a:off x="9080500" y="1549400"/>
            <a:ext cx="2260600" cy="381000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데이터 로드 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검증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2C84E69-D448-8AD7-E96F-79B3177C188E}"/>
              </a:ext>
            </a:extLst>
          </p:cNvPr>
          <p:cNvSpPr txBox="1"/>
          <p:nvPr/>
        </p:nvSpPr>
        <p:spPr>
          <a:xfrm>
            <a:off x="9080500" y="1958110"/>
            <a:ext cx="2260600" cy="77970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users.txt 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계정 로드
</a:t>
            </a:r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CrimeStats.csv 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파싱
</a:t>
            </a:r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PoliceStats.csv 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파싱
</a:t>
            </a:r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CP949/UTF-8 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변환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D10B2B8-9D44-32AA-5828-D7665C7C09E6}"/>
              </a:ext>
            </a:extLst>
          </p:cNvPr>
          <p:cNvSpPr/>
          <p:nvPr/>
        </p:nvSpPr>
        <p:spPr>
          <a:xfrm>
            <a:off x="4127500" y="3124200"/>
            <a:ext cx="2260600" cy="1371600"/>
          </a:xfrm>
          <a:prstGeom prst="roundRect">
            <a:avLst/>
          </a:prstGeom>
          <a:solidFill>
            <a:srgbClr val="EFF9E8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FEDE2D3F-BCCB-8F07-8FEB-4E45A58D0254}"/>
              </a:ext>
            </a:extLst>
          </p:cNvPr>
          <p:cNvSpPr/>
          <p:nvPr/>
        </p:nvSpPr>
        <p:spPr>
          <a:xfrm>
            <a:off x="4127500" y="3124200"/>
            <a:ext cx="2260600" cy="381000"/>
          </a:xfrm>
          <a:prstGeom prst="roundRect">
            <a:avLst/>
          </a:prstGeom>
          <a:solidFill>
            <a:srgbClr val="4A7024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사용자 계정 관리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1D0E8E-3FA8-5D37-880A-14BBE8895F91}"/>
              </a:ext>
            </a:extLst>
          </p:cNvPr>
          <p:cNvSpPr txBox="1"/>
          <p:nvPr/>
        </p:nvSpPr>
        <p:spPr>
          <a:xfrm>
            <a:off x="4127500" y="3579092"/>
            <a:ext cx="2260600" cy="8412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ㆍ로그인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ID/PW 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검증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ㆍ회원가입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중복 </a:t>
            </a:r>
            <a:r>
              <a:rPr lang="en-US" altLang="ko-KR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ID 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검사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ㆍ신규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계정 파일 저장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ㆍ오류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메시지 반환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34C888B-A477-193E-D0A2-7AEE5F78A1F4}"/>
              </a:ext>
            </a:extLst>
          </p:cNvPr>
          <p:cNvSpPr/>
          <p:nvPr/>
        </p:nvSpPr>
        <p:spPr>
          <a:xfrm>
            <a:off x="6604000" y="3124200"/>
            <a:ext cx="2260600" cy="1371600"/>
          </a:xfrm>
          <a:prstGeom prst="roundRect">
            <a:avLst/>
          </a:prstGeom>
          <a:solidFill>
            <a:srgbClr val="EFF9E8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A4CF3F87-0244-F86B-BF63-430C6B345977}"/>
              </a:ext>
            </a:extLst>
          </p:cNvPr>
          <p:cNvSpPr/>
          <p:nvPr/>
        </p:nvSpPr>
        <p:spPr>
          <a:xfrm>
            <a:off x="6604000" y="3124200"/>
            <a:ext cx="2260600" cy="381000"/>
          </a:xfrm>
          <a:prstGeom prst="roundRect">
            <a:avLst/>
          </a:prstGeom>
          <a:solidFill>
            <a:srgbClr val="4A7024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통계 분석 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지수 산출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6AE0788-3DA0-0CF7-8E1F-1327EBB80E23}"/>
              </a:ext>
            </a:extLst>
          </p:cNvPr>
          <p:cNvSpPr txBox="1"/>
          <p:nvPr/>
        </p:nvSpPr>
        <p:spPr>
          <a:xfrm>
            <a:off x="6604000" y="3579092"/>
            <a:ext cx="2260600" cy="8412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200">
                <a:solidFill>
                  <a:srgbClr val="192428"/>
                </a:solidFill>
                <a:latin typeface="맑은 고딕" panose="020B0503020000020004" pitchFamily="50" charset="-127"/>
              </a:rPr>
              <a:t>ㆍ범죄 발생 위험도 계산
ㆍ치안 대응력 지수 계산
ㆍ실질 치안 위험도 산출
ㆍ최대 힙으로 범죄 </a:t>
            </a:r>
            <a:r>
              <a:rPr lang="en-US" altLang="ko-KR" sz="1200">
                <a:solidFill>
                  <a:srgbClr val="192428"/>
                </a:solidFill>
                <a:latin typeface="맑은 고딕" panose="020B0503020000020004" pitchFamily="50" charset="-127"/>
              </a:rPr>
              <a:t>Top3 </a:t>
            </a:r>
            <a:r>
              <a:rPr lang="ko-KR" altLang="en-US" sz="1200">
                <a:solidFill>
                  <a:srgbClr val="192428"/>
                </a:solidFill>
                <a:latin typeface="맑은 고딕" panose="020B0503020000020004" pitchFamily="50" charset="-127"/>
              </a:rPr>
              <a:t>정렬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9781F593-FC44-F4AB-6FA7-637193C6CCA8}"/>
              </a:ext>
            </a:extLst>
          </p:cNvPr>
          <p:cNvSpPr/>
          <p:nvPr/>
        </p:nvSpPr>
        <p:spPr>
          <a:xfrm>
            <a:off x="9080500" y="3124200"/>
            <a:ext cx="2260600" cy="1371600"/>
          </a:xfrm>
          <a:prstGeom prst="roundRect">
            <a:avLst/>
          </a:prstGeom>
          <a:solidFill>
            <a:srgbClr val="EFF9E8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2C965524-860E-7E20-C6D4-8EA75B5059E9}"/>
              </a:ext>
            </a:extLst>
          </p:cNvPr>
          <p:cNvSpPr/>
          <p:nvPr/>
        </p:nvSpPr>
        <p:spPr>
          <a:xfrm>
            <a:off x="9080500" y="3124200"/>
            <a:ext cx="2260600" cy="381000"/>
          </a:xfrm>
          <a:prstGeom prst="roundRect">
            <a:avLst/>
          </a:prstGeom>
          <a:solidFill>
            <a:srgbClr val="4A7024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응답 생성 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전송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CDAB354-D328-267F-62E1-4190646572BB}"/>
              </a:ext>
            </a:extLst>
          </p:cNvPr>
          <p:cNvSpPr txBox="1"/>
          <p:nvPr/>
        </p:nvSpPr>
        <p:spPr>
          <a:xfrm>
            <a:off x="9080500" y="3579092"/>
            <a:ext cx="2260600" cy="77970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ㆍ분석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 결과 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UTF-8 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텍스트 구성
</a:t>
            </a:r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ㆍ맞춤형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 안전 가이드 생성
</a:t>
            </a:r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PKT_TEXT/PKT_ERROR 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전송
</a:t>
            </a:r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ㆍ메뉴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 복귀 흐름 지원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7A5C1D19-0013-F506-5376-E16A8F57D1F8}"/>
              </a:ext>
            </a:extLst>
          </p:cNvPr>
          <p:cNvSpPr/>
          <p:nvPr/>
        </p:nvSpPr>
        <p:spPr>
          <a:xfrm>
            <a:off x="3933536" y="4724085"/>
            <a:ext cx="7407564" cy="81280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8C13EE2-43FC-B9FD-1E58-25763DFEE2E5}"/>
              </a:ext>
            </a:extLst>
          </p:cNvPr>
          <p:cNvSpPr txBox="1"/>
          <p:nvPr/>
        </p:nvSpPr>
        <p:spPr>
          <a:xfrm>
            <a:off x="4200236" y="4777194"/>
            <a:ext cx="6846780" cy="4103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서버에서 활용하는 자료구조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5D4C8E-700F-DA0F-2415-03E37DC216DD}"/>
              </a:ext>
            </a:extLst>
          </p:cNvPr>
          <p:cNvSpPr txBox="1"/>
          <p:nvPr/>
        </p:nvSpPr>
        <p:spPr>
          <a:xfrm>
            <a:off x="4251035" y="5168585"/>
            <a:ext cx="6781573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연결 리스트</a:t>
            </a:r>
            <a:r>
              <a:rPr lang="en-US" altLang="ko-KR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(User/Crime/Police/Client)  |  </a:t>
            </a:r>
            <a:r>
              <a:rPr lang="ko-KR" altLang="en-US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최대 </a:t>
            </a:r>
            <a:r>
              <a:rPr lang="ko-KR" altLang="en-US" sz="1200" b="1" dirty="0" err="1">
                <a:solidFill>
                  <a:srgbClr val="46300C"/>
                </a:solidFill>
                <a:latin typeface="맑은 고딕" panose="020B0503020000020004" pitchFamily="50" charset="-127"/>
              </a:rPr>
              <a:t>힙</a:t>
            </a:r>
            <a:r>
              <a:rPr lang="en-US" altLang="ko-KR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200" b="1" dirty="0" err="1">
                <a:solidFill>
                  <a:srgbClr val="46300C"/>
                </a:solidFill>
                <a:latin typeface="맑은 고딕" panose="020B0503020000020004" pitchFamily="50" charset="-127"/>
              </a:rPr>
              <a:t>CrimeRank</a:t>
            </a:r>
            <a:r>
              <a:rPr lang="en-US" altLang="ko-KR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)  |  </a:t>
            </a:r>
            <a:r>
              <a:rPr lang="ko-KR" altLang="en-US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배열</a:t>
            </a:r>
            <a:r>
              <a:rPr lang="en-US" altLang="ko-KR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200" b="1" dirty="0" err="1">
                <a:solidFill>
                  <a:srgbClr val="46300C"/>
                </a:solidFill>
                <a:latin typeface="맑은 고딕" panose="020B0503020000020004" pitchFamily="50" charset="-127"/>
              </a:rPr>
              <a:t>gRegions</a:t>
            </a:r>
            <a:r>
              <a:rPr lang="en-US" altLang="ko-KR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/</a:t>
            </a:r>
            <a:r>
              <a:rPr lang="en-US" altLang="ko-KR" sz="1200" b="1" dirty="0" err="1">
                <a:solidFill>
                  <a:srgbClr val="46300C"/>
                </a:solidFill>
                <a:latin typeface="맑은 고딕" panose="020B0503020000020004" pitchFamily="50" charset="-127"/>
              </a:rPr>
              <a:t>gProvinces</a:t>
            </a:r>
            <a:r>
              <a:rPr lang="en-US" altLang="ko-KR" sz="12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 b="1" dirty="0">
              <a:solidFill>
                <a:srgbClr val="46300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487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4B22AE8-8AD9-A1CF-814D-EC391A02F9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8FCFC"/>
          </a:solidFill>
          <a:ln w="1524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240" cap="flat" cmpd="sng" algn="ctr">
                <a:solidFill>
                  <a:srgbClr val="F8FC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0B70B2-0543-4046-0C79-930F6FB5ADC0}"/>
              </a:ext>
            </a:extLst>
          </p:cNvPr>
          <p:cNvSpPr/>
          <p:nvPr/>
        </p:nvSpPr>
        <p:spPr>
          <a:xfrm>
            <a:off x="0" y="0"/>
            <a:ext cx="228600" cy="965200"/>
          </a:xfrm>
          <a:prstGeom prst="rect">
            <a:avLst/>
          </a:prstGeom>
          <a:solidFill>
            <a:srgbClr val="0C5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76C953-377E-6FF4-A1B5-21ECC92CB4DE}"/>
              </a:ext>
            </a:extLst>
          </p:cNvPr>
          <p:cNvSpPr txBox="1"/>
          <p:nvPr/>
        </p:nvSpPr>
        <p:spPr>
          <a:xfrm>
            <a:off x="444500" y="203200"/>
            <a:ext cx="10033000" cy="471924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en-US" altLang="ko-KR" sz="2400" b="1">
                <a:solidFill>
                  <a:srgbClr val="000000"/>
                </a:solidFill>
                <a:latin typeface="맑은 고딕" panose="020B0503020000020004" pitchFamily="50" charset="-127"/>
              </a:rPr>
              <a:t>2-1. </a:t>
            </a:r>
            <a:r>
              <a:rPr lang="ko-KR" altLang="en-US" sz="2400" b="1">
                <a:solidFill>
                  <a:srgbClr val="000000"/>
                </a:solidFill>
                <a:latin typeface="맑은 고딕" panose="020B0503020000020004" pitchFamily="50" charset="-127"/>
              </a:rPr>
              <a:t>주요 구성요소 상세 개발 계획 </a:t>
            </a:r>
            <a:r>
              <a:rPr lang="en-US" altLang="ko-KR" sz="2400" b="1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2400" b="1">
                <a:solidFill>
                  <a:srgbClr val="000000"/>
                </a:solidFill>
                <a:latin typeface="맑은 고딕" panose="020B0503020000020004" pitchFamily="50" charset="-127"/>
              </a:rPr>
              <a:t>클라이언트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1277592-A8F5-A2BC-D1FA-4FF94B0E7526}"/>
              </a:ext>
            </a:extLst>
          </p:cNvPr>
          <p:cNvCxnSpPr/>
          <p:nvPr/>
        </p:nvCxnSpPr>
        <p:spPr>
          <a:xfrm>
            <a:off x="444500" y="787400"/>
            <a:ext cx="8763000" cy="0"/>
          </a:xfrm>
          <a:prstGeom prst="line">
            <a:avLst/>
          </a:prstGeom>
          <a:ln w="19050">
            <a:solidFill>
              <a:srgbClr val="234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94A383D-EAF3-0143-16AC-7663F71A3401}"/>
              </a:ext>
            </a:extLst>
          </p:cNvPr>
          <p:cNvSpPr/>
          <p:nvPr/>
        </p:nvSpPr>
        <p:spPr>
          <a:xfrm>
            <a:off x="533400" y="1219200"/>
            <a:ext cx="3175000" cy="447040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AE015E-F6B8-C43F-52D0-C73386F8CE9D}"/>
              </a:ext>
            </a:extLst>
          </p:cNvPr>
          <p:cNvSpPr txBox="1"/>
          <p:nvPr/>
        </p:nvSpPr>
        <p:spPr>
          <a:xfrm>
            <a:off x="1082967" y="1306948"/>
            <a:ext cx="2177473" cy="4103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0A4652"/>
                </a:solidFill>
                <a:latin typeface="맑은 고딕" panose="020B0503020000020004" pitchFamily="50" charset="-127"/>
              </a:rPr>
              <a:t>사용자 화면 흐름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8CB563A6-0931-072B-7693-9C7902577EFD}"/>
              </a:ext>
            </a:extLst>
          </p:cNvPr>
          <p:cNvSpPr/>
          <p:nvPr/>
        </p:nvSpPr>
        <p:spPr>
          <a:xfrm>
            <a:off x="838200" y="1816100"/>
            <a:ext cx="381000" cy="381000"/>
          </a:xfrm>
          <a:prstGeom prst="ellipse">
            <a:avLst/>
          </a:prstGeom>
          <a:solidFill>
            <a:srgbClr val="0D606F"/>
          </a:solidFill>
          <a:ln w="16510"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975C46-8BBF-3ECC-1980-E427FC443586}"/>
              </a:ext>
            </a:extLst>
          </p:cNvPr>
          <p:cNvSpPr txBox="1"/>
          <p:nvPr/>
        </p:nvSpPr>
        <p:spPr>
          <a:xfrm>
            <a:off x="1346200" y="1765300"/>
            <a:ext cx="2349500" cy="364202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700" b="1" dirty="0">
                <a:solidFill>
                  <a:srgbClr val="142428"/>
                </a:solidFill>
                <a:latin typeface="맑은 고딕" panose="020B0503020000020004" pitchFamily="50" charset="-127"/>
              </a:rPr>
              <a:t>서버 접속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37B657-FE0D-9715-5391-238D116D8114}"/>
              </a:ext>
            </a:extLst>
          </p:cNvPr>
          <p:cNvSpPr txBox="1"/>
          <p:nvPr/>
        </p:nvSpPr>
        <p:spPr>
          <a:xfrm>
            <a:off x="1327728" y="2111660"/>
            <a:ext cx="2349500" cy="287258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en-US" altLang="ko-KR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IP/PORT </a:t>
            </a:r>
            <a:r>
              <a:rPr lang="ko-KR" altLang="en-US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기준 </a:t>
            </a:r>
            <a:r>
              <a:rPr lang="en-US" altLang="ko-KR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TCP </a:t>
            </a:r>
            <a:r>
              <a:rPr lang="ko-KR" altLang="en-US" sz="1200" dirty="0">
                <a:solidFill>
                  <a:srgbClr val="374346"/>
                </a:solidFill>
                <a:latin typeface="맑은 고딕" panose="020B0503020000020004" pitchFamily="50" charset="-127"/>
              </a:rPr>
              <a:t>연결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9F955092-5E7A-F76E-5FE6-07202CF962E7}"/>
              </a:ext>
            </a:extLst>
          </p:cNvPr>
          <p:cNvCxnSpPr/>
          <p:nvPr/>
        </p:nvCxnSpPr>
        <p:spPr>
          <a:xfrm>
            <a:off x="1028700" y="2235200"/>
            <a:ext cx="0" cy="254000"/>
          </a:xfrm>
          <a:prstGeom prst="straightConnector1">
            <a:avLst/>
          </a:prstGeom>
          <a:ln w="2032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3AE8D0A4-B6BB-E146-9E4E-7C7B70707CBF}"/>
              </a:ext>
            </a:extLst>
          </p:cNvPr>
          <p:cNvSpPr/>
          <p:nvPr/>
        </p:nvSpPr>
        <p:spPr>
          <a:xfrm>
            <a:off x="838200" y="2578100"/>
            <a:ext cx="381000" cy="381000"/>
          </a:xfrm>
          <a:prstGeom prst="ellipse">
            <a:avLst/>
          </a:prstGeom>
          <a:solidFill>
            <a:srgbClr val="0D606F"/>
          </a:solidFill>
          <a:ln w="16510"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D9E425-CADD-C31B-181F-DDDE9580849D}"/>
              </a:ext>
            </a:extLst>
          </p:cNvPr>
          <p:cNvSpPr txBox="1"/>
          <p:nvPr/>
        </p:nvSpPr>
        <p:spPr>
          <a:xfrm>
            <a:off x="1346200" y="2527300"/>
            <a:ext cx="2349500" cy="364202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700" b="1">
                <a:solidFill>
                  <a:srgbClr val="142428"/>
                </a:solidFill>
                <a:latin typeface="맑은 고딕" panose="020B0503020000020004" pitchFamily="50" charset="-127"/>
              </a:rPr>
              <a:t>초기 메뉴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C2EA73-6DEC-0B1B-0F01-2827A7847F34}"/>
              </a:ext>
            </a:extLst>
          </p:cNvPr>
          <p:cNvSpPr txBox="1"/>
          <p:nvPr/>
        </p:nvSpPr>
        <p:spPr>
          <a:xfrm>
            <a:off x="1327728" y="2873660"/>
            <a:ext cx="2349500" cy="287258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200">
                <a:solidFill>
                  <a:srgbClr val="374346"/>
                </a:solidFill>
                <a:latin typeface="맑은 고딕" panose="020B0503020000020004" pitchFamily="50" charset="-127"/>
              </a:rPr>
              <a:t>로그인</a:t>
            </a:r>
            <a:r>
              <a:rPr lang="en-US" altLang="ko-KR" sz="1200">
                <a:solidFill>
                  <a:srgbClr val="374346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374346"/>
                </a:solidFill>
                <a:latin typeface="맑은 고딕" panose="020B0503020000020004" pitchFamily="50" charset="-127"/>
              </a:rPr>
              <a:t>회원가입</a:t>
            </a:r>
            <a:r>
              <a:rPr lang="en-US" altLang="ko-KR" sz="1200">
                <a:solidFill>
                  <a:srgbClr val="374346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374346"/>
                </a:solidFill>
                <a:latin typeface="맑은 고딕" panose="020B0503020000020004" pitchFamily="50" charset="-127"/>
              </a:rPr>
              <a:t>종료 선택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EA6B0CC7-A1AE-6D77-A412-4E383C09C10C}"/>
              </a:ext>
            </a:extLst>
          </p:cNvPr>
          <p:cNvCxnSpPr/>
          <p:nvPr/>
        </p:nvCxnSpPr>
        <p:spPr>
          <a:xfrm>
            <a:off x="1028700" y="2997200"/>
            <a:ext cx="0" cy="254000"/>
          </a:xfrm>
          <a:prstGeom prst="straightConnector1">
            <a:avLst/>
          </a:prstGeom>
          <a:ln w="2032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타원 64">
            <a:extLst>
              <a:ext uri="{FF2B5EF4-FFF2-40B4-BE49-F238E27FC236}">
                <a16:creationId xmlns:a16="http://schemas.microsoft.com/office/drawing/2014/main" id="{2BF1D78C-8F3A-853C-F765-AE2FAA82B70A}"/>
              </a:ext>
            </a:extLst>
          </p:cNvPr>
          <p:cNvSpPr/>
          <p:nvPr/>
        </p:nvSpPr>
        <p:spPr>
          <a:xfrm>
            <a:off x="838200" y="3340100"/>
            <a:ext cx="381000" cy="381000"/>
          </a:xfrm>
          <a:prstGeom prst="ellipse">
            <a:avLst/>
          </a:prstGeom>
          <a:solidFill>
            <a:srgbClr val="0D606F"/>
          </a:solidFill>
          <a:ln w="16510"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5AD6DF-978D-6B9C-BA03-DFB91D29BC5B}"/>
              </a:ext>
            </a:extLst>
          </p:cNvPr>
          <p:cNvSpPr txBox="1"/>
          <p:nvPr/>
        </p:nvSpPr>
        <p:spPr>
          <a:xfrm>
            <a:off x="1346200" y="3289300"/>
            <a:ext cx="2349500" cy="364202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700" b="1">
                <a:solidFill>
                  <a:srgbClr val="142428"/>
                </a:solidFill>
                <a:latin typeface="맑은 고딕" panose="020B0503020000020004" pitchFamily="50" charset="-127"/>
              </a:rPr>
              <a:t>지역 선택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C7C165-F859-DD15-E954-7C699F04B7AD}"/>
              </a:ext>
            </a:extLst>
          </p:cNvPr>
          <p:cNvSpPr txBox="1"/>
          <p:nvPr/>
        </p:nvSpPr>
        <p:spPr>
          <a:xfrm>
            <a:off x="1327728" y="3635660"/>
            <a:ext cx="2349500" cy="287258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200">
                <a:solidFill>
                  <a:srgbClr val="374346"/>
                </a:solidFill>
                <a:latin typeface="맑은 고딕" panose="020B0503020000020004" pitchFamily="50" charset="-127"/>
              </a:rPr>
              <a:t>시도 목록 → 시군구 목록 선택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FFC51AD9-005E-766A-5814-D2D61BA6D196}"/>
              </a:ext>
            </a:extLst>
          </p:cNvPr>
          <p:cNvCxnSpPr/>
          <p:nvPr/>
        </p:nvCxnSpPr>
        <p:spPr>
          <a:xfrm>
            <a:off x="1028700" y="3759200"/>
            <a:ext cx="0" cy="254000"/>
          </a:xfrm>
          <a:prstGeom prst="straightConnector1">
            <a:avLst/>
          </a:prstGeom>
          <a:ln w="2032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A473C5E2-5941-BBCC-E4B0-D3653087B934}"/>
              </a:ext>
            </a:extLst>
          </p:cNvPr>
          <p:cNvSpPr/>
          <p:nvPr/>
        </p:nvSpPr>
        <p:spPr>
          <a:xfrm>
            <a:off x="838200" y="4102100"/>
            <a:ext cx="381000" cy="381000"/>
          </a:xfrm>
          <a:prstGeom prst="ellipse">
            <a:avLst/>
          </a:prstGeom>
          <a:solidFill>
            <a:srgbClr val="0D606F"/>
          </a:solidFill>
          <a:ln w="16510"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8F0B026-9F1F-BEC4-4E3C-1DC1DC9DA124}"/>
              </a:ext>
            </a:extLst>
          </p:cNvPr>
          <p:cNvSpPr txBox="1"/>
          <p:nvPr/>
        </p:nvSpPr>
        <p:spPr>
          <a:xfrm>
            <a:off x="1346200" y="4051300"/>
            <a:ext cx="2349500" cy="364202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700" b="1">
                <a:solidFill>
                  <a:srgbClr val="142428"/>
                </a:solidFill>
                <a:latin typeface="맑은 고딕" panose="020B0503020000020004" pitchFamily="50" charset="-127"/>
              </a:rPr>
              <a:t>기능 실행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6EB761-0E94-1ADD-81F7-672D07952F54}"/>
              </a:ext>
            </a:extLst>
          </p:cNvPr>
          <p:cNvSpPr txBox="1"/>
          <p:nvPr/>
        </p:nvSpPr>
        <p:spPr>
          <a:xfrm>
            <a:off x="1327728" y="4397660"/>
            <a:ext cx="2349500" cy="287258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200">
                <a:solidFill>
                  <a:srgbClr val="374346"/>
                </a:solidFill>
                <a:latin typeface="맑은 고딕" panose="020B0503020000020004" pitchFamily="50" charset="-127"/>
              </a:rPr>
              <a:t>통계</a:t>
            </a:r>
            <a:r>
              <a:rPr lang="en-US" altLang="ko-KR" sz="1200">
                <a:solidFill>
                  <a:srgbClr val="374346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374346"/>
                </a:solidFill>
                <a:latin typeface="맑은 고딕" panose="020B0503020000020004" pitchFamily="50" charset="-127"/>
              </a:rPr>
              <a:t>인프라</a:t>
            </a:r>
            <a:r>
              <a:rPr lang="en-US" altLang="ko-KR" sz="1200">
                <a:solidFill>
                  <a:srgbClr val="374346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374346"/>
                </a:solidFill>
                <a:latin typeface="맑은 고딕" panose="020B0503020000020004" pitchFamily="50" charset="-127"/>
              </a:rPr>
              <a:t>위험도 요청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3ECBCDA4-B74F-C7A9-77FD-7403B019707D}"/>
              </a:ext>
            </a:extLst>
          </p:cNvPr>
          <p:cNvCxnSpPr/>
          <p:nvPr/>
        </p:nvCxnSpPr>
        <p:spPr>
          <a:xfrm>
            <a:off x="1028700" y="4521200"/>
            <a:ext cx="0" cy="254000"/>
          </a:xfrm>
          <a:prstGeom prst="straightConnector1">
            <a:avLst/>
          </a:prstGeom>
          <a:ln w="2032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타원 72">
            <a:extLst>
              <a:ext uri="{FF2B5EF4-FFF2-40B4-BE49-F238E27FC236}">
                <a16:creationId xmlns:a16="http://schemas.microsoft.com/office/drawing/2014/main" id="{D74D1EC3-AEEF-1F06-16FF-DE19C181E88C}"/>
              </a:ext>
            </a:extLst>
          </p:cNvPr>
          <p:cNvSpPr/>
          <p:nvPr/>
        </p:nvSpPr>
        <p:spPr>
          <a:xfrm>
            <a:off x="838200" y="4864100"/>
            <a:ext cx="381000" cy="381000"/>
          </a:xfrm>
          <a:prstGeom prst="ellipse">
            <a:avLst/>
          </a:prstGeom>
          <a:solidFill>
            <a:srgbClr val="0D606F"/>
          </a:solidFill>
          <a:ln w="16510"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5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19B1B0-0C7C-0969-CF94-4E2593C6959E}"/>
              </a:ext>
            </a:extLst>
          </p:cNvPr>
          <p:cNvSpPr txBox="1"/>
          <p:nvPr/>
        </p:nvSpPr>
        <p:spPr>
          <a:xfrm>
            <a:off x="1346200" y="4813300"/>
            <a:ext cx="2349500" cy="364202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ko-KR" altLang="en-US" sz="1700" b="1">
                <a:solidFill>
                  <a:srgbClr val="142428"/>
                </a:solidFill>
                <a:latin typeface="맑은 고딕" panose="020B0503020000020004" pitchFamily="50" charset="-127"/>
              </a:rPr>
              <a:t>결과 확인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131ADAD-6FBD-A6A2-6A95-9FD5BE2E86CA}"/>
              </a:ext>
            </a:extLst>
          </p:cNvPr>
          <p:cNvSpPr txBox="1"/>
          <p:nvPr/>
        </p:nvSpPr>
        <p:spPr>
          <a:xfrm>
            <a:off x="1327728" y="5159660"/>
            <a:ext cx="2349500" cy="287258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r>
              <a:rPr lang="en-US" altLang="ko-KR" sz="1200">
                <a:solidFill>
                  <a:srgbClr val="374346"/>
                </a:solidFill>
                <a:latin typeface="맑은 고딕" panose="020B0503020000020004" pitchFamily="50" charset="-127"/>
              </a:rPr>
              <a:t>Enter </a:t>
            </a:r>
            <a:r>
              <a:rPr lang="ko-KR" altLang="en-US" sz="1200">
                <a:solidFill>
                  <a:srgbClr val="374346"/>
                </a:solidFill>
                <a:latin typeface="맑은 고딕" panose="020B0503020000020004" pitchFamily="50" charset="-127"/>
              </a:rPr>
              <a:t>대기 후 메뉴 복귀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A81BC8F-CF97-9A36-C482-37BC66BEC491}"/>
              </a:ext>
            </a:extLst>
          </p:cNvPr>
          <p:cNvCxnSpPr/>
          <p:nvPr/>
        </p:nvCxnSpPr>
        <p:spPr>
          <a:xfrm>
            <a:off x="3708400" y="3365500"/>
            <a:ext cx="457200" cy="0"/>
          </a:xfrm>
          <a:prstGeom prst="straightConnector1">
            <a:avLst/>
          </a:prstGeom>
          <a:ln w="29210">
            <a:solidFill>
              <a:srgbClr val="14586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465CE21-87C5-0FEF-8727-8964E8A80B22}"/>
              </a:ext>
            </a:extLst>
          </p:cNvPr>
          <p:cNvSpPr txBox="1"/>
          <p:nvPr/>
        </p:nvSpPr>
        <p:spPr>
          <a:xfrm>
            <a:off x="5715000" y="1206742"/>
            <a:ext cx="3810000" cy="333425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rgbClr val="124C1A"/>
                </a:solidFill>
                <a:latin typeface="맑은 고딕" panose="020B0503020000020004" pitchFamily="50" charset="-127"/>
              </a:rPr>
              <a:t>클라이언트 주요 모듈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7512EF0-5373-DBAD-0693-A6A0C9407139}"/>
              </a:ext>
            </a:extLst>
          </p:cNvPr>
          <p:cNvSpPr/>
          <p:nvPr/>
        </p:nvSpPr>
        <p:spPr>
          <a:xfrm>
            <a:off x="4127500" y="1549400"/>
            <a:ext cx="2260600" cy="1219200"/>
          </a:xfrm>
          <a:prstGeom prst="roundRect">
            <a:avLst/>
          </a:prstGeom>
          <a:solidFill>
            <a:srgbClr val="EBF9E6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BA35BE4-4AD4-4188-6799-DA8E64E52320}"/>
              </a:ext>
            </a:extLst>
          </p:cNvPr>
          <p:cNvSpPr/>
          <p:nvPr/>
        </p:nvSpPr>
        <p:spPr>
          <a:xfrm>
            <a:off x="4127500" y="1549400"/>
            <a:ext cx="2260600" cy="381000"/>
          </a:xfrm>
          <a:prstGeom prst="roundRect">
            <a:avLst/>
          </a:prstGeom>
          <a:solidFill>
            <a:srgbClr val="2D8430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서버 연결 관리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0497BC-0ABA-F21E-F0B3-A193C1FB6A17}"/>
              </a:ext>
            </a:extLst>
          </p:cNvPr>
          <p:cNvSpPr txBox="1"/>
          <p:nvPr/>
        </p:nvSpPr>
        <p:spPr>
          <a:xfrm>
            <a:off x="4127500" y="1976584"/>
            <a:ext cx="2260600" cy="610424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WSAStartup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초기화
</a:t>
            </a:r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socket/connect 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수행
</a:t>
            </a:r>
            <a:r>
              <a:rPr lang="ko-KR" altLang="en-US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closesocket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/</a:t>
            </a:r>
            <a:r>
              <a:rPr lang="en-US" altLang="ko-KR" sz="11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WSACleanup</a:t>
            </a:r>
            <a:r>
              <a:rPr lang="en-US" altLang="ko-KR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solidFill>
                  <a:srgbClr val="192428"/>
                </a:solidFill>
                <a:latin typeface="맑은 고딕" panose="020B0503020000020004" pitchFamily="50" charset="-127"/>
              </a:rPr>
              <a:t>정리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557390A3-4E38-B859-9635-BC4B9B7B4631}"/>
              </a:ext>
            </a:extLst>
          </p:cNvPr>
          <p:cNvSpPr/>
          <p:nvPr/>
        </p:nvSpPr>
        <p:spPr>
          <a:xfrm>
            <a:off x="6604000" y="1549400"/>
            <a:ext cx="2260600" cy="1219200"/>
          </a:xfrm>
          <a:prstGeom prst="roundRect">
            <a:avLst/>
          </a:prstGeom>
          <a:solidFill>
            <a:srgbClr val="EBF9E6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E344543-CA6C-93F4-2C6F-D7D35CE7A283}"/>
              </a:ext>
            </a:extLst>
          </p:cNvPr>
          <p:cNvSpPr/>
          <p:nvPr/>
        </p:nvSpPr>
        <p:spPr>
          <a:xfrm>
            <a:off x="6604000" y="1549400"/>
            <a:ext cx="2260600" cy="381000"/>
          </a:xfrm>
          <a:prstGeom prst="roundRect">
            <a:avLst/>
          </a:prstGeom>
          <a:solidFill>
            <a:srgbClr val="2D8430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입력 처리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1C6CA0-E53A-6D2F-D7BB-E2CA9A38F8F8}"/>
              </a:ext>
            </a:extLst>
          </p:cNvPr>
          <p:cNvSpPr txBox="1"/>
          <p:nvPr/>
        </p:nvSpPr>
        <p:spPr>
          <a:xfrm>
            <a:off x="6604000" y="1985820"/>
            <a:ext cx="22606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GetStringInput</a:t>
            </a:r>
            <a:r>
              <a:rPr lang="en-US" altLang="ko-KR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사용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GetIntInput</a:t>
            </a:r>
            <a:r>
              <a:rPr lang="en-US" altLang="ko-KR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숫자 검증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TrimNewline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으로 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개행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제거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D2F71639-95B1-A957-A849-06D2EFC55184}"/>
              </a:ext>
            </a:extLst>
          </p:cNvPr>
          <p:cNvSpPr/>
          <p:nvPr/>
        </p:nvSpPr>
        <p:spPr>
          <a:xfrm>
            <a:off x="9080500" y="1549400"/>
            <a:ext cx="2260600" cy="1219200"/>
          </a:xfrm>
          <a:prstGeom prst="roundRect">
            <a:avLst/>
          </a:prstGeom>
          <a:solidFill>
            <a:srgbClr val="EBF9E6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F56C590E-9E91-D9F0-6AED-6549A66AE70A}"/>
              </a:ext>
            </a:extLst>
          </p:cNvPr>
          <p:cNvSpPr/>
          <p:nvPr/>
        </p:nvSpPr>
        <p:spPr>
          <a:xfrm>
            <a:off x="9080500" y="1549400"/>
            <a:ext cx="2260600" cy="381000"/>
          </a:xfrm>
          <a:prstGeom prst="roundRect">
            <a:avLst/>
          </a:prstGeom>
          <a:solidFill>
            <a:srgbClr val="2D8430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인증 화면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D081E9C-A2DC-95E6-6176-6A923FB7C228}"/>
              </a:ext>
            </a:extLst>
          </p:cNvPr>
          <p:cNvSpPr txBox="1"/>
          <p:nvPr/>
        </p:nvSpPr>
        <p:spPr>
          <a:xfrm>
            <a:off x="9080500" y="1921168"/>
            <a:ext cx="2260600" cy="8412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ㆍ초기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메뉴 출력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ㆍ로그인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요청 전송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ㆍ회원가입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요청 전송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ㆍ실패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시 재입력 유도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6CF68DD3-7C7B-B9E7-DF08-CF4EAF1B94B9}"/>
              </a:ext>
            </a:extLst>
          </p:cNvPr>
          <p:cNvSpPr/>
          <p:nvPr/>
        </p:nvSpPr>
        <p:spPr>
          <a:xfrm>
            <a:off x="4127500" y="3124200"/>
            <a:ext cx="2260600" cy="137160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0B00CD1C-89B6-8C62-943F-01AB33AD536B}"/>
              </a:ext>
            </a:extLst>
          </p:cNvPr>
          <p:cNvSpPr/>
          <p:nvPr/>
        </p:nvSpPr>
        <p:spPr>
          <a:xfrm>
            <a:off x="4127500" y="3124200"/>
            <a:ext cx="2260600" cy="381000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지역 선택 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UI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EACB549-58EA-E5F7-9415-C740735F7BD2}"/>
              </a:ext>
            </a:extLst>
          </p:cNvPr>
          <p:cNvSpPr txBox="1"/>
          <p:nvPr/>
        </p:nvSpPr>
        <p:spPr>
          <a:xfrm>
            <a:off x="4127500" y="3505204"/>
            <a:ext cx="2260600" cy="102592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ㆍ시도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목록 요청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ㆍ선택한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시도의 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시군구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목록 요청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ㆍ지역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번호 </a:t>
            </a:r>
            <a:r>
              <a:rPr lang="en-US" altLang="ko-KR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payload 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구성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ㆍ범위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오류 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재선택</a:t>
            </a:r>
            <a:endParaRPr lang="ko-KR" altLang="en-US" sz="1200" dirty="0">
              <a:solidFill>
                <a:srgbClr val="19242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37BD1025-8AED-7AC7-5E3F-9FF7A8791896}"/>
              </a:ext>
            </a:extLst>
          </p:cNvPr>
          <p:cNvSpPr/>
          <p:nvPr/>
        </p:nvSpPr>
        <p:spPr>
          <a:xfrm>
            <a:off x="6604000" y="3124200"/>
            <a:ext cx="2260600" cy="137160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D1C059BA-CFD9-82AD-09EB-82FE3A45470B}"/>
              </a:ext>
            </a:extLst>
          </p:cNvPr>
          <p:cNvSpPr/>
          <p:nvPr/>
        </p:nvSpPr>
        <p:spPr>
          <a:xfrm>
            <a:off x="6604000" y="3124200"/>
            <a:ext cx="2260600" cy="381000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기능별 요청 처리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80115F9-4BF8-BEBB-8CC1-967492E7EA1A}"/>
              </a:ext>
            </a:extLst>
          </p:cNvPr>
          <p:cNvSpPr txBox="1"/>
          <p:nvPr/>
        </p:nvSpPr>
        <p:spPr>
          <a:xfrm>
            <a:off x="6604000" y="3542148"/>
            <a:ext cx="2260600" cy="8412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ㆍ범죄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발생 통계 현황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ㆍ치안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인프라 통계 현황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ㆍ실질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위험도와 가이드라인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ㆍ로그아웃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처리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D6C85E04-D8E4-2459-3AB5-D31AF8A59271}"/>
              </a:ext>
            </a:extLst>
          </p:cNvPr>
          <p:cNvSpPr/>
          <p:nvPr/>
        </p:nvSpPr>
        <p:spPr>
          <a:xfrm>
            <a:off x="9080500" y="3124200"/>
            <a:ext cx="2260600" cy="137160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676B1E2D-90B5-DDD5-06AB-1A8070CDA26A}"/>
              </a:ext>
            </a:extLst>
          </p:cNvPr>
          <p:cNvSpPr/>
          <p:nvPr/>
        </p:nvSpPr>
        <p:spPr>
          <a:xfrm>
            <a:off x="9080500" y="3124200"/>
            <a:ext cx="2260600" cy="381000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결과 출력 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화면 유지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7BD4B3-7256-341E-EE94-9925D0154889}"/>
              </a:ext>
            </a:extLst>
          </p:cNvPr>
          <p:cNvSpPr txBox="1"/>
          <p:nvPr/>
        </p:nvSpPr>
        <p:spPr>
          <a:xfrm>
            <a:off x="9080500" y="3505204"/>
            <a:ext cx="2260600" cy="102592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RequestText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로 응답 수신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RequestAndShow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로 출력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</a:t>
            </a:r>
            <a:r>
              <a:rPr lang="en-US" altLang="ko-KR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PauseScreen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으로 화면 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넘어감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방지
</a:t>
            </a:r>
            <a:r>
              <a:rPr lang="ko-KR" altLang="en-US" sz="1200" dirty="0" err="1">
                <a:solidFill>
                  <a:srgbClr val="192428"/>
                </a:solidFill>
                <a:latin typeface="맑은 고딕" panose="020B0503020000020004" pitchFamily="50" charset="-127"/>
              </a:rPr>
              <a:t>ㆍ메인</a:t>
            </a:r>
            <a:r>
              <a:rPr lang="ko-KR" altLang="en-US" sz="1200" dirty="0">
                <a:solidFill>
                  <a:srgbClr val="192428"/>
                </a:solidFill>
                <a:latin typeface="맑은 고딕" panose="020B0503020000020004" pitchFamily="50" charset="-127"/>
              </a:rPr>
              <a:t> 메뉴로 복귀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C85E96CE-1A6C-9AE9-E3E9-2003C56F3654}"/>
              </a:ext>
            </a:extLst>
          </p:cNvPr>
          <p:cNvSpPr/>
          <p:nvPr/>
        </p:nvSpPr>
        <p:spPr>
          <a:xfrm>
            <a:off x="4013200" y="4876801"/>
            <a:ext cx="7327900" cy="81280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endParaRPr lang="ko-KR" altLang="en-US" sz="10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2C7C85-ACCB-8F4B-A6C2-DCDB99F6F5F7}"/>
              </a:ext>
            </a:extLst>
          </p:cNvPr>
          <p:cNvSpPr txBox="1"/>
          <p:nvPr/>
        </p:nvSpPr>
        <p:spPr>
          <a:xfrm>
            <a:off x="4446152" y="4948383"/>
            <a:ext cx="6477000" cy="364202"/>
          </a:xfrm>
          <a:prstGeom prst="rect">
            <a:avLst/>
          </a:prstGeom>
          <a:noFill/>
        </p:spPr>
        <p:txBody>
          <a:bodyPr vert="horz" lIns="88900" tIns="50800" rIns="88900" bIns="50800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클라이언트와 서버 간 요청</a:t>
            </a:r>
            <a:r>
              <a:rPr lang="en-US" altLang="ko-KR" sz="17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7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응답 약속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9AAF76-EC29-1685-A569-9540D325B8BC}"/>
              </a:ext>
            </a:extLst>
          </p:cNvPr>
          <p:cNvSpPr txBox="1"/>
          <p:nvPr/>
        </p:nvSpPr>
        <p:spPr>
          <a:xfrm>
            <a:off x="4115952" y="5293593"/>
            <a:ext cx="7137400" cy="2718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사용자 입력 → </a:t>
            </a:r>
            <a:r>
              <a:rPr lang="en-US" altLang="ko-KR" sz="1100" b="1" dirty="0" err="1">
                <a:solidFill>
                  <a:srgbClr val="46300C"/>
                </a:solidFill>
                <a:latin typeface="맑은 고딕" panose="020B0503020000020004" pitchFamily="50" charset="-127"/>
              </a:rPr>
              <a:t>PacketType</a:t>
            </a:r>
            <a:r>
              <a:rPr lang="en-US" altLang="ko-KR" sz="11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 + payload </a:t>
            </a:r>
            <a:r>
              <a:rPr lang="ko-KR" altLang="en-US" sz="11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생성 → 서버 요청 → 응답 텍스트 출력 → </a:t>
            </a:r>
            <a:r>
              <a:rPr lang="en-US" altLang="ko-KR" sz="11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Enter </a:t>
            </a:r>
            <a:r>
              <a:rPr lang="ko-KR" altLang="en-US" sz="11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대기 → 다음 메뉴</a:t>
            </a:r>
          </a:p>
        </p:txBody>
      </p:sp>
    </p:spTree>
    <p:extLst>
      <p:ext uri="{BB962C8B-B14F-4D97-AF65-F5344CB8AC3E}">
        <p14:creationId xmlns:p14="http://schemas.microsoft.com/office/powerpoint/2010/main" val="1485784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DD57877-7F51-27BD-9D03-2867B9EDE3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8FCFC"/>
          </a:solidFill>
          <a:ln w="1524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240" cap="flat" cmpd="sng" algn="ctr">
                <a:solidFill>
                  <a:srgbClr val="F8FC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7B98A2-9CF4-DB9D-1AD2-5754718D04F7}"/>
              </a:ext>
            </a:extLst>
          </p:cNvPr>
          <p:cNvSpPr/>
          <p:nvPr/>
        </p:nvSpPr>
        <p:spPr>
          <a:xfrm>
            <a:off x="0" y="0"/>
            <a:ext cx="228600" cy="965200"/>
          </a:xfrm>
          <a:prstGeom prst="rect">
            <a:avLst/>
          </a:prstGeom>
          <a:solidFill>
            <a:srgbClr val="0C5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71316-597F-4D08-2A7E-029A1F438C51}"/>
              </a:ext>
            </a:extLst>
          </p:cNvPr>
          <p:cNvSpPr txBox="1"/>
          <p:nvPr/>
        </p:nvSpPr>
        <p:spPr>
          <a:xfrm>
            <a:off x="444500" y="190500"/>
            <a:ext cx="10477500" cy="446276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2-1. Common.h </a:t>
            </a:r>
            <a:r>
              <a:rPr lang="ko-KR" altLang="en-US" sz="2300" b="1">
                <a:solidFill>
                  <a:srgbClr val="000000"/>
                </a:solidFill>
                <a:latin typeface="맑은 고딕" panose="020B0503020000020004" pitchFamily="50" charset="-127"/>
              </a:rPr>
              <a:t>공통 메시지 타입 및 통신 프로토콜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3FC119-29BD-D972-06EC-5E671C4FD6A7}"/>
              </a:ext>
            </a:extLst>
          </p:cNvPr>
          <p:cNvCxnSpPr/>
          <p:nvPr/>
        </p:nvCxnSpPr>
        <p:spPr>
          <a:xfrm>
            <a:off x="444500" y="774700"/>
            <a:ext cx="9207500" cy="0"/>
          </a:xfrm>
          <a:prstGeom prst="line">
            <a:avLst/>
          </a:prstGeom>
          <a:ln w="19050">
            <a:solidFill>
              <a:srgbClr val="234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A777393-2B92-24BB-CC88-2FEAAE566011}"/>
              </a:ext>
            </a:extLst>
          </p:cNvPr>
          <p:cNvSpPr txBox="1"/>
          <p:nvPr/>
        </p:nvSpPr>
        <p:spPr>
          <a:xfrm>
            <a:off x="9486900" y="317500"/>
            <a:ext cx="2095500" cy="2185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ko-KR" altLang="en-US" sz="920" b="1">
                <a:solidFill>
                  <a:srgbClr val="0A4652"/>
                </a:solidFill>
                <a:latin typeface="맑은 고딕" panose="020B0503020000020004" pitchFamily="50" charset="-127"/>
              </a:rPr>
              <a:t>공유 헤더 파일</a:t>
            </a:r>
            <a:r>
              <a:rPr lang="en-US" altLang="ko-KR" sz="920" b="1">
                <a:solidFill>
                  <a:srgbClr val="0A4652"/>
                </a:solidFill>
                <a:latin typeface="맑은 고딕" panose="020B0503020000020004" pitchFamily="50" charset="-127"/>
              </a:rPr>
              <a:t>: Common.h</a:t>
            </a:r>
            <a:endParaRPr lang="ko-KR" altLang="en-US" sz="920" b="1">
              <a:solidFill>
                <a:srgbClr val="0A465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0F0FD15-B715-9D3A-8D81-C42DA3726985}"/>
              </a:ext>
            </a:extLst>
          </p:cNvPr>
          <p:cNvSpPr/>
          <p:nvPr/>
        </p:nvSpPr>
        <p:spPr>
          <a:xfrm>
            <a:off x="685800" y="1193800"/>
            <a:ext cx="1955800" cy="889000"/>
          </a:xfrm>
          <a:prstGeom prst="roundRect">
            <a:avLst/>
          </a:prstGeom>
          <a:solidFill>
            <a:srgbClr val="EBF9E6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1300" b="1">
                <a:solidFill>
                  <a:srgbClr val="124C1A"/>
                </a:solidFill>
                <a:latin typeface="맑은 고딕" panose="020B0503020000020004" pitchFamily="50" charset="-127"/>
              </a:rPr>
              <a:t>Client.c
</a:t>
            </a:r>
            <a:r>
              <a:rPr lang="ko-KR" altLang="en-US" sz="1300" b="1">
                <a:solidFill>
                  <a:srgbClr val="124C1A"/>
                </a:solidFill>
                <a:latin typeface="맑은 고딕" panose="020B0503020000020004" pitchFamily="50" charset="-127"/>
              </a:rPr>
              <a:t>사용자 입력</a:t>
            </a:r>
            <a:r>
              <a:rPr lang="en-US" altLang="ko-KR" sz="1300" b="1">
                <a:solidFill>
                  <a:srgbClr val="124C1A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300" b="1">
                <a:solidFill>
                  <a:srgbClr val="124C1A"/>
                </a:solidFill>
                <a:latin typeface="맑은 고딕" panose="020B0503020000020004" pitchFamily="50" charset="-127"/>
              </a:rPr>
              <a:t>메뉴 선택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A2D772-D81D-4F24-3D26-A6ABBE8A6B3A}"/>
              </a:ext>
            </a:extLst>
          </p:cNvPr>
          <p:cNvSpPr/>
          <p:nvPr/>
        </p:nvSpPr>
        <p:spPr>
          <a:xfrm>
            <a:off x="5130800" y="1117600"/>
            <a:ext cx="1930400" cy="1041400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1500" b="1" dirty="0" err="1">
                <a:solidFill>
                  <a:srgbClr val="FFFFFF"/>
                </a:solidFill>
                <a:latin typeface="맑은 고딕" panose="020B0503020000020004" pitchFamily="50" charset="-127"/>
              </a:rPr>
              <a:t>Common.h</a:t>
            </a:r>
            <a:r>
              <a:rPr lang="en-US" altLang="ko-KR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
</a:t>
            </a:r>
            <a:r>
              <a:rPr lang="ko-KR" altLang="en-US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패킷 약속 공유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ECD6CE5-55A9-6C81-AEBA-1758FEF8F00A}"/>
              </a:ext>
            </a:extLst>
          </p:cNvPr>
          <p:cNvSpPr/>
          <p:nvPr/>
        </p:nvSpPr>
        <p:spPr>
          <a:xfrm>
            <a:off x="9525000" y="1193800"/>
            <a:ext cx="1955800" cy="88900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1300" b="1">
                <a:solidFill>
                  <a:srgbClr val="0A4652"/>
                </a:solidFill>
                <a:latin typeface="맑은 고딕" panose="020B0503020000020004" pitchFamily="50" charset="-127"/>
              </a:rPr>
              <a:t>Server.c
</a:t>
            </a:r>
            <a:r>
              <a:rPr lang="ko-KR" altLang="en-US" sz="1300" b="1">
                <a:solidFill>
                  <a:srgbClr val="0A4652"/>
                </a:solidFill>
                <a:latin typeface="맑은 고딕" panose="020B0503020000020004" pitchFamily="50" charset="-127"/>
              </a:rPr>
              <a:t>요청 분석</a:t>
            </a:r>
            <a:r>
              <a:rPr lang="en-US" altLang="ko-KR" sz="1300" b="1">
                <a:solidFill>
                  <a:srgbClr val="0A465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300" b="1">
                <a:solidFill>
                  <a:srgbClr val="0A4652"/>
                </a:solidFill>
                <a:latin typeface="맑은 고딕" panose="020B0503020000020004" pitchFamily="50" charset="-127"/>
              </a:rPr>
              <a:t>응답 생성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0B86652-338B-54C5-CC90-C1AE5D980940}"/>
              </a:ext>
            </a:extLst>
          </p:cNvPr>
          <p:cNvCxnSpPr/>
          <p:nvPr/>
        </p:nvCxnSpPr>
        <p:spPr>
          <a:xfrm>
            <a:off x="2667000" y="1625600"/>
            <a:ext cx="2374900" cy="0"/>
          </a:xfrm>
          <a:prstGeom prst="straightConnector1">
            <a:avLst/>
          </a:prstGeom>
          <a:ln w="27940">
            <a:solidFill>
              <a:srgbClr val="14586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BE19EBB-4A81-4F66-6E9F-A765F17C969B}"/>
              </a:ext>
            </a:extLst>
          </p:cNvPr>
          <p:cNvCxnSpPr/>
          <p:nvPr/>
        </p:nvCxnSpPr>
        <p:spPr>
          <a:xfrm>
            <a:off x="7073900" y="1625600"/>
            <a:ext cx="2400300" cy="0"/>
          </a:xfrm>
          <a:prstGeom prst="straightConnector1">
            <a:avLst/>
          </a:prstGeom>
          <a:ln w="27940">
            <a:solidFill>
              <a:srgbClr val="14586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DE62215-5703-ECD3-B86F-350921A916CD}"/>
              </a:ext>
            </a:extLst>
          </p:cNvPr>
          <p:cNvCxnSpPr/>
          <p:nvPr/>
        </p:nvCxnSpPr>
        <p:spPr>
          <a:xfrm flipH="1">
            <a:off x="7073900" y="1917700"/>
            <a:ext cx="2400300" cy="0"/>
          </a:xfrm>
          <a:prstGeom prst="straightConnector1">
            <a:avLst/>
          </a:prstGeom>
          <a:ln w="24130">
            <a:solidFill>
              <a:srgbClr val="4A702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8B2ACDC-B997-BCE3-2CEB-78FC21BF9839}"/>
              </a:ext>
            </a:extLst>
          </p:cNvPr>
          <p:cNvCxnSpPr/>
          <p:nvPr/>
        </p:nvCxnSpPr>
        <p:spPr>
          <a:xfrm flipH="1">
            <a:off x="2667000" y="1917700"/>
            <a:ext cx="2374900" cy="0"/>
          </a:xfrm>
          <a:prstGeom prst="straightConnector1">
            <a:avLst/>
          </a:prstGeom>
          <a:ln w="24130">
            <a:solidFill>
              <a:srgbClr val="4A702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BEF5FDE-AB2D-191F-4AAB-1344FA16E7D4}"/>
              </a:ext>
            </a:extLst>
          </p:cNvPr>
          <p:cNvSpPr txBox="1"/>
          <p:nvPr/>
        </p:nvSpPr>
        <p:spPr>
          <a:xfrm>
            <a:off x="3340100" y="1295400"/>
            <a:ext cx="1117600" cy="20313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ko-KR" altLang="en-US" sz="820" b="1" dirty="0">
                <a:solidFill>
                  <a:srgbClr val="145867"/>
                </a:solidFill>
                <a:latin typeface="맑은 고딕" panose="020B0503020000020004" pitchFamily="50" charset="-127"/>
              </a:rPr>
              <a:t>요청 전송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435231-18B2-9B30-A133-AB0359CD41AB}"/>
              </a:ext>
            </a:extLst>
          </p:cNvPr>
          <p:cNvSpPr txBox="1"/>
          <p:nvPr/>
        </p:nvSpPr>
        <p:spPr>
          <a:xfrm>
            <a:off x="7747000" y="1295400"/>
            <a:ext cx="1117600" cy="20313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ko-KR" altLang="en-US" sz="820" b="1" dirty="0">
                <a:solidFill>
                  <a:srgbClr val="145867"/>
                </a:solidFill>
                <a:latin typeface="맑은 고딕" panose="020B0503020000020004" pitchFamily="50" charset="-127"/>
              </a:rPr>
              <a:t>요청 수신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4C059E-2A4D-7FBE-2F96-897B58789EBA}"/>
              </a:ext>
            </a:extLst>
          </p:cNvPr>
          <p:cNvSpPr txBox="1"/>
          <p:nvPr/>
        </p:nvSpPr>
        <p:spPr>
          <a:xfrm>
            <a:off x="7747000" y="1981200"/>
            <a:ext cx="1117600" cy="20313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ko-KR" altLang="en-US" sz="820" b="1">
                <a:solidFill>
                  <a:srgbClr val="4A7024"/>
                </a:solidFill>
                <a:latin typeface="맑은 고딕" panose="020B0503020000020004" pitchFamily="50" charset="-127"/>
              </a:rPr>
              <a:t>응답 반환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4FE70C-8FF5-F859-2B3B-052820E0092C}"/>
              </a:ext>
            </a:extLst>
          </p:cNvPr>
          <p:cNvSpPr txBox="1"/>
          <p:nvPr/>
        </p:nvSpPr>
        <p:spPr>
          <a:xfrm>
            <a:off x="3340100" y="1981200"/>
            <a:ext cx="1117600" cy="20313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ko-KR" altLang="en-US" sz="820" b="1">
                <a:solidFill>
                  <a:srgbClr val="4A7024"/>
                </a:solidFill>
                <a:latin typeface="맑은 고딕" panose="020B0503020000020004" pitchFamily="50" charset="-127"/>
              </a:rPr>
              <a:t>결과 출력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82B6BEB-1082-C05C-1A26-4477084BF1D7}"/>
              </a:ext>
            </a:extLst>
          </p:cNvPr>
          <p:cNvSpPr/>
          <p:nvPr/>
        </p:nvSpPr>
        <p:spPr>
          <a:xfrm>
            <a:off x="3530600" y="2387600"/>
            <a:ext cx="5143500" cy="106680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88FC93-F30B-A3E4-F1F0-2E5F247181EF}"/>
              </a:ext>
            </a:extLst>
          </p:cNvPr>
          <p:cNvSpPr txBox="1"/>
          <p:nvPr/>
        </p:nvSpPr>
        <p:spPr>
          <a:xfrm>
            <a:off x="3708400" y="2527300"/>
            <a:ext cx="1524000" cy="2646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ko-KR" sz="1220" b="1">
                <a:solidFill>
                  <a:srgbClr val="46300C"/>
                </a:solidFill>
                <a:latin typeface="맑은 고딕" panose="020B0503020000020004" pitchFamily="50" charset="-127"/>
              </a:rPr>
              <a:t>PacketHeader</a:t>
            </a:r>
            <a:endParaRPr lang="ko-KR" altLang="en-US" sz="1220" b="1">
              <a:solidFill>
                <a:srgbClr val="46300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7BAE3E3-1460-7156-6564-38FD3C304E2C}"/>
              </a:ext>
            </a:extLst>
          </p:cNvPr>
          <p:cNvSpPr/>
          <p:nvPr/>
        </p:nvSpPr>
        <p:spPr>
          <a:xfrm>
            <a:off x="5384800" y="2540000"/>
            <a:ext cx="1422400" cy="457200"/>
          </a:xfrm>
          <a:prstGeom prst="roundRect">
            <a:avLst/>
          </a:prstGeom>
          <a:solidFill>
            <a:srgbClr val="FFFFF5"/>
          </a:solidFill>
          <a:ln w="1524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20" b="1">
                <a:solidFill>
                  <a:srgbClr val="46300C"/>
                </a:solidFill>
                <a:latin typeface="맑은 고딕" panose="020B0503020000020004" pitchFamily="50" charset="-127"/>
              </a:rPr>
              <a:t>type
PacketType</a:t>
            </a:r>
            <a:endParaRPr lang="ko-KR" altLang="en-US" sz="920" b="1">
              <a:solidFill>
                <a:srgbClr val="46300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AD4A702-B393-ECF5-FF79-CEBA1DA6F30E}"/>
              </a:ext>
            </a:extLst>
          </p:cNvPr>
          <p:cNvSpPr/>
          <p:nvPr/>
        </p:nvSpPr>
        <p:spPr>
          <a:xfrm>
            <a:off x="6908800" y="2540000"/>
            <a:ext cx="1422400" cy="457200"/>
          </a:xfrm>
          <a:prstGeom prst="roundRect">
            <a:avLst/>
          </a:prstGeom>
          <a:solidFill>
            <a:srgbClr val="FFFFF5"/>
          </a:solidFill>
          <a:ln w="1524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20" b="1">
                <a:solidFill>
                  <a:srgbClr val="46300C"/>
                </a:solidFill>
                <a:latin typeface="맑은 고딕" panose="020B0503020000020004" pitchFamily="50" charset="-127"/>
              </a:rPr>
              <a:t>payload_len
</a:t>
            </a:r>
            <a:r>
              <a:rPr lang="ko-KR" altLang="en-US" sz="920" b="1">
                <a:solidFill>
                  <a:srgbClr val="46300C"/>
                </a:solidFill>
                <a:latin typeface="맑은 고딕" panose="020B0503020000020004" pitchFamily="50" charset="-127"/>
              </a:rPr>
              <a:t>문자열 길이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1EDA47-F64D-B83E-C5D6-7C806FEBA33B}"/>
              </a:ext>
            </a:extLst>
          </p:cNvPr>
          <p:cNvSpPr txBox="1"/>
          <p:nvPr/>
        </p:nvSpPr>
        <p:spPr>
          <a:xfrm>
            <a:off x="3898900" y="3073400"/>
            <a:ext cx="4229100" cy="212366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ko-KR" sz="880" b="1">
                <a:solidFill>
                  <a:srgbClr val="46300C"/>
                </a:solidFill>
                <a:latin typeface="맑은 고딕" panose="020B0503020000020004" pitchFamily="50" charset="-127"/>
              </a:rPr>
              <a:t>Payload </a:t>
            </a:r>
            <a:r>
              <a:rPr lang="ko-KR" altLang="en-US" sz="880" b="1">
                <a:solidFill>
                  <a:srgbClr val="46300C"/>
                </a:solidFill>
                <a:latin typeface="맑은 고딕" panose="020B0503020000020004" pitchFamily="50" charset="-127"/>
              </a:rPr>
              <a:t>규칙</a:t>
            </a:r>
            <a:r>
              <a:rPr lang="en-US" altLang="ko-KR" sz="880" b="1">
                <a:solidFill>
                  <a:srgbClr val="46300C"/>
                </a:solidFill>
                <a:latin typeface="맑은 고딕" panose="020B0503020000020004" pitchFamily="50" charset="-127"/>
              </a:rPr>
              <a:t>: UTF-8 </a:t>
            </a:r>
            <a:r>
              <a:rPr lang="ko-KR" altLang="en-US" sz="880" b="1">
                <a:solidFill>
                  <a:srgbClr val="46300C"/>
                </a:solidFill>
                <a:latin typeface="맑은 고딕" panose="020B0503020000020004" pitchFamily="50" charset="-127"/>
              </a:rPr>
              <a:t>문자열</a:t>
            </a:r>
            <a:r>
              <a:rPr lang="en-US" altLang="ko-KR" sz="880" b="1">
                <a:solidFill>
                  <a:srgbClr val="46300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80" b="1">
                <a:solidFill>
                  <a:srgbClr val="46300C"/>
                </a:solidFill>
                <a:latin typeface="맑은 고딕" panose="020B0503020000020004" pitchFamily="50" charset="-127"/>
              </a:rPr>
              <a:t>여러 값은 </a:t>
            </a:r>
            <a:r>
              <a:rPr lang="en-US" altLang="ko-KR" sz="880" b="1">
                <a:solidFill>
                  <a:srgbClr val="46300C"/>
                </a:solidFill>
                <a:latin typeface="맑은 고딕" panose="020B0503020000020004" pitchFamily="50" charset="-127"/>
              </a:rPr>
              <a:t>TAB</a:t>
            </a:r>
            <a:r>
              <a:rPr lang="ko-KR" altLang="en-US" sz="880" b="1">
                <a:solidFill>
                  <a:srgbClr val="46300C"/>
                </a:solidFill>
                <a:latin typeface="맑은 고딕" panose="020B0503020000020004" pitchFamily="50" charset="-127"/>
              </a:rPr>
              <a:t>으로 구분한다</a:t>
            </a:r>
            <a:r>
              <a:rPr lang="en-US" altLang="ko-KR" sz="880" b="1">
                <a:solidFill>
                  <a:srgbClr val="46300C"/>
                </a:solidFill>
                <a:latin typeface="맑은 고딕" panose="020B0503020000020004" pitchFamily="50" charset="-127"/>
              </a:rPr>
              <a:t>.</a:t>
            </a:r>
            <a:endParaRPr lang="ko-KR" altLang="en-US" sz="880" b="1">
              <a:solidFill>
                <a:srgbClr val="46300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411633C-526A-5B5D-A39D-F876FA9FA024}"/>
              </a:ext>
            </a:extLst>
          </p:cNvPr>
          <p:cNvSpPr/>
          <p:nvPr/>
        </p:nvSpPr>
        <p:spPr>
          <a:xfrm>
            <a:off x="571500" y="2489200"/>
            <a:ext cx="2590800" cy="1295400"/>
          </a:xfrm>
          <a:prstGeom prst="roundRect">
            <a:avLst/>
          </a:prstGeom>
          <a:solidFill>
            <a:srgbClr val="EBF9E6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8B7AEA2-1FFC-737F-15EE-2D87F66FEC06}"/>
              </a:ext>
            </a:extLst>
          </p:cNvPr>
          <p:cNvSpPr/>
          <p:nvPr/>
        </p:nvSpPr>
        <p:spPr>
          <a:xfrm>
            <a:off x="571500" y="2489200"/>
            <a:ext cx="2590800" cy="317500"/>
          </a:xfrm>
          <a:prstGeom prst="roundRect">
            <a:avLst/>
          </a:prstGeom>
          <a:solidFill>
            <a:srgbClr val="2D8430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맑은 고딕" panose="020B0503020000020004" pitchFamily="50" charset="-127"/>
              </a:rPr>
              <a:t>인증</a:t>
            </a:r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50" b="1">
                <a:solidFill>
                  <a:srgbClr val="FFFFFF"/>
                </a:solidFill>
                <a:latin typeface="맑은 고딕" panose="020B0503020000020004" pitchFamily="50" charset="-127"/>
              </a:rPr>
              <a:t>계정 메시지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AE7A02-5DF9-B40F-C9F8-E6DB919446C4}"/>
              </a:ext>
            </a:extLst>
          </p:cNvPr>
          <p:cNvSpPr txBox="1"/>
          <p:nvPr/>
        </p:nvSpPr>
        <p:spPr>
          <a:xfrm>
            <a:off x="660400" y="2882900"/>
            <a:ext cx="2413000" cy="566309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770">
                <a:solidFill>
                  <a:srgbClr val="182428"/>
                </a:solidFill>
                <a:latin typeface="맑은 고딕" panose="020B0503020000020004" pitchFamily="50" charset="-127"/>
              </a:rPr>
              <a:t>PKT_LOGIN_REQ     : id, pw
PKT_LOGIN_RES     : 1 </a:t>
            </a:r>
            <a:r>
              <a:rPr lang="ko-KR" altLang="en-US" sz="770">
                <a:solidFill>
                  <a:srgbClr val="182428"/>
                </a:solidFill>
                <a:latin typeface="맑은 고딕" panose="020B0503020000020004" pitchFamily="50" charset="-127"/>
              </a:rPr>
              <a:t>또는 </a:t>
            </a:r>
            <a:r>
              <a:rPr lang="en-US" altLang="ko-KR" sz="770">
                <a:solidFill>
                  <a:srgbClr val="182428"/>
                </a:solidFill>
                <a:latin typeface="맑은 고딕" panose="020B0503020000020004" pitchFamily="50" charset="-127"/>
              </a:rPr>
              <a:t>0
PKT_REGISTER_REQ  : id, pw, age, region
</a:t>
            </a:r>
            <a:r>
              <a:rPr lang="ko-KR" altLang="en-US" sz="770">
                <a:solidFill>
                  <a:srgbClr val="182428"/>
                </a:solidFill>
                <a:latin typeface="맑은 고딕" panose="020B0503020000020004" pitchFamily="50" charset="-127"/>
              </a:rPr>
              <a:t>값 사이는 </a:t>
            </a:r>
            <a:r>
              <a:rPr lang="en-US" altLang="ko-KR" sz="770">
                <a:solidFill>
                  <a:srgbClr val="182428"/>
                </a:solidFill>
                <a:latin typeface="맑은 고딕" panose="020B0503020000020004" pitchFamily="50" charset="-127"/>
              </a:rPr>
              <a:t>TAB</a:t>
            </a:r>
            <a:r>
              <a:rPr lang="ko-KR" altLang="en-US" sz="770">
                <a:solidFill>
                  <a:srgbClr val="182428"/>
                </a:solidFill>
                <a:latin typeface="맑은 고딕" panose="020B0503020000020004" pitchFamily="50" charset="-127"/>
              </a:rPr>
              <a:t>으로 구분한다</a:t>
            </a:r>
            <a:r>
              <a:rPr lang="en-US" altLang="ko-KR" sz="770">
                <a:solidFill>
                  <a:srgbClr val="182428"/>
                </a:solidFill>
                <a:latin typeface="맑은 고딕" panose="020B0503020000020004" pitchFamily="50" charset="-127"/>
              </a:rPr>
              <a:t>.</a:t>
            </a:r>
            <a:endParaRPr lang="ko-KR" altLang="en-US" sz="770">
              <a:solidFill>
                <a:srgbClr val="18242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6164249-3B10-AB31-1F4E-DBC5A52EB385}"/>
              </a:ext>
            </a:extLst>
          </p:cNvPr>
          <p:cNvSpPr/>
          <p:nvPr/>
        </p:nvSpPr>
        <p:spPr>
          <a:xfrm>
            <a:off x="571500" y="3987800"/>
            <a:ext cx="2590800" cy="1092200"/>
          </a:xfrm>
          <a:prstGeom prst="roundRect">
            <a:avLst/>
          </a:prstGeom>
          <a:solidFill>
            <a:srgbClr val="EBF9E6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61F83DD-3A90-1D7E-D2D6-18C84EA503C5}"/>
              </a:ext>
            </a:extLst>
          </p:cNvPr>
          <p:cNvSpPr/>
          <p:nvPr/>
        </p:nvSpPr>
        <p:spPr>
          <a:xfrm>
            <a:off x="571500" y="3987800"/>
            <a:ext cx="2590800" cy="317500"/>
          </a:xfrm>
          <a:prstGeom prst="roundRect">
            <a:avLst/>
          </a:prstGeom>
          <a:solidFill>
            <a:srgbClr val="2D8430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맑은 고딕" panose="020B0503020000020004" pitchFamily="50" charset="-127"/>
              </a:rPr>
              <a:t>지역 목록 메시지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C556E5-DADD-F8BB-85A0-FACF6B2ECEF8}"/>
              </a:ext>
            </a:extLst>
          </p:cNvPr>
          <p:cNvSpPr txBox="1"/>
          <p:nvPr/>
        </p:nvSpPr>
        <p:spPr>
          <a:xfrm>
            <a:off x="660400" y="4381500"/>
            <a:ext cx="2413000" cy="4616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800">
                <a:solidFill>
                  <a:srgbClr val="182428"/>
                </a:solidFill>
                <a:latin typeface="맑은 고딕" panose="020B0503020000020004" pitchFamily="50" charset="-127"/>
              </a:rPr>
              <a:t>PKT_REQ_PROVINCE_LIST : </a:t>
            </a:r>
            <a:r>
              <a:rPr lang="ko-KR" altLang="en-US" sz="800">
                <a:solidFill>
                  <a:srgbClr val="182428"/>
                </a:solidFill>
                <a:latin typeface="맑은 고딕" panose="020B0503020000020004" pitchFamily="50" charset="-127"/>
              </a:rPr>
              <a:t>빈 </a:t>
            </a:r>
            <a:r>
              <a:rPr lang="en-US" altLang="ko-KR" sz="800">
                <a:solidFill>
                  <a:srgbClr val="182428"/>
                </a:solidFill>
                <a:latin typeface="맑은 고딕" panose="020B0503020000020004" pitchFamily="50" charset="-127"/>
              </a:rPr>
              <a:t>payload
PKT_REQ_CITY_LIST     : provinceIndex
</a:t>
            </a:r>
            <a:r>
              <a:rPr lang="ko-KR" altLang="en-US" sz="800">
                <a:solidFill>
                  <a:srgbClr val="182428"/>
                </a:solidFill>
                <a:latin typeface="맑은 고딕" panose="020B0503020000020004" pitchFamily="50" charset="-127"/>
              </a:rPr>
              <a:t>서버 응답은 목록 텍스트로 전송한다</a:t>
            </a:r>
            <a:r>
              <a:rPr lang="en-US" altLang="ko-KR" sz="800">
                <a:solidFill>
                  <a:srgbClr val="182428"/>
                </a:solidFill>
                <a:latin typeface="맑은 고딕" panose="020B0503020000020004" pitchFamily="50" charset="-127"/>
              </a:rPr>
              <a:t>.</a:t>
            </a:r>
            <a:endParaRPr lang="ko-KR" altLang="en-US" sz="800">
              <a:solidFill>
                <a:srgbClr val="18242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6C191E1-E7B3-9841-685C-61C0C3721699}"/>
              </a:ext>
            </a:extLst>
          </p:cNvPr>
          <p:cNvSpPr/>
          <p:nvPr/>
        </p:nvSpPr>
        <p:spPr>
          <a:xfrm>
            <a:off x="9029700" y="2489200"/>
            <a:ext cx="2590800" cy="147320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AFADF06-4EBD-88B2-FA1E-468188CCD630}"/>
              </a:ext>
            </a:extLst>
          </p:cNvPr>
          <p:cNvSpPr/>
          <p:nvPr/>
        </p:nvSpPr>
        <p:spPr>
          <a:xfrm>
            <a:off x="9029700" y="2489200"/>
            <a:ext cx="2590800" cy="317500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맑은 고딕" panose="020B0503020000020004" pitchFamily="50" charset="-127"/>
              </a:rPr>
              <a:t>기능 요청 메시지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BA139C-2A3B-3310-229C-E0D560E2D95E}"/>
              </a:ext>
            </a:extLst>
          </p:cNvPr>
          <p:cNvSpPr txBox="1"/>
          <p:nvPr/>
        </p:nvSpPr>
        <p:spPr>
          <a:xfrm>
            <a:off x="9118600" y="2882900"/>
            <a:ext cx="2413000" cy="74789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710">
                <a:solidFill>
                  <a:srgbClr val="182428"/>
                </a:solidFill>
                <a:latin typeface="맑은 고딕" panose="020B0503020000020004" pitchFamily="50" charset="-127"/>
              </a:rPr>
              <a:t>PKT_REQ_01_CRIME_TOP3 / 02_SAFETY_GRADE
  → </a:t>
            </a:r>
            <a:r>
              <a:rPr lang="ko-KR" altLang="en-US" sz="710">
                <a:solidFill>
                  <a:srgbClr val="182428"/>
                </a:solidFill>
                <a:latin typeface="맑은 고딕" panose="020B0503020000020004" pitchFamily="50" charset="-127"/>
              </a:rPr>
              <a:t>범죄 발생 통계와 안전 등급
</a:t>
            </a:r>
            <a:r>
              <a:rPr lang="en-US" altLang="ko-KR" sz="710">
                <a:solidFill>
                  <a:srgbClr val="182428"/>
                </a:solidFill>
                <a:latin typeface="맑은 고딕" panose="020B0503020000020004" pitchFamily="50" charset="-127"/>
              </a:rPr>
              <a:t>PKT_REQ_03_POLICE_COUNT / 04_SECURITY_IDX
  → </a:t>
            </a:r>
            <a:r>
              <a:rPr lang="ko-KR" altLang="en-US" sz="710">
                <a:solidFill>
                  <a:srgbClr val="182428"/>
                </a:solidFill>
                <a:latin typeface="맑은 고딕" panose="020B0503020000020004" pitchFamily="50" charset="-127"/>
              </a:rPr>
              <a:t>치안 인프라와 대응력 지수
</a:t>
            </a:r>
            <a:r>
              <a:rPr lang="en-US" altLang="ko-KR" sz="710">
                <a:solidFill>
                  <a:srgbClr val="182428"/>
                </a:solidFill>
                <a:latin typeface="맑은 고딕" panose="020B0503020000020004" pitchFamily="50" charset="-127"/>
              </a:rPr>
              <a:t>PKT_REQ_05_REAL_RISK / 06_GUIDELINE
  → </a:t>
            </a:r>
            <a:r>
              <a:rPr lang="ko-KR" altLang="en-US" sz="710">
                <a:solidFill>
                  <a:srgbClr val="182428"/>
                </a:solidFill>
                <a:latin typeface="맑은 고딕" panose="020B0503020000020004" pitchFamily="50" charset="-127"/>
              </a:rPr>
              <a:t>실질 위험도와 맞춤형 가이드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81C34B7-FA74-DDF6-6D98-F3B3D4B4D3A2}"/>
              </a:ext>
            </a:extLst>
          </p:cNvPr>
          <p:cNvSpPr/>
          <p:nvPr/>
        </p:nvSpPr>
        <p:spPr>
          <a:xfrm>
            <a:off x="9029700" y="4152900"/>
            <a:ext cx="2590800" cy="92710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06532B8-BCDF-A144-C2D0-8F928AD0789F}"/>
              </a:ext>
            </a:extLst>
          </p:cNvPr>
          <p:cNvSpPr/>
          <p:nvPr/>
        </p:nvSpPr>
        <p:spPr>
          <a:xfrm>
            <a:off x="9029700" y="4152900"/>
            <a:ext cx="2590800" cy="317500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맑은 고딕" panose="020B0503020000020004" pitchFamily="50" charset="-127"/>
              </a:rPr>
              <a:t>응답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CC6539-B0A0-E9A5-07BD-1EDB9CD89ED9}"/>
              </a:ext>
            </a:extLst>
          </p:cNvPr>
          <p:cNvSpPr txBox="1"/>
          <p:nvPr/>
        </p:nvSpPr>
        <p:spPr>
          <a:xfrm>
            <a:off x="9118600" y="4546600"/>
            <a:ext cx="2413000" cy="4524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780">
                <a:solidFill>
                  <a:srgbClr val="182428"/>
                </a:solidFill>
                <a:latin typeface="맑은 고딕" panose="020B0503020000020004" pitchFamily="50" charset="-127"/>
              </a:rPr>
              <a:t>PKT_RES_TEXT  : </a:t>
            </a:r>
            <a:r>
              <a:rPr lang="ko-KR" altLang="en-US" sz="780">
                <a:solidFill>
                  <a:srgbClr val="182428"/>
                </a:solidFill>
                <a:latin typeface="맑은 고딕" panose="020B0503020000020004" pitchFamily="50" charset="-127"/>
              </a:rPr>
              <a:t>정상 결과 문자열
</a:t>
            </a:r>
            <a:r>
              <a:rPr lang="en-US" altLang="ko-KR" sz="780">
                <a:solidFill>
                  <a:srgbClr val="182428"/>
                </a:solidFill>
                <a:latin typeface="맑은 고딕" panose="020B0503020000020004" pitchFamily="50" charset="-127"/>
              </a:rPr>
              <a:t>PKT_ERROR_RES : </a:t>
            </a:r>
            <a:r>
              <a:rPr lang="ko-KR" altLang="en-US" sz="780">
                <a:solidFill>
                  <a:srgbClr val="182428"/>
                </a:solidFill>
                <a:latin typeface="맑은 고딕" panose="020B0503020000020004" pitchFamily="50" charset="-127"/>
              </a:rPr>
              <a:t>오류 안내 문자열
클라이언트는 수신 후 화면에 출력한다</a:t>
            </a:r>
            <a:r>
              <a:rPr lang="en-US" altLang="ko-KR" sz="780">
                <a:solidFill>
                  <a:srgbClr val="182428"/>
                </a:solidFill>
                <a:latin typeface="맑은 고딕" panose="020B0503020000020004" pitchFamily="50" charset="-127"/>
              </a:rPr>
              <a:t>.</a:t>
            </a:r>
            <a:endParaRPr lang="ko-KR" altLang="en-US" sz="780">
              <a:solidFill>
                <a:srgbClr val="18242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025931-32FE-D6D7-9167-740F19AE36A0}"/>
              </a:ext>
            </a:extLst>
          </p:cNvPr>
          <p:cNvSpPr txBox="1"/>
          <p:nvPr/>
        </p:nvSpPr>
        <p:spPr>
          <a:xfrm>
            <a:off x="4775200" y="3733800"/>
            <a:ext cx="2603500" cy="28469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ko-KR" altLang="en-US" sz="1350" b="1" dirty="0">
                <a:solidFill>
                  <a:srgbClr val="0A4652"/>
                </a:solidFill>
                <a:latin typeface="맑은 고딕" panose="020B0503020000020004" pitchFamily="50" charset="-127"/>
              </a:rPr>
              <a:t>공통 통신 함수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ACC6FC2-733F-D243-A55E-0AE034F865E0}"/>
              </a:ext>
            </a:extLst>
          </p:cNvPr>
          <p:cNvSpPr/>
          <p:nvPr/>
        </p:nvSpPr>
        <p:spPr>
          <a:xfrm>
            <a:off x="3657600" y="4127500"/>
            <a:ext cx="2159000" cy="1092200"/>
          </a:xfrm>
          <a:prstGeom prst="roundRect">
            <a:avLst/>
          </a:prstGeom>
          <a:solidFill>
            <a:srgbClr val="EFF9E8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F0A2F01-4412-FE94-116C-C3DF65FD203D}"/>
              </a:ext>
            </a:extLst>
          </p:cNvPr>
          <p:cNvSpPr/>
          <p:nvPr/>
        </p:nvSpPr>
        <p:spPr>
          <a:xfrm>
            <a:off x="3657600" y="4127500"/>
            <a:ext cx="2159000" cy="317500"/>
          </a:xfrm>
          <a:prstGeom prst="roundRect">
            <a:avLst/>
          </a:prstGeom>
          <a:solidFill>
            <a:srgbClr val="4A7024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SendPacket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B20E37-3A62-DA68-3C84-C9C5CE990897}"/>
              </a:ext>
            </a:extLst>
          </p:cNvPr>
          <p:cNvSpPr txBox="1"/>
          <p:nvPr/>
        </p:nvSpPr>
        <p:spPr>
          <a:xfrm>
            <a:off x="3746500" y="4521200"/>
            <a:ext cx="1981200" cy="57246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1. </a:t>
            </a:r>
            <a:r>
              <a:rPr lang="en-US" altLang="ko-KR" sz="78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PacketHeader</a:t>
            </a:r>
            <a:r>
              <a:rPr lang="en-US" altLang="ko-KR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생성
</a:t>
            </a:r>
            <a:r>
              <a:rPr lang="en-US" altLang="ko-KR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2. type, </a:t>
            </a:r>
            <a:r>
              <a:rPr lang="en-US" altLang="ko-KR" sz="78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payload_len</a:t>
            </a:r>
            <a:r>
              <a:rPr lang="en-US" altLang="ko-KR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저장
</a:t>
            </a:r>
            <a:r>
              <a:rPr lang="en-US" altLang="ko-KR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3. </a:t>
            </a:r>
            <a:r>
              <a:rPr lang="en-US" altLang="ko-KR" sz="78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SendAll</a:t>
            </a:r>
            <a:r>
              <a:rPr lang="ko-KR" altLang="en-US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로 </a:t>
            </a:r>
            <a:r>
              <a:rPr lang="en-US" altLang="ko-KR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header </a:t>
            </a:r>
            <a:r>
              <a:rPr lang="ko-KR" altLang="en-US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전송
</a:t>
            </a:r>
            <a:r>
              <a:rPr lang="en-US" altLang="ko-KR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4. payload</a:t>
            </a:r>
            <a:r>
              <a:rPr lang="ko-KR" altLang="en-US" sz="780" dirty="0">
                <a:solidFill>
                  <a:srgbClr val="182428"/>
                </a:solidFill>
                <a:latin typeface="맑은 고딕" panose="020B0503020000020004" pitchFamily="50" charset="-127"/>
              </a:rPr>
              <a:t>가 있으면 이어서 전송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D54EC18-967D-77C8-0F74-C5106E6FE77F}"/>
              </a:ext>
            </a:extLst>
          </p:cNvPr>
          <p:cNvSpPr/>
          <p:nvPr/>
        </p:nvSpPr>
        <p:spPr>
          <a:xfrm>
            <a:off x="6375400" y="4127500"/>
            <a:ext cx="2159000" cy="1092200"/>
          </a:xfrm>
          <a:prstGeom prst="roundRect">
            <a:avLst/>
          </a:prstGeom>
          <a:solidFill>
            <a:srgbClr val="EFF9E8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CE76CD3-6256-B0AE-E84F-C38A1C5E4A08}"/>
              </a:ext>
            </a:extLst>
          </p:cNvPr>
          <p:cNvSpPr/>
          <p:nvPr/>
        </p:nvSpPr>
        <p:spPr>
          <a:xfrm>
            <a:off x="6375400" y="4127500"/>
            <a:ext cx="2159000" cy="317500"/>
          </a:xfrm>
          <a:prstGeom prst="roundRect">
            <a:avLst/>
          </a:prstGeom>
          <a:solidFill>
            <a:srgbClr val="4A7024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RecvPacket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9D202D-D568-0418-0E94-0A8DC39FD841}"/>
              </a:ext>
            </a:extLst>
          </p:cNvPr>
          <p:cNvSpPr txBox="1"/>
          <p:nvPr/>
        </p:nvSpPr>
        <p:spPr>
          <a:xfrm>
            <a:off x="6464300" y="4521200"/>
            <a:ext cx="1981200" cy="57246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780">
                <a:solidFill>
                  <a:srgbClr val="182428"/>
                </a:solidFill>
                <a:latin typeface="맑은 고딕" panose="020B0503020000020004" pitchFamily="50" charset="-127"/>
              </a:rPr>
              <a:t>1. RecvAll</a:t>
            </a:r>
            <a:r>
              <a:rPr lang="ko-KR" altLang="en-US" sz="780">
                <a:solidFill>
                  <a:srgbClr val="182428"/>
                </a:solidFill>
                <a:latin typeface="맑은 고딕" panose="020B0503020000020004" pitchFamily="50" charset="-127"/>
              </a:rPr>
              <a:t>로 </a:t>
            </a:r>
            <a:r>
              <a:rPr lang="en-US" altLang="ko-KR" sz="780">
                <a:solidFill>
                  <a:srgbClr val="182428"/>
                </a:solidFill>
                <a:latin typeface="맑은 고딕" panose="020B0503020000020004" pitchFamily="50" charset="-127"/>
              </a:rPr>
              <a:t>header </a:t>
            </a:r>
            <a:r>
              <a:rPr lang="ko-KR" altLang="en-US" sz="780">
                <a:solidFill>
                  <a:srgbClr val="182428"/>
                </a:solidFill>
                <a:latin typeface="맑은 고딕" panose="020B0503020000020004" pitchFamily="50" charset="-127"/>
              </a:rPr>
              <a:t>수신
</a:t>
            </a:r>
            <a:r>
              <a:rPr lang="en-US" altLang="ko-KR" sz="780">
                <a:solidFill>
                  <a:srgbClr val="182428"/>
                </a:solidFill>
                <a:latin typeface="맑은 고딕" panose="020B0503020000020004" pitchFamily="50" charset="-127"/>
              </a:rPr>
              <a:t>2. payload_len </a:t>
            </a:r>
            <a:r>
              <a:rPr lang="ko-KR" altLang="en-US" sz="780">
                <a:solidFill>
                  <a:srgbClr val="182428"/>
                </a:solidFill>
                <a:latin typeface="맑은 고딕" panose="020B0503020000020004" pitchFamily="50" charset="-127"/>
              </a:rPr>
              <a:t>범위 검증
</a:t>
            </a:r>
            <a:r>
              <a:rPr lang="en-US" altLang="ko-KR" sz="780">
                <a:solidFill>
                  <a:srgbClr val="182428"/>
                </a:solidFill>
                <a:latin typeface="맑은 고딕" panose="020B0503020000020004" pitchFamily="50" charset="-127"/>
              </a:rPr>
              <a:t>3. payload </a:t>
            </a:r>
            <a:r>
              <a:rPr lang="ko-KR" altLang="en-US" sz="780">
                <a:solidFill>
                  <a:srgbClr val="182428"/>
                </a:solidFill>
                <a:latin typeface="맑은 고딕" panose="020B0503020000020004" pitchFamily="50" charset="-127"/>
              </a:rPr>
              <a:t>길이만큼 수신
</a:t>
            </a:r>
            <a:r>
              <a:rPr lang="en-US" altLang="ko-KR" sz="780">
                <a:solidFill>
                  <a:srgbClr val="182428"/>
                </a:solidFill>
                <a:latin typeface="맑은 고딕" panose="020B0503020000020004" pitchFamily="50" charset="-127"/>
              </a:rPr>
              <a:t>4. </a:t>
            </a:r>
            <a:r>
              <a:rPr lang="ko-KR" altLang="en-US" sz="780">
                <a:solidFill>
                  <a:srgbClr val="182428"/>
                </a:solidFill>
                <a:latin typeface="맑은 고딕" panose="020B0503020000020004" pitchFamily="50" charset="-127"/>
              </a:rPr>
              <a:t>문자열 끝에 널 문자 추가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659E89E-6946-B705-3565-3E1644EE6781}"/>
              </a:ext>
            </a:extLst>
          </p:cNvPr>
          <p:cNvSpPr/>
          <p:nvPr/>
        </p:nvSpPr>
        <p:spPr>
          <a:xfrm>
            <a:off x="3657600" y="5410200"/>
            <a:ext cx="2159000" cy="60960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4AE0544-1E66-0634-229E-D4ED70CD2536}"/>
              </a:ext>
            </a:extLst>
          </p:cNvPr>
          <p:cNvSpPr/>
          <p:nvPr/>
        </p:nvSpPr>
        <p:spPr>
          <a:xfrm>
            <a:off x="3657600" y="5410200"/>
            <a:ext cx="2159000" cy="317500"/>
          </a:xfrm>
          <a:prstGeom prst="roundRect">
            <a:avLst/>
          </a:prstGeom>
          <a:solidFill>
            <a:srgbClr val="64787D"/>
          </a:solidFill>
          <a:ln w="1524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SendAll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D139FD-D2FC-36E0-529C-9E1E1A5E1997}"/>
              </a:ext>
            </a:extLst>
          </p:cNvPr>
          <p:cNvSpPr txBox="1"/>
          <p:nvPr/>
        </p:nvSpPr>
        <p:spPr>
          <a:xfrm>
            <a:off x="3746500" y="5803900"/>
            <a:ext cx="1981200" cy="18620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710">
                <a:solidFill>
                  <a:srgbClr val="182428"/>
                </a:solidFill>
                <a:latin typeface="맑은 고딕" panose="020B0503020000020004" pitchFamily="50" charset="-127"/>
              </a:rPr>
              <a:t>len </a:t>
            </a:r>
            <a:r>
              <a:rPr lang="ko-KR" altLang="en-US" sz="710">
                <a:solidFill>
                  <a:srgbClr val="182428"/>
                </a:solidFill>
                <a:latin typeface="맑은 고딕" panose="020B0503020000020004" pitchFamily="50" charset="-127"/>
              </a:rPr>
              <a:t>바이트 전송 완료까지 </a:t>
            </a:r>
            <a:r>
              <a:rPr lang="en-US" altLang="ko-KR" sz="710">
                <a:solidFill>
                  <a:srgbClr val="182428"/>
                </a:solidFill>
                <a:latin typeface="맑은 고딕" panose="020B0503020000020004" pitchFamily="50" charset="-127"/>
              </a:rPr>
              <a:t>send</a:t>
            </a:r>
            <a:r>
              <a:rPr lang="ko-KR" altLang="en-US" sz="710">
                <a:solidFill>
                  <a:srgbClr val="182428"/>
                </a:solidFill>
                <a:latin typeface="맑은 고딕" panose="020B0503020000020004" pitchFamily="50" charset="-127"/>
              </a:rPr>
              <a:t>를 반복한다</a:t>
            </a:r>
            <a:r>
              <a:rPr lang="en-US" altLang="ko-KR" sz="710">
                <a:solidFill>
                  <a:srgbClr val="182428"/>
                </a:solidFill>
                <a:latin typeface="맑은 고딕" panose="020B0503020000020004" pitchFamily="50" charset="-127"/>
              </a:rPr>
              <a:t>.</a:t>
            </a:r>
            <a:endParaRPr lang="ko-KR" altLang="en-US" sz="710">
              <a:solidFill>
                <a:srgbClr val="18242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A995195-0AF4-85FF-5EF2-86C4100923EA}"/>
              </a:ext>
            </a:extLst>
          </p:cNvPr>
          <p:cNvSpPr/>
          <p:nvPr/>
        </p:nvSpPr>
        <p:spPr>
          <a:xfrm>
            <a:off x="6375400" y="5410200"/>
            <a:ext cx="2159000" cy="60960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6124079-3334-A65D-6EC1-46B285CDBD4B}"/>
              </a:ext>
            </a:extLst>
          </p:cNvPr>
          <p:cNvSpPr/>
          <p:nvPr/>
        </p:nvSpPr>
        <p:spPr>
          <a:xfrm>
            <a:off x="6375400" y="5410200"/>
            <a:ext cx="2159000" cy="317500"/>
          </a:xfrm>
          <a:prstGeom prst="roundRect">
            <a:avLst/>
          </a:prstGeom>
          <a:solidFill>
            <a:srgbClr val="64787D"/>
          </a:solidFill>
          <a:ln w="1524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RecvAll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35FC3C-9F27-4E02-C0BA-1470D92F95AB}"/>
              </a:ext>
            </a:extLst>
          </p:cNvPr>
          <p:cNvSpPr txBox="1"/>
          <p:nvPr/>
        </p:nvSpPr>
        <p:spPr>
          <a:xfrm>
            <a:off x="6464300" y="5803900"/>
            <a:ext cx="1981200" cy="18620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710">
                <a:solidFill>
                  <a:srgbClr val="182428"/>
                </a:solidFill>
                <a:latin typeface="맑은 고딕" panose="020B0503020000020004" pitchFamily="50" charset="-127"/>
              </a:rPr>
              <a:t>len </a:t>
            </a:r>
            <a:r>
              <a:rPr lang="ko-KR" altLang="en-US" sz="710">
                <a:solidFill>
                  <a:srgbClr val="182428"/>
                </a:solidFill>
                <a:latin typeface="맑은 고딕" panose="020B0503020000020004" pitchFamily="50" charset="-127"/>
              </a:rPr>
              <a:t>바이트 수신 완료까지 </a:t>
            </a:r>
            <a:r>
              <a:rPr lang="en-US" altLang="ko-KR" sz="710">
                <a:solidFill>
                  <a:srgbClr val="182428"/>
                </a:solidFill>
                <a:latin typeface="맑은 고딕" panose="020B0503020000020004" pitchFamily="50" charset="-127"/>
              </a:rPr>
              <a:t>recv</a:t>
            </a:r>
            <a:r>
              <a:rPr lang="ko-KR" altLang="en-US" sz="710">
                <a:solidFill>
                  <a:srgbClr val="182428"/>
                </a:solidFill>
                <a:latin typeface="맑은 고딕" panose="020B0503020000020004" pitchFamily="50" charset="-127"/>
              </a:rPr>
              <a:t>를 반복한다</a:t>
            </a:r>
            <a:r>
              <a:rPr lang="en-US" altLang="ko-KR" sz="710">
                <a:solidFill>
                  <a:srgbClr val="182428"/>
                </a:solidFill>
                <a:latin typeface="맑은 고딕" panose="020B0503020000020004" pitchFamily="50" charset="-127"/>
              </a:rPr>
              <a:t>.</a:t>
            </a:r>
            <a:endParaRPr lang="ko-KR" altLang="en-US" sz="710">
              <a:solidFill>
                <a:srgbClr val="18242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E343E55-0062-C0B5-22A8-51AE7F0D009E}"/>
              </a:ext>
            </a:extLst>
          </p:cNvPr>
          <p:cNvSpPr/>
          <p:nvPr/>
        </p:nvSpPr>
        <p:spPr>
          <a:xfrm>
            <a:off x="571500" y="6197600"/>
            <a:ext cx="1104900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B5E7511C-3AE7-E243-2B1E-C0A4F2F7EC68}"/>
              </a:ext>
            </a:extLst>
          </p:cNvPr>
          <p:cNvSpPr/>
          <p:nvPr/>
        </p:nvSpPr>
        <p:spPr>
          <a:xfrm>
            <a:off x="787400" y="6273800"/>
            <a:ext cx="304800" cy="304800"/>
          </a:xfrm>
          <a:prstGeom prst="ellipse">
            <a:avLst/>
          </a:prstGeom>
          <a:solidFill>
            <a:srgbClr val="0D606F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B3330D-441F-5F5D-2206-95D1E0011E67}"/>
              </a:ext>
            </a:extLst>
          </p:cNvPr>
          <p:cNvSpPr txBox="1"/>
          <p:nvPr/>
        </p:nvSpPr>
        <p:spPr>
          <a:xfrm>
            <a:off x="1155700" y="6261100"/>
            <a:ext cx="1117600" cy="19236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ko-KR" altLang="en-US" sz="750" b="1">
                <a:solidFill>
                  <a:srgbClr val="2D2514"/>
                </a:solidFill>
                <a:latin typeface="맑은 고딕" panose="020B0503020000020004" pitchFamily="50" charset="-127"/>
              </a:rPr>
              <a:t>입력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C88415E-DDC8-727E-1189-DF0F03FDC8AB}"/>
              </a:ext>
            </a:extLst>
          </p:cNvPr>
          <p:cNvCxnSpPr/>
          <p:nvPr/>
        </p:nvCxnSpPr>
        <p:spPr>
          <a:xfrm>
            <a:off x="2209800" y="6426200"/>
            <a:ext cx="393700" cy="0"/>
          </a:xfrm>
          <a:prstGeom prst="straightConnector1">
            <a:avLst/>
          </a:prstGeom>
          <a:ln w="17780">
            <a:solidFill>
              <a:srgbClr val="14586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370CF0EF-3C78-E975-7768-1DB08AD4E710}"/>
              </a:ext>
            </a:extLst>
          </p:cNvPr>
          <p:cNvSpPr/>
          <p:nvPr/>
        </p:nvSpPr>
        <p:spPr>
          <a:xfrm>
            <a:off x="2679700" y="6273800"/>
            <a:ext cx="304800" cy="304800"/>
          </a:xfrm>
          <a:prstGeom prst="ellipse">
            <a:avLst/>
          </a:prstGeom>
          <a:solidFill>
            <a:srgbClr val="0D606F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AE1D76-E3CD-99AC-0F34-79C8DAD475AB}"/>
              </a:ext>
            </a:extLst>
          </p:cNvPr>
          <p:cNvSpPr txBox="1"/>
          <p:nvPr/>
        </p:nvSpPr>
        <p:spPr>
          <a:xfrm>
            <a:off x="3048000" y="6261100"/>
            <a:ext cx="1117600" cy="19236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750" b="1">
                <a:solidFill>
                  <a:srgbClr val="2D2514"/>
                </a:solidFill>
                <a:latin typeface="맑은 고딕" panose="020B0503020000020004" pitchFamily="50" charset="-127"/>
              </a:rPr>
              <a:t>type/payload</a:t>
            </a:r>
            <a:endParaRPr lang="ko-KR" altLang="en-US" sz="750" b="1">
              <a:solidFill>
                <a:srgbClr val="2D2514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A854516-7E5B-5983-B027-A616E9FB9EBE}"/>
              </a:ext>
            </a:extLst>
          </p:cNvPr>
          <p:cNvCxnSpPr/>
          <p:nvPr/>
        </p:nvCxnSpPr>
        <p:spPr>
          <a:xfrm>
            <a:off x="4267200" y="6426200"/>
            <a:ext cx="393700" cy="0"/>
          </a:xfrm>
          <a:prstGeom prst="straightConnector1">
            <a:avLst/>
          </a:prstGeom>
          <a:ln w="17780">
            <a:solidFill>
              <a:srgbClr val="14586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타원 54">
            <a:extLst>
              <a:ext uri="{FF2B5EF4-FFF2-40B4-BE49-F238E27FC236}">
                <a16:creationId xmlns:a16="http://schemas.microsoft.com/office/drawing/2014/main" id="{79E2318F-B802-4E44-7A13-46BF3E65A49D}"/>
              </a:ext>
            </a:extLst>
          </p:cNvPr>
          <p:cNvSpPr/>
          <p:nvPr/>
        </p:nvSpPr>
        <p:spPr>
          <a:xfrm>
            <a:off x="4737100" y="6273800"/>
            <a:ext cx="304800" cy="304800"/>
          </a:xfrm>
          <a:prstGeom prst="ellipse">
            <a:avLst/>
          </a:prstGeom>
          <a:solidFill>
            <a:srgbClr val="0D606F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473209-2130-0EBC-ACBE-CDA932CDDAAB}"/>
              </a:ext>
            </a:extLst>
          </p:cNvPr>
          <p:cNvSpPr txBox="1"/>
          <p:nvPr/>
        </p:nvSpPr>
        <p:spPr>
          <a:xfrm>
            <a:off x="5105400" y="6261100"/>
            <a:ext cx="1117600" cy="19236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ko-KR" sz="750" b="1">
                <a:solidFill>
                  <a:srgbClr val="2D2514"/>
                </a:solidFill>
                <a:latin typeface="맑은 고딕" panose="020B0503020000020004" pitchFamily="50" charset="-127"/>
              </a:rPr>
              <a:t>SendPacket</a:t>
            </a:r>
            <a:endParaRPr lang="ko-KR" altLang="en-US" sz="750" b="1">
              <a:solidFill>
                <a:srgbClr val="2D2514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C0837C2-18D5-D0FD-49F7-53859D2BD207}"/>
              </a:ext>
            </a:extLst>
          </p:cNvPr>
          <p:cNvCxnSpPr/>
          <p:nvPr/>
        </p:nvCxnSpPr>
        <p:spPr>
          <a:xfrm>
            <a:off x="6337300" y="6426200"/>
            <a:ext cx="393700" cy="0"/>
          </a:xfrm>
          <a:prstGeom prst="straightConnector1">
            <a:avLst/>
          </a:prstGeom>
          <a:ln w="17780">
            <a:solidFill>
              <a:srgbClr val="14586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574F7B48-E4CB-AD11-3A18-ED28B58ACEB5}"/>
              </a:ext>
            </a:extLst>
          </p:cNvPr>
          <p:cNvSpPr/>
          <p:nvPr/>
        </p:nvSpPr>
        <p:spPr>
          <a:xfrm>
            <a:off x="6807200" y="6273800"/>
            <a:ext cx="304800" cy="304800"/>
          </a:xfrm>
          <a:prstGeom prst="ellipse">
            <a:avLst/>
          </a:prstGeom>
          <a:solidFill>
            <a:srgbClr val="0D606F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183556-5C97-87D5-A421-4F59DD4B35C0}"/>
              </a:ext>
            </a:extLst>
          </p:cNvPr>
          <p:cNvSpPr txBox="1"/>
          <p:nvPr/>
        </p:nvSpPr>
        <p:spPr>
          <a:xfrm>
            <a:off x="7175500" y="6261100"/>
            <a:ext cx="1117600" cy="19236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ko-KR" altLang="en-US" sz="750" b="1">
                <a:solidFill>
                  <a:srgbClr val="2D2514"/>
                </a:solidFill>
                <a:latin typeface="맑은 고딕" panose="020B0503020000020004" pitchFamily="50" charset="-127"/>
              </a:rPr>
              <a:t>서버 분기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A25BE1F-C97D-6A93-FD17-3918430899D6}"/>
              </a:ext>
            </a:extLst>
          </p:cNvPr>
          <p:cNvCxnSpPr/>
          <p:nvPr/>
        </p:nvCxnSpPr>
        <p:spPr>
          <a:xfrm>
            <a:off x="8382000" y="6426200"/>
            <a:ext cx="393700" cy="0"/>
          </a:xfrm>
          <a:prstGeom prst="straightConnector1">
            <a:avLst/>
          </a:prstGeom>
          <a:ln w="17780">
            <a:solidFill>
              <a:srgbClr val="14586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D4857C3D-51A8-5FA4-8346-BDA324A0D61C}"/>
              </a:ext>
            </a:extLst>
          </p:cNvPr>
          <p:cNvSpPr/>
          <p:nvPr/>
        </p:nvSpPr>
        <p:spPr>
          <a:xfrm>
            <a:off x="8851900" y="6273800"/>
            <a:ext cx="304800" cy="304800"/>
          </a:xfrm>
          <a:prstGeom prst="ellipse">
            <a:avLst/>
          </a:prstGeom>
          <a:solidFill>
            <a:srgbClr val="0D606F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5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962EFF-49CC-EBB0-1002-F5306EE0BCA2}"/>
              </a:ext>
            </a:extLst>
          </p:cNvPr>
          <p:cNvSpPr txBox="1"/>
          <p:nvPr/>
        </p:nvSpPr>
        <p:spPr>
          <a:xfrm>
            <a:off x="9220200" y="6261100"/>
            <a:ext cx="1117600" cy="19236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ko-KR" altLang="en-US" sz="750" b="1">
                <a:solidFill>
                  <a:srgbClr val="2D2514"/>
                </a:solidFill>
                <a:latin typeface="맑은 고딕" panose="020B0503020000020004" pitchFamily="50" charset="-127"/>
              </a:rPr>
              <a:t>응답 출력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D22585-1BCE-D9E8-4AC6-419C207FD41C}"/>
              </a:ext>
            </a:extLst>
          </p:cNvPr>
          <p:cNvSpPr txBox="1"/>
          <p:nvPr/>
        </p:nvSpPr>
        <p:spPr>
          <a:xfrm>
            <a:off x="10414000" y="6286500"/>
            <a:ext cx="990600" cy="2062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ko-KR" altLang="en-US" sz="840" b="1">
                <a:solidFill>
                  <a:srgbClr val="2D2514"/>
                </a:solidFill>
                <a:latin typeface="맑은 고딕" panose="020B0503020000020004" pitchFamily="50" charset="-127"/>
              </a:rPr>
              <a:t>화면 유지</a:t>
            </a:r>
          </a:p>
        </p:txBody>
      </p:sp>
    </p:spTree>
    <p:extLst>
      <p:ext uri="{BB962C8B-B14F-4D97-AF65-F5344CB8AC3E}">
        <p14:creationId xmlns:p14="http://schemas.microsoft.com/office/powerpoint/2010/main" val="2689779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E0C64-AC86-0C95-AF2F-7E32CED4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7CB16E4-0691-A43A-A992-FAEF8B680F08}"/>
              </a:ext>
            </a:extLst>
          </p:cNvPr>
          <p:cNvSpPr/>
          <p:nvPr/>
        </p:nvSpPr>
        <p:spPr>
          <a:xfrm>
            <a:off x="4282211" y="198532"/>
            <a:ext cx="3560843" cy="6294624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A01BBF0-D4AE-1180-9326-071493779A9A}"/>
              </a:ext>
            </a:extLst>
          </p:cNvPr>
          <p:cNvSpPr/>
          <p:nvPr/>
        </p:nvSpPr>
        <p:spPr>
          <a:xfrm>
            <a:off x="431800" y="247073"/>
            <a:ext cx="3238500" cy="6236854"/>
          </a:xfrm>
          <a:prstGeom prst="roundRect">
            <a:avLst/>
          </a:prstGeom>
          <a:solidFill>
            <a:srgbClr val="E9F8E5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500" b="1" dirty="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EEFC6DD-2A91-2781-31B5-A35F749DAED4}"/>
              </a:ext>
            </a:extLst>
          </p:cNvPr>
          <p:cNvSpPr/>
          <p:nvPr/>
        </p:nvSpPr>
        <p:spPr>
          <a:xfrm>
            <a:off x="8445500" y="247073"/>
            <a:ext cx="3302000" cy="6236854"/>
          </a:xfrm>
          <a:prstGeom prst="roundRect">
            <a:avLst/>
          </a:prstGeom>
          <a:solidFill>
            <a:srgbClr val="E7F6FA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500" b="1" dirty="0">
              <a:solidFill>
                <a:srgbClr val="141E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40AC4F-1B70-73CB-0410-E60A0BACDC5F}"/>
              </a:ext>
            </a:extLst>
          </p:cNvPr>
          <p:cNvSpPr txBox="1"/>
          <p:nvPr/>
        </p:nvSpPr>
        <p:spPr>
          <a:xfrm>
            <a:off x="849870" y="373458"/>
            <a:ext cx="2349500" cy="4103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2000" b="1" dirty="0">
                <a:solidFill>
                  <a:srgbClr val="236E2A"/>
                </a:solidFill>
                <a:latin typeface="맑은 고딕" panose="020B0503020000020004" pitchFamily="50" charset="-127"/>
              </a:rPr>
              <a:t>클라이언트</a:t>
            </a:r>
            <a:r>
              <a:rPr lang="en-US" altLang="ko-KR" sz="2000" b="1" dirty="0">
                <a:solidFill>
                  <a:srgbClr val="236E2A"/>
                </a:solidFill>
                <a:latin typeface="맑은 고딕" panose="020B0503020000020004" pitchFamily="50" charset="-127"/>
              </a:rPr>
              <a:t>(Client)</a:t>
            </a:r>
            <a:endParaRPr lang="ko-KR" altLang="en-US" sz="2000" b="1" dirty="0">
              <a:solidFill>
                <a:srgbClr val="236E2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4049F1-CF9F-018E-7C38-89CF6BF69DC3}"/>
              </a:ext>
            </a:extLst>
          </p:cNvPr>
          <p:cNvSpPr txBox="1"/>
          <p:nvPr/>
        </p:nvSpPr>
        <p:spPr>
          <a:xfrm>
            <a:off x="4859482" y="242813"/>
            <a:ext cx="2473036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rgbClr val="145867"/>
                </a:solidFill>
                <a:latin typeface="맑은 고딕" panose="020B0503020000020004" pitchFamily="50" charset="-127"/>
              </a:rPr>
              <a:t>Common.h</a:t>
            </a:r>
            <a:r>
              <a:rPr lang="en-US" altLang="ko-KR" sz="2000" b="1" dirty="0">
                <a:solidFill>
                  <a:srgbClr val="145867"/>
                </a:solidFill>
                <a:latin typeface="맑은 고딕" panose="020B0503020000020004" pitchFamily="50" charset="-127"/>
              </a:rPr>
              <a:t> </a:t>
            </a:r>
          </a:p>
          <a:p>
            <a:pPr algn="ctr"/>
            <a:r>
              <a:rPr lang="ko-KR" altLang="en-US" sz="2000" b="1" dirty="0">
                <a:solidFill>
                  <a:srgbClr val="145867"/>
                </a:solidFill>
                <a:latin typeface="맑은 고딕" panose="020B0503020000020004" pitchFamily="50" charset="-127"/>
              </a:rPr>
              <a:t>패킷 약속 공유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EA71CD-5FA8-6207-908B-A1A239B41B1C}"/>
              </a:ext>
            </a:extLst>
          </p:cNvPr>
          <p:cNvSpPr txBox="1"/>
          <p:nvPr/>
        </p:nvSpPr>
        <p:spPr>
          <a:xfrm>
            <a:off x="9100354" y="358387"/>
            <a:ext cx="1778000" cy="4103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2000" b="1" dirty="0">
                <a:solidFill>
                  <a:srgbClr val="0D606F"/>
                </a:solidFill>
                <a:latin typeface="맑은 고딕" panose="020B0503020000020004" pitchFamily="50" charset="-127"/>
              </a:rPr>
              <a:t>서버</a:t>
            </a:r>
            <a:r>
              <a:rPr lang="en-US" altLang="ko-KR" sz="2000" b="1" dirty="0">
                <a:solidFill>
                  <a:srgbClr val="0D606F"/>
                </a:solidFill>
                <a:latin typeface="맑은 고딕" panose="020B0503020000020004" pitchFamily="50" charset="-127"/>
              </a:rPr>
              <a:t>(Server)</a:t>
            </a:r>
            <a:endParaRPr lang="ko-KR" altLang="en-US" sz="2000" b="1" dirty="0">
              <a:solidFill>
                <a:srgbClr val="0D606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F506A3A-1E56-86DB-E91C-D4F8D7AE76D6}"/>
              </a:ext>
            </a:extLst>
          </p:cNvPr>
          <p:cNvSpPr/>
          <p:nvPr/>
        </p:nvSpPr>
        <p:spPr>
          <a:xfrm>
            <a:off x="660400" y="1417332"/>
            <a:ext cx="2738582" cy="1817598"/>
          </a:xfrm>
          <a:prstGeom prst="roundRect">
            <a:avLst/>
          </a:prstGeom>
          <a:solidFill>
            <a:srgbClr val="EBF9E6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2900" dirty="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7ACD039-E6A3-F555-47BE-4EC9FE10B558}"/>
              </a:ext>
            </a:extLst>
          </p:cNvPr>
          <p:cNvSpPr/>
          <p:nvPr/>
        </p:nvSpPr>
        <p:spPr>
          <a:xfrm>
            <a:off x="676688" y="902962"/>
            <a:ext cx="2738582" cy="445490"/>
          </a:xfrm>
          <a:prstGeom prst="roundRect">
            <a:avLst/>
          </a:prstGeom>
          <a:solidFill>
            <a:srgbClr val="2D8430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인증</a:t>
            </a:r>
            <a:r>
              <a:rPr lang="en-US" altLang="ko-KR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계정 메시지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1C61E-DD1A-1C55-739E-FAAD42C7869D}"/>
              </a:ext>
            </a:extLst>
          </p:cNvPr>
          <p:cNvSpPr txBox="1"/>
          <p:nvPr/>
        </p:nvSpPr>
        <p:spPr>
          <a:xfrm>
            <a:off x="706580" y="1739009"/>
            <a:ext cx="2657570" cy="107721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ko-KR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PKT_LOGIN_REQ      : id, pw
PKT_LOGIN_RES      : 1 </a:t>
            </a:r>
            <a:r>
              <a:rPr lang="ko-KR" altLang="en-US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또는 </a:t>
            </a:r>
            <a:r>
              <a:rPr lang="en-US" altLang="ko-KR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0
PKT_REGISTER_REQ  : id, pw, age, region
</a:t>
            </a:r>
            <a:r>
              <a:rPr lang="ko-KR" altLang="en-US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값 사이는 </a:t>
            </a:r>
            <a:r>
              <a:rPr lang="en-US" altLang="ko-KR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TAB</a:t>
            </a:r>
            <a:r>
              <a:rPr lang="ko-KR" altLang="en-US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으로 구분함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280171F-D8B3-38D0-3D5A-7C3C6B5FCEB5}"/>
              </a:ext>
            </a:extLst>
          </p:cNvPr>
          <p:cNvSpPr/>
          <p:nvPr/>
        </p:nvSpPr>
        <p:spPr>
          <a:xfrm>
            <a:off x="702088" y="4073822"/>
            <a:ext cx="2713182" cy="1532484"/>
          </a:xfrm>
          <a:prstGeom prst="roundRect">
            <a:avLst/>
          </a:prstGeom>
          <a:solidFill>
            <a:srgbClr val="EBF9E6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4D5108D-172D-A8C6-7AB6-D2D2384C2A30}"/>
              </a:ext>
            </a:extLst>
          </p:cNvPr>
          <p:cNvSpPr/>
          <p:nvPr/>
        </p:nvSpPr>
        <p:spPr>
          <a:xfrm>
            <a:off x="689388" y="3536372"/>
            <a:ext cx="2713182" cy="445490"/>
          </a:xfrm>
          <a:prstGeom prst="roundRect">
            <a:avLst/>
          </a:prstGeom>
          <a:solidFill>
            <a:srgbClr val="2D8430"/>
          </a:solidFill>
          <a:ln w="1524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지역 목록 메시지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71F94-1F7F-FE8F-72FF-670883CEF2FE}"/>
              </a:ext>
            </a:extLst>
          </p:cNvPr>
          <p:cNvSpPr txBox="1"/>
          <p:nvPr/>
        </p:nvSpPr>
        <p:spPr>
          <a:xfrm>
            <a:off x="759418" y="4200998"/>
            <a:ext cx="2652950" cy="1277273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ko-KR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PKT_REQ_PROVINCE_LIST : </a:t>
            </a:r>
          </a:p>
          <a:p>
            <a:r>
              <a:rPr lang="ko-KR" altLang="en-US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빈 </a:t>
            </a:r>
            <a:r>
              <a:rPr lang="en-US" altLang="ko-KR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payload
PKT_REQ_CITY_LIST : </a:t>
            </a:r>
            <a:r>
              <a:rPr lang="en-US" altLang="ko-KR" sz="130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provinceIndex</a:t>
            </a:r>
            <a:r>
              <a:rPr lang="en-US" altLang="ko-KR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
</a:t>
            </a:r>
            <a:r>
              <a:rPr lang="ko-KR" altLang="en-US" sz="1300" dirty="0">
                <a:solidFill>
                  <a:srgbClr val="182428"/>
                </a:solidFill>
                <a:latin typeface="맑은 고딕" panose="020B0503020000020004" pitchFamily="50" charset="-127"/>
              </a:rPr>
              <a:t>서버 응답은 목록 텍스트로 전송함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842EA44-F56A-C606-4619-31D8DF747679}"/>
              </a:ext>
            </a:extLst>
          </p:cNvPr>
          <p:cNvSpPr/>
          <p:nvPr/>
        </p:nvSpPr>
        <p:spPr>
          <a:xfrm>
            <a:off x="4515417" y="998349"/>
            <a:ext cx="3174188" cy="764914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D72C6-F77E-55F9-9257-EAA5633E20EC}"/>
              </a:ext>
            </a:extLst>
          </p:cNvPr>
          <p:cNvSpPr txBox="1"/>
          <p:nvPr/>
        </p:nvSpPr>
        <p:spPr>
          <a:xfrm>
            <a:off x="5367867" y="1059517"/>
            <a:ext cx="1507418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ko-KR" sz="1300" b="1" dirty="0" err="1">
                <a:solidFill>
                  <a:srgbClr val="46300C"/>
                </a:solidFill>
                <a:latin typeface="맑은 고딕" panose="020B0503020000020004" pitchFamily="50" charset="-127"/>
              </a:rPr>
              <a:t>PacketHeader</a:t>
            </a:r>
            <a:endParaRPr lang="ko-KR" altLang="en-US" sz="1300" b="1" dirty="0">
              <a:solidFill>
                <a:srgbClr val="46300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4CEDE60-5680-5829-2DDD-67BD92301913}"/>
              </a:ext>
            </a:extLst>
          </p:cNvPr>
          <p:cNvSpPr/>
          <p:nvPr/>
        </p:nvSpPr>
        <p:spPr>
          <a:xfrm>
            <a:off x="4486564" y="1830714"/>
            <a:ext cx="1616960" cy="641504"/>
          </a:xfrm>
          <a:prstGeom prst="roundRect">
            <a:avLst/>
          </a:prstGeom>
          <a:solidFill>
            <a:srgbClr val="FFFFF5"/>
          </a:solidFill>
          <a:ln w="1524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13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type
</a:t>
            </a:r>
            <a:r>
              <a:rPr lang="en-US" altLang="ko-KR" sz="1300" b="1" dirty="0" err="1">
                <a:solidFill>
                  <a:srgbClr val="46300C"/>
                </a:solidFill>
                <a:latin typeface="맑은 고딕" panose="020B0503020000020004" pitchFamily="50" charset="-127"/>
              </a:rPr>
              <a:t>PacketType</a:t>
            </a:r>
            <a:endParaRPr lang="ko-KR" altLang="en-US" sz="1300" b="1" dirty="0">
              <a:solidFill>
                <a:srgbClr val="46300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23E65EF-CCE6-D61E-3C83-BB2FFD01BC0E}"/>
              </a:ext>
            </a:extLst>
          </p:cNvPr>
          <p:cNvSpPr/>
          <p:nvPr/>
        </p:nvSpPr>
        <p:spPr>
          <a:xfrm>
            <a:off x="6115619" y="1829143"/>
            <a:ext cx="1521372" cy="641504"/>
          </a:xfrm>
          <a:prstGeom prst="roundRect">
            <a:avLst/>
          </a:prstGeom>
          <a:solidFill>
            <a:srgbClr val="FFFFF5"/>
          </a:solidFill>
          <a:ln w="1524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1300" b="1" dirty="0" err="1">
                <a:solidFill>
                  <a:srgbClr val="46300C"/>
                </a:solidFill>
                <a:latin typeface="맑은 고딕" panose="020B0503020000020004" pitchFamily="50" charset="-127"/>
              </a:rPr>
              <a:t>payload_len</a:t>
            </a:r>
            <a:r>
              <a:rPr lang="en-US" altLang="ko-KR" sz="13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
</a:t>
            </a:r>
            <a:r>
              <a:rPr lang="ko-KR" altLang="en-US" sz="13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문자열 길이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01642-F8C9-ECDA-9E2F-DD3E86F74EEA}"/>
              </a:ext>
            </a:extLst>
          </p:cNvPr>
          <p:cNvSpPr txBox="1"/>
          <p:nvPr/>
        </p:nvSpPr>
        <p:spPr>
          <a:xfrm>
            <a:off x="4586090" y="1357529"/>
            <a:ext cx="3104625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Payload </a:t>
            </a:r>
            <a:r>
              <a:rPr lang="ko-KR" altLang="en-US" sz="10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규칙</a:t>
            </a:r>
            <a:r>
              <a:rPr lang="en-US" altLang="ko-KR" sz="10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: UTF-8 </a:t>
            </a:r>
            <a:r>
              <a:rPr lang="ko-KR" altLang="en-US" sz="10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문자열</a:t>
            </a:r>
            <a:r>
              <a:rPr lang="en-US" altLang="ko-KR" sz="10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여러 값은 </a:t>
            </a:r>
            <a:r>
              <a:rPr lang="en-US" altLang="ko-KR" sz="10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TAB</a:t>
            </a:r>
            <a:r>
              <a:rPr lang="ko-KR" altLang="en-US" sz="10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으로 구분함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06ABFA-647C-104B-521A-86CB2E56F0B7}"/>
              </a:ext>
            </a:extLst>
          </p:cNvPr>
          <p:cNvSpPr txBox="1"/>
          <p:nvPr/>
        </p:nvSpPr>
        <p:spPr>
          <a:xfrm>
            <a:off x="4794249" y="2539870"/>
            <a:ext cx="2694949" cy="284693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ko-KR" altLang="en-US" sz="1350" b="1" dirty="0">
                <a:solidFill>
                  <a:srgbClr val="0A4652"/>
                </a:solidFill>
                <a:latin typeface="맑은 고딕" panose="020B0503020000020004" pitchFamily="50" charset="-127"/>
              </a:rPr>
              <a:t>공통 통신 함수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9EDB722-3232-05AD-3154-DACE74D810D0}"/>
              </a:ext>
            </a:extLst>
          </p:cNvPr>
          <p:cNvSpPr/>
          <p:nvPr/>
        </p:nvSpPr>
        <p:spPr>
          <a:xfrm>
            <a:off x="4495800" y="2816226"/>
            <a:ext cx="1629044" cy="1968421"/>
          </a:xfrm>
          <a:prstGeom prst="roundRect">
            <a:avLst/>
          </a:prstGeom>
          <a:solidFill>
            <a:srgbClr val="EFF9E8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8B6FEA4-D450-2CFD-7A05-5F8B609E707F}"/>
              </a:ext>
            </a:extLst>
          </p:cNvPr>
          <p:cNvSpPr/>
          <p:nvPr/>
        </p:nvSpPr>
        <p:spPr>
          <a:xfrm>
            <a:off x="4495800" y="2803383"/>
            <a:ext cx="1629044" cy="445490"/>
          </a:xfrm>
          <a:prstGeom prst="roundRect">
            <a:avLst/>
          </a:prstGeom>
          <a:solidFill>
            <a:srgbClr val="4A7024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SendPacket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51611B-ED74-AB82-80E7-5DE07B194E39}"/>
              </a:ext>
            </a:extLst>
          </p:cNvPr>
          <p:cNvSpPr txBox="1"/>
          <p:nvPr/>
        </p:nvSpPr>
        <p:spPr>
          <a:xfrm>
            <a:off x="4490028" y="3242580"/>
            <a:ext cx="1594959" cy="131574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1. </a:t>
            </a:r>
            <a:r>
              <a:rPr lang="en-US" altLang="ko-KR" sz="115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PacketHeader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생성
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2. type, </a:t>
            </a:r>
            <a:r>
              <a:rPr lang="en-US" altLang="ko-KR" sz="115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payload_len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저장
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3. </a:t>
            </a:r>
            <a:r>
              <a:rPr lang="en-US" altLang="ko-KR" sz="115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SendAll</a:t>
            </a:r>
            <a:r>
              <a:rPr lang="ko-KR" altLang="en-US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로 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header </a:t>
            </a:r>
            <a:r>
              <a:rPr lang="ko-KR" altLang="en-US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전송
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4. payload</a:t>
            </a:r>
            <a:r>
              <a:rPr lang="ko-KR" altLang="en-US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가 있으면 이어서 전송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5043715-5A4F-2252-DA0C-8E8E2ABEFA35}"/>
              </a:ext>
            </a:extLst>
          </p:cNvPr>
          <p:cNvSpPr/>
          <p:nvPr/>
        </p:nvSpPr>
        <p:spPr>
          <a:xfrm>
            <a:off x="6166428" y="2803383"/>
            <a:ext cx="1497454" cy="1968420"/>
          </a:xfrm>
          <a:prstGeom prst="roundRect">
            <a:avLst/>
          </a:prstGeom>
          <a:solidFill>
            <a:srgbClr val="EFF9E8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C28ECF1-B27A-4A36-83CA-EFAC4FF57643}"/>
              </a:ext>
            </a:extLst>
          </p:cNvPr>
          <p:cNvSpPr/>
          <p:nvPr/>
        </p:nvSpPr>
        <p:spPr>
          <a:xfrm>
            <a:off x="6164117" y="2802676"/>
            <a:ext cx="1499845" cy="445490"/>
          </a:xfrm>
          <a:prstGeom prst="roundRect">
            <a:avLst/>
          </a:prstGeom>
          <a:solidFill>
            <a:srgbClr val="4A7024"/>
          </a:solidFill>
          <a:ln w="15240">
            <a:solidFill>
              <a:srgbClr val="4A70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RecvPacket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E5A66A-5334-B3CD-D919-311B4A5BB40D}"/>
              </a:ext>
            </a:extLst>
          </p:cNvPr>
          <p:cNvSpPr txBox="1"/>
          <p:nvPr/>
        </p:nvSpPr>
        <p:spPr>
          <a:xfrm>
            <a:off x="6157174" y="3232849"/>
            <a:ext cx="1497454" cy="149271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1. </a:t>
            </a:r>
            <a:r>
              <a:rPr lang="en-US" altLang="ko-KR" sz="115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RecvAll</a:t>
            </a:r>
            <a:r>
              <a:rPr lang="ko-KR" altLang="en-US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로 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header </a:t>
            </a:r>
            <a:r>
              <a:rPr lang="ko-KR" altLang="en-US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수신
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2. </a:t>
            </a:r>
            <a:r>
              <a:rPr lang="en-US" altLang="ko-KR" sz="115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payload_len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범위 검증
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3. payload </a:t>
            </a:r>
            <a:r>
              <a:rPr lang="ko-KR" altLang="en-US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길이만큼 수신
</a:t>
            </a:r>
            <a:r>
              <a:rPr lang="en-US" altLang="ko-KR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4. </a:t>
            </a:r>
            <a:r>
              <a:rPr lang="ko-KR" altLang="en-US" sz="1150" dirty="0">
                <a:solidFill>
                  <a:srgbClr val="182428"/>
                </a:solidFill>
                <a:latin typeface="맑은 고딕" panose="020B0503020000020004" pitchFamily="50" charset="-127"/>
              </a:rPr>
              <a:t>문자열 끝에 널 문자 추가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6006B2B-C137-9CA0-F823-23569773462B}"/>
              </a:ext>
            </a:extLst>
          </p:cNvPr>
          <p:cNvSpPr/>
          <p:nvPr/>
        </p:nvSpPr>
        <p:spPr>
          <a:xfrm>
            <a:off x="4379184" y="4851293"/>
            <a:ext cx="1716816" cy="1113582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F23CBC6-B9F2-7D67-C84D-CBE5D1AE2318}"/>
              </a:ext>
            </a:extLst>
          </p:cNvPr>
          <p:cNvSpPr/>
          <p:nvPr/>
        </p:nvSpPr>
        <p:spPr>
          <a:xfrm>
            <a:off x="4379185" y="4826891"/>
            <a:ext cx="1716816" cy="445490"/>
          </a:xfrm>
          <a:prstGeom prst="roundRect">
            <a:avLst/>
          </a:prstGeom>
          <a:solidFill>
            <a:srgbClr val="64787D"/>
          </a:solidFill>
          <a:ln w="1524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SendAll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AC3FBF-3234-B4C1-9F61-23E979DAB748}"/>
              </a:ext>
            </a:extLst>
          </p:cNvPr>
          <p:cNvSpPr txBox="1"/>
          <p:nvPr/>
        </p:nvSpPr>
        <p:spPr>
          <a:xfrm>
            <a:off x="4458061" y="5339774"/>
            <a:ext cx="1637939" cy="44627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ko-KR" sz="120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len</a:t>
            </a:r>
            <a:r>
              <a:rPr lang="en-US" altLang="ko-KR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바이트 전송 완료까지 </a:t>
            </a:r>
            <a:r>
              <a:rPr lang="en-US" altLang="ko-KR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send</a:t>
            </a:r>
            <a:r>
              <a:rPr lang="ko-KR" altLang="en-US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를 반복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720878F-E0CF-56FF-40EF-FFC5A7EB4361}"/>
              </a:ext>
            </a:extLst>
          </p:cNvPr>
          <p:cNvSpPr/>
          <p:nvPr/>
        </p:nvSpPr>
        <p:spPr>
          <a:xfrm>
            <a:off x="6157174" y="4813051"/>
            <a:ext cx="1569630" cy="1151824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32D4B7B-6DB4-607C-E4AE-689C375FFC1F}"/>
              </a:ext>
            </a:extLst>
          </p:cNvPr>
          <p:cNvSpPr/>
          <p:nvPr/>
        </p:nvSpPr>
        <p:spPr>
          <a:xfrm>
            <a:off x="6164117" y="4815344"/>
            <a:ext cx="1563839" cy="445490"/>
          </a:xfrm>
          <a:prstGeom prst="roundRect">
            <a:avLst/>
          </a:prstGeom>
          <a:solidFill>
            <a:srgbClr val="64787D"/>
          </a:solidFill>
          <a:ln w="1524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RecvAll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5D3CEA-A9F5-4004-6149-8259AF18E286}"/>
              </a:ext>
            </a:extLst>
          </p:cNvPr>
          <p:cNvSpPr txBox="1"/>
          <p:nvPr/>
        </p:nvSpPr>
        <p:spPr>
          <a:xfrm>
            <a:off x="6178777" y="5359791"/>
            <a:ext cx="1531285" cy="44627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ko-KR" sz="120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len</a:t>
            </a:r>
            <a:r>
              <a:rPr lang="en-US" altLang="ko-KR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바이트 수신 완료까지 </a:t>
            </a:r>
            <a:r>
              <a:rPr lang="en-US" altLang="ko-KR" sz="1200" dirty="0" err="1">
                <a:solidFill>
                  <a:srgbClr val="182428"/>
                </a:solidFill>
                <a:latin typeface="맑은 고딕" panose="020B0503020000020004" pitchFamily="50" charset="-127"/>
              </a:rPr>
              <a:t>recv</a:t>
            </a:r>
            <a:r>
              <a:rPr lang="ko-KR" altLang="en-US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를 반복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1A94EC7-55A0-8DFC-346A-F66FFC8FAE0B}"/>
              </a:ext>
            </a:extLst>
          </p:cNvPr>
          <p:cNvCxnSpPr>
            <a:cxnSpLocks/>
          </p:cNvCxnSpPr>
          <p:nvPr/>
        </p:nvCxnSpPr>
        <p:spPr>
          <a:xfrm>
            <a:off x="3670300" y="3180777"/>
            <a:ext cx="611911" cy="0"/>
          </a:xfrm>
          <a:prstGeom prst="straightConnector1">
            <a:avLst/>
          </a:prstGeom>
          <a:ln w="27940">
            <a:solidFill>
              <a:srgbClr val="14586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2B110FD-22D0-6727-238F-7DC245341956}"/>
              </a:ext>
            </a:extLst>
          </p:cNvPr>
          <p:cNvCxnSpPr>
            <a:cxnSpLocks/>
          </p:cNvCxnSpPr>
          <p:nvPr/>
        </p:nvCxnSpPr>
        <p:spPr>
          <a:xfrm flipH="1">
            <a:off x="3670300" y="3430253"/>
            <a:ext cx="611911" cy="0"/>
          </a:xfrm>
          <a:prstGeom prst="straightConnector1">
            <a:avLst/>
          </a:prstGeom>
          <a:ln w="24130">
            <a:solidFill>
              <a:srgbClr val="4A702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2307433-9294-983A-01B1-269251572B2A}"/>
              </a:ext>
            </a:extLst>
          </p:cNvPr>
          <p:cNvSpPr txBox="1"/>
          <p:nvPr/>
        </p:nvSpPr>
        <p:spPr>
          <a:xfrm>
            <a:off x="3601987" y="2858951"/>
            <a:ext cx="719497" cy="2308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145867"/>
                </a:solidFill>
                <a:latin typeface="맑은 고딕" panose="020B0503020000020004" pitchFamily="50" charset="-127"/>
              </a:rPr>
              <a:t>요청 전송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F93D4E-5082-9A32-74B8-3C1037F8DC1A}"/>
              </a:ext>
            </a:extLst>
          </p:cNvPr>
          <p:cNvSpPr txBox="1"/>
          <p:nvPr/>
        </p:nvSpPr>
        <p:spPr>
          <a:xfrm>
            <a:off x="3562920" y="3553783"/>
            <a:ext cx="816264" cy="2308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4A7024"/>
                </a:solidFill>
                <a:latin typeface="맑은 고딕" panose="020B0503020000020004" pitchFamily="50" charset="-127"/>
              </a:rPr>
              <a:t>결과 출력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FB98E04-519E-7D0F-EB75-189E5FC573C8}"/>
              </a:ext>
            </a:extLst>
          </p:cNvPr>
          <p:cNvSpPr txBox="1"/>
          <p:nvPr/>
        </p:nvSpPr>
        <p:spPr>
          <a:xfrm>
            <a:off x="7593156" y="2825342"/>
            <a:ext cx="11176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145867"/>
                </a:solidFill>
                <a:latin typeface="맑은 고딕" panose="020B0503020000020004" pitchFamily="50" charset="-127"/>
              </a:rPr>
              <a:t>요청 수신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AFF4195-C74C-4987-A363-B474AC308E32}"/>
              </a:ext>
            </a:extLst>
          </p:cNvPr>
          <p:cNvSpPr txBox="1"/>
          <p:nvPr/>
        </p:nvSpPr>
        <p:spPr>
          <a:xfrm>
            <a:off x="7593156" y="3511142"/>
            <a:ext cx="11176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4A7024"/>
                </a:solidFill>
                <a:latin typeface="맑은 고딕" panose="020B0503020000020004" pitchFamily="50" charset="-127"/>
              </a:rPr>
              <a:t>응답 반환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880DCD01-F6B5-6527-6168-CA01B9902750}"/>
              </a:ext>
            </a:extLst>
          </p:cNvPr>
          <p:cNvCxnSpPr>
            <a:cxnSpLocks/>
          </p:cNvCxnSpPr>
          <p:nvPr/>
        </p:nvCxnSpPr>
        <p:spPr>
          <a:xfrm>
            <a:off x="7833589" y="3125578"/>
            <a:ext cx="611911" cy="0"/>
          </a:xfrm>
          <a:prstGeom prst="straightConnector1">
            <a:avLst/>
          </a:prstGeom>
          <a:ln w="27940">
            <a:solidFill>
              <a:srgbClr val="14586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DFE87834-BB7F-B09B-69DD-E8AC7EA0F1C4}"/>
              </a:ext>
            </a:extLst>
          </p:cNvPr>
          <p:cNvCxnSpPr>
            <a:cxnSpLocks/>
          </p:cNvCxnSpPr>
          <p:nvPr/>
        </p:nvCxnSpPr>
        <p:spPr>
          <a:xfrm flipH="1">
            <a:off x="7833589" y="3375054"/>
            <a:ext cx="611911" cy="0"/>
          </a:xfrm>
          <a:prstGeom prst="straightConnector1">
            <a:avLst/>
          </a:prstGeom>
          <a:ln w="24130">
            <a:solidFill>
              <a:srgbClr val="4A702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8A8EE48C-6D7F-BDA7-A145-E5C25FA5EAD1}"/>
              </a:ext>
            </a:extLst>
          </p:cNvPr>
          <p:cNvSpPr/>
          <p:nvPr/>
        </p:nvSpPr>
        <p:spPr>
          <a:xfrm>
            <a:off x="8615127" y="1458106"/>
            <a:ext cx="2985746" cy="187472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48477F05-770E-70CF-3712-0AB9F7C65E5F}"/>
              </a:ext>
            </a:extLst>
          </p:cNvPr>
          <p:cNvSpPr/>
          <p:nvPr/>
        </p:nvSpPr>
        <p:spPr>
          <a:xfrm>
            <a:off x="8615127" y="906224"/>
            <a:ext cx="2985746" cy="511108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기능 요청 메시지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6D4864-628D-436A-F845-024448C06478}"/>
              </a:ext>
            </a:extLst>
          </p:cNvPr>
          <p:cNvSpPr txBox="1"/>
          <p:nvPr/>
        </p:nvSpPr>
        <p:spPr>
          <a:xfrm>
            <a:off x="8717579" y="1513219"/>
            <a:ext cx="2780842" cy="173893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ko-KR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PKT_REQ_01_CRIME_TOP3 / 02_SAFETY_GRADE
  → </a:t>
            </a:r>
            <a:r>
              <a:rPr lang="ko-KR" altLang="en-US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범죄 발생 통계와 안전 등급
</a:t>
            </a:r>
            <a:r>
              <a:rPr lang="en-US" altLang="ko-KR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PKT_REQ_03_POLICE_COUNT / 04_SECURITY_IDX
  → </a:t>
            </a:r>
            <a:r>
              <a:rPr lang="ko-KR" altLang="en-US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치안 인프라와 대응력 지수
</a:t>
            </a:r>
            <a:r>
              <a:rPr lang="en-US" altLang="ko-KR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PKT_REQ_05_REAL_RISK / 06_GUIDELINE
  → </a:t>
            </a:r>
            <a:r>
              <a:rPr lang="ko-KR" altLang="en-US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실질 위험도와 맞춤형 가이드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F1015B40-1916-8DD6-F710-319229B6A52C}"/>
              </a:ext>
            </a:extLst>
          </p:cNvPr>
          <p:cNvSpPr/>
          <p:nvPr/>
        </p:nvSpPr>
        <p:spPr>
          <a:xfrm>
            <a:off x="8615127" y="4004950"/>
            <a:ext cx="2985746" cy="2123620"/>
          </a:xfrm>
          <a:prstGeom prst="roundRect">
            <a:avLst/>
          </a:prstGeom>
          <a:solidFill>
            <a:srgbClr val="E8F6FA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275D9DD4-F699-B256-C2D3-1BDF63204A0E}"/>
              </a:ext>
            </a:extLst>
          </p:cNvPr>
          <p:cNvSpPr/>
          <p:nvPr/>
        </p:nvSpPr>
        <p:spPr>
          <a:xfrm>
            <a:off x="8601575" y="3494368"/>
            <a:ext cx="2985746" cy="452432"/>
          </a:xfrm>
          <a:prstGeom prst="roundRect">
            <a:avLst/>
          </a:prstGeom>
          <a:solidFill>
            <a:srgbClr val="0D606F"/>
          </a:solidFill>
          <a:ln w="1524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응답 메시지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2C05268-294B-427C-87F2-5DB8DCF7297A}"/>
              </a:ext>
            </a:extLst>
          </p:cNvPr>
          <p:cNvSpPr txBox="1"/>
          <p:nvPr/>
        </p:nvSpPr>
        <p:spPr>
          <a:xfrm>
            <a:off x="8717579" y="4698061"/>
            <a:ext cx="2780842" cy="63094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ko-KR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PKT_RES_TEXT  : </a:t>
            </a:r>
            <a:r>
              <a:rPr lang="ko-KR" altLang="en-US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정상 결과 문자열
</a:t>
            </a:r>
            <a:r>
              <a:rPr lang="en-US" altLang="ko-KR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PKT_ERROR_RES : </a:t>
            </a:r>
            <a:r>
              <a:rPr lang="ko-KR" altLang="en-US" sz="1200" dirty="0">
                <a:solidFill>
                  <a:srgbClr val="182428"/>
                </a:solidFill>
                <a:latin typeface="맑은 고딕" panose="020B0503020000020004" pitchFamily="50" charset="-127"/>
              </a:rPr>
              <a:t>오류 안내 문자열
클라이언트는 수신 후 화면에 출력</a:t>
            </a:r>
          </a:p>
        </p:txBody>
      </p:sp>
    </p:spTree>
    <p:extLst>
      <p:ext uri="{BB962C8B-B14F-4D97-AF65-F5344CB8AC3E}">
        <p14:creationId xmlns:p14="http://schemas.microsoft.com/office/powerpoint/2010/main" val="114134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CE230D90-C8AE-4C3B-CC14-6CF8CEA370D3}"/>
              </a:ext>
            </a:extLst>
          </p:cNvPr>
          <p:cNvSpPr/>
          <p:nvPr/>
        </p:nvSpPr>
        <p:spPr>
          <a:xfrm>
            <a:off x="0" y="0"/>
            <a:ext cx="228600" cy="965200"/>
          </a:xfrm>
          <a:prstGeom prst="rect">
            <a:avLst/>
          </a:prstGeom>
          <a:solidFill>
            <a:srgbClr val="0C5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F9F6D2-9E14-CCC9-6730-5B1B0BEB539F}"/>
              </a:ext>
            </a:extLst>
          </p:cNvPr>
          <p:cNvSpPr txBox="1"/>
          <p:nvPr/>
        </p:nvSpPr>
        <p:spPr>
          <a:xfrm>
            <a:off x="444500" y="190500"/>
            <a:ext cx="9652000" cy="487313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2500" b="1">
                <a:solidFill>
                  <a:srgbClr val="000000"/>
                </a:solidFill>
                <a:latin typeface="맑은 고딕" panose="020B0503020000020004" pitchFamily="50" charset="-127"/>
              </a:rPr>
              <a:t>2-2. </a:t>
            </a:r>
            <a:r>
              <a:rPr lang="ko-KR" altLang="en-US" sz="2500" b="1">
                <a:solidFill>
                  <a:srgbClr val="000000"/>
                </a:solidFill>
                <a:latin typeface="맑은 고딕" panose="020B0503020000020004" pitchFamily="50" charset="-127"/>
              </a:rPr>
              <a:t>프로그램 전체 흐름도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FED77BF0-69DD-7B8B-2062-0CDDA4EBE1B0}"/>
              </a:ext>
            </a:extLst>
          </p:cNvPr>
          <p:cNvCxnSpPr/>
          <p:nvPr/>
        </p:nvCxnSpPr>
        <p:spPr>
          <a:xfrm>
            <a:off x="444500" y="774700"/>
            <a:ext cx="7810500" cy="0"/>
          </a:xfrm>
          <a:prstGeom prst="line">
            <a:avLst/>
          </a:prstGeom>
          <a:ln w="19050">
            <a:solidFill>
              <a:srgbClr val="234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90F375F-10EE-96EF-4B52-DC5511C8C0EB}"/>
              </a:ext>
            </a:extLst>
          </p:cNvPr>
          <p:cNvSpPr txBox="1"/>
          <p:nvPr/>
        </p:nvSpPr>
        <p:spPr>
          <a:xfrm>
            <a:off x="9144000" y="304800"/>
            <a:ext cx="2349500" cy="24878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ko-KR" altLang="en-US" sz="950" b="1">
                <a:solidFill>
                  <a:srgbClr val="0A4652"/>
                </a:solidFill>
                <a:latin typeface="맑은 고딕" panose="020B0503020000020004" pitchFamily="50" charset="-127"/>
              </a:rPr>
              <a:t>실행부터 종료까지 한눈에 보기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F7CB3076-4BA1-A58D-BB7F-3B6C02FA7BE7}"/>
              </a:ext>
            </a:extLst>
          </p:cNvPr>
          <p:cNvSpPr/>
          <p:nvPr/>
        </p:nvSpPr>
        <p:spPr>
          <a:xfrm>
            <a:off x="711200" y="1270000"/>
            <a:ext cx="304800" cy="304800"/>
          </a:xfrm>
          <a:prstGeom prst="ellipse">
            <a:avLst/>
          </a:prstGeom>
          <a:solidFill>
            <a:srgbClr val="0D606F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DC327174-3844-42E9-8E09-97A0CC7C7DAC}"/>
              </a:ext>
            </a:extLst>
          </p:cNvPr>
          <p:cNvSpPr/>
          <p:nvPr/>
        </p:nvSpPr>
        <p:spPr>
          <a:xfrm>
            <a:off x="1092200" y="1117600"/>
            <a:ext cx="1333500" cy="6096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250" b="1">
                <a:solidFill>
                  <a:srgbClr val="0D606F"/>
                </a:solidFill>
                <a:latin typeface="맑은 고딕" panose="020B0503020000020004" pitchFamily="50" charset="-127"/>
              </a:rPr>
              <a:t>프로그램
시작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C26DD53-16E6-3776-1B31-2EB4F2A17BE3}"/>
              </a:ext>
            </a:extLst>
          </p:cNvPr>
          <p:cNvCxnSpPr/>
          <p:nvPr/>
        </p:nvCxnSpPr>
        <p:spPr>
          <a:xfrm>
            <a:off x="2463800" y="1422400"/>
            <a:ext cx="482600" cy="0"/>
          </a:xfrm>
          <a:prstGeom prst="straightConnector1">
            <a:avLst/>
          </a:prstGeom>
          <a:ln w="2667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39136022-7F0A-4621-4606-BE933CE87ECA}"/>
              </a:ext>
            </a:extLst>
          </p:cNvPr>
          <p:cNvSpPr/>
          <p:nvPr/>
        </p:nvSpPr>
        <p:spPr>
          <a:xfrm>
            <a:off x="2997200" y="1054100"/>
            <a:ext cx="304800" cy="304800"/>
          </a:xfrm>
          <a:prstGeom prst="ellipse">
            <a:avLst/>
          </a:prstGeom>
          <a:solidFill>
            <a:srgbClr val="0D606F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1ED36B2-5360-A4C6-5DFA-4D4FDAD1FEDC}"/>
              </a:ext>
            </a:extLst>
          </p:cNvPr>
          <p:cNvSpPr/>
          <p:nvPr/>
        </p:nvSpPr>
        <p:spPr>
          <a:xfrm>
            <a:off x="3352800" y="1041400"/>
            <a:ext cx="1968500" cy="762000"/>
          </a:xfrm>
          <a:prstGeom prst="roundRect">
            <a:avLst/>
          </a:prstGeom>
          <a:solidFill>
            <a:srgbClr val="E8F6FA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050" b="1">
                <a:solidFill>
                  <a:srgbClr val="0A4652"/>
                </a:solidFill>
                <a:latin typeface="맑은 고딕" panose="020B0503020000020004" pitchFamily="50" charset="-127"/>
              </a:rPr>
              <a:t>서버 실행
데이터 로드</a:t>
            </a:r>
            <a:r>
              <a:rPr lang="en-US" altLang="ko-KR" sz="1050" b="1">
                <a:solidFill>
                  <a:srgbClr val="0A465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50" b="1">
                <a:solidFill>
                  <a:srgbClr val="0A4652"/>
                </a:solidFill>
                <a:latin typeface="맑은 고딕" panose="020B0503020000020004" pitchFamily="50" charset="-127"/>
              </a:rPr>
              <a:t>접속 대기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E911FE8-6242-BDFA-7D2A-05770F0E515D}"/>
              </a:ext>
            </a:extLst>
          </p:cNvPr>
          <p:cNvCxnSpPr/>
          <p:nvPr/>
        </p:nvCxnSpPr>
        <p:spPr>
          <a:xfrm>
            <a:off x="5334000" y="1422400"/>
            <a:ext cx="482600" cy="0"/>
          </a:xfrm>
          <a:prstGeom prst="straightConnector1">
            <a:avLst/>
          </a:prstGeom>
          <a:ln w="2667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타원 66">
            <a:extLst>
              <a:ext uri="{FF2B5EF4-FFF2-40B4-BE49-F238E27FC236}">
                <a16:creationId xmlns:a16="http://schemas.microsoft.com/office/drawing/2014/main" id="{0824892D-CBAE-51F9-A67C-335F8DD4C1FF}"/>
              </a:ext>
            </a:extLst>
          </p:cNvPr>
          <p:cNvSpPr/>
          <p:nvPr/>
        </p:nvSpPr>
        <p:spPr>
          <a:xfrm>
            <a:off x="5867400" y="1054100"/>
            <a:ext cx="304800" cy="304800"/>
          </a:xfrm>
          <a:prstGeom prst="ellipse">
            <a:avLst/>
          </a:prstGeom>
          <a:solidFill>
            <a:srgbClr val="0D606F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EF53B21-F085-17EE-097D-FBD06815B7F9}"/>
              </a:ext>
            </a:extLst>
          </p:cNvPr>
          <p:cNvSpPr/>
          <p:nvPr/>
        </p:nvSpPr>
        <p:spPr>
          <a:xfrm>
            <a:off x="6223000" y="1041400"/>
            <a:ext cx="1905000" cy="762000"/>
          </a:xfrm>
          <a:prstGeom prst="roundRect">
            <a:avLst/>
          </a:prstGeom>
          <a:solidFill>
            <a:srgbClr val="EBF9E6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100" b="1">
                <a:solidFill>
                  <a:srgbClr val="124C1A"/>
                </a:solidFill>
                <a:latin typeface="맑은 고딕" panose="020B0503020000020004" pitchFamily="50" charset="-127"/>
              </a:rPr>
              <a:t>클라이언트 실행
서버 접속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8339DB-67E1-FE30-BFD0-EA78FF8117DB}"/>
              </a:ext>
            </a:extLst>
          </p:cNvPr>
          <p:cNvCxnSpPr/>
          <p:nvPr/>
        </p:nvCxnSpPr>
        <p:spPr>
          <a:xfrm>
            <a:off x="8140700" y="1422400"/>
            <a:ext cx="482600" cy="0"/>
          </a:xfrm>
          <a:prstGeom prst="straightConnector1">
            <a:avLst/>
          </a:prstGeom>
          <a:ln w="2667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타원 69">
            <a:extLst>
              <a:ext uri="{FF2B5EF4-FFF2-40B4-BE49-F238E27FC236}">
                <a16:creationId xmlns:a16="http://schemas.microsoft.com/office/drawing/2014/main" id="{EFDA90F6-29E8-D2A3-0B06-A97BC2D1253D}"/>
              </a:ext>
            </a:extLst>
          </p:cNvPr>
          <p:cNvSpPr/>
          <p:nvPr/>
        </p:nvSpPr>
        <p:spPr>
          <a:xfrm>
            <a:off x="8674100" y="1054100"/>
            <a:ext cx="304800" cy="304800"/>
          </a:xfrm>
          <a:prstGeom prst="ellipse">
            <a:avLst/>
          </a:prstGeom>
          <a:solidFill>
            <a:srgbClr val="2D8430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4FDFD0A2-19A0-FA7A-133D-1CCC35C55609}"/>
              </a:ext>
            </a:extLst>
          </p:cNvPr>
          <p:cNvSpPr/>
          <p:nvPr/>
        </p:nvSpPr>
        <p:spPr>
          <a:xfrm>
            <a:off x="9029700" y="1041400"/>
            <a:ext cx="2006600" cy="762000"/>
          </a:xfrm>
          <a:prstGeom prst="roundRect">
            <a:avLst/>
          </a:prstGeom>
          <a:solidFill>
            <a:srgbClr val="EBF9E6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100" b="1">
                <a:solidFill>
                  <a:srgbClr val="124C1A"/>
                </a:solidFill>
                <a:latin typeface="맑은 고딕" panose="020B0503020000020004" pitchFamily="50" charset="-127"/>
              </a:rPr>
              <a:t>로그인</a:t>
            </a:r>
            <a:r>
              <a:rPr lang="en-US" altLang="ko-KR" sz="1100" b="1">
                <a:solidFill>
                  <a:srgbClr val="124C1A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b="1">
                <a:solidFill>
                  <a:srgbClr val="124C1A"/>
                </a:solidFill>
                <a:latin typeface="맑은 고딕" panose="020B0503020000020004" pitchFamily="50" charset="-127"/>
              </a:rPr>
              <a:t>회원가입
계정 확인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ECD303F7-74EC-64AC-469C-97CE634F4AC8}"/>
              </a:ext>
            </a:extLst>
          </p:cNvPr>
          <p:cNvCxnSpPr/>
          <p:nvPr/>
        </p:nvCxnSpPr>
        <p:spPr>
          <a:xfrm>
            <a:off x="10033000" y="1816100"/>
            <a:ext cx="0" cy="444500"/>
          </a:xfrm>
          <a:prstGeom prst="straightConnector1">
            <a:avLst/>
          </a:prstGeom>
          <a:ln w="26670">
            <a:solidFill>
              <a:srgbClr val="2D843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다이아몬드 72">
            <a:extLst>
              <a:ext uri="{FF2B5EF4-FFF2-40B4-BE49-F238E27FC236}">
                <a16:creationId xmlns:a16="http://schemas.microsoft.com/office/drawing/2014/main" id="{B06E8505-375C-2E2E-A2F1-DD06437974B9}"/>
              </a:ext>
            </a:extLst>
          </p:cNvPr>
          <p:cNvSpPr/>
          <p:nvPr/>
        </p:nvSpPr>
        <p:spPr>
          <a:xfrm>
            <a:off x="9105900" y="2311400"/>
            <a:ext cx="1841500" cy="914400"/>
          </a:xfrm>
          <a:prstGeom prst="diamond">
            <a:avLst/>
          </a:prstGeom>
          <a:solidFill>
            <a:srgbClr val="FFFFFF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250" b="1" dirty="0">
                <a:solidFill>
                  <a:srgbClr val="124C1A"/>
                </a:solidFill>
                <a:latin typeface="맑은 고딕" panose="020B0503020000020004" pitchFamily="50" charset="-127"/>
              </a:rPr>
              <a:t>로그인
성공</a:t>
            </a:r>
            <a:r>
              <a:rPr lang="en-US" altLang="ko-KR" sz="1250" b="1" dirty="0">
                <a:solidFill>
                  <a:srgbClr val="124C1A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50" b="1" dirty="0">
                <a:solidFill>
                  <a:srgbClr val="124C1A"/>
                </a:solidFill>
                <a:latin typeface="맑은 고딕" panose="020B0503020000020004" pitchFamily="50" charset="-127"/>
              </a:rPr>
              <a:t>실패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16A29ED-99A0-622C-87C9-BB59E53F3EAB}"/>
              </a:ext>
            </a:extLst>
          </p:cNvPr>
          <p:cNvSpPr txBox="1"/>
          <p:nvPr/>
        </p:nvSpPr>
        <p:spPr>
          <a:xfrm>
            <a:off x="8064500" y="2451100"/>
            <a:ext cx="889000" cy="23339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ko-KR" altLang="en-US" sz="850" b="1">
                <a:solidFill>
                  <a:srgbClr val="A03C2D"/>
                </a:solidFill>
                <a:latin typeface="맑은 고딕" panose="020B0503020000020004" pitchFamily="50" charset="-127"/>
              </a:rPr>
              <a:t>실패</a:t>
            </a: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4B0F8EF0-58B2-1926-DD1D-F2CBA3CEBFCE}"/>
              </a:ext>
            </a:extLst>
          </p:cNvPr>
          <p:cNvCxnSpPr/>
          <p:nvPr/>
        </p:nvCxnSpPr>
        <p:spPr>
          <a:xfrm flipH="1">
            <a:off x="8255000" y="2768600"/>
            <a:ext cx="850900" cy="0"/>
          </a:xfrm>
          <a:prstGeom prst="straightConnector1">
            <a:avLst/>
          </a:prstGeom>
          <a:ln w="22860">
            <a:solidFill>
              <a:srgbClr val="A03C2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70E6089-96BB-96E3-1343-BBC0DC57C608}"/>
              </a:ext>
            </a:extLst>
          </p:cNvPr>
          <p:cNvCxnSpPr/>
          <p:nvPr/>
        </p:nvCxnSpPr>
        <p:spPr>
          <a:xfrm flipV="1">
            <a:off x="8255000" y="1651000"/>
            <a:ext cx="0" cy="1117600"/>
          </a:xfrm>
          <a:prstGeom prst="straightConnector1">
            <a:avLst/>
          </a:prstGeom>
          <a:ln w="22860">
            <a:solidFill>
              <a:srgbClr val="A03C2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3702DCE8-723E-3F97-FCBE-557B376C7307}"/>
              </a:ext>
            </a:extLst>
          </p:cNvPr>
          <p:cNvCxnSpPr/>
          <p:nvPr/>
        </p:nvCxnSpPr>
        <p:spPr>
          <a:xfrm>
            <a:off x="8255000" y="1651000"/>
            <a:ext cx="774700" cy="0"/>
          </a:xfrm>
          <a:prstGeom prst="straightConnector1">
            <a:avLst/>
          </a:prstGeom>
          <a:ln w="22860">
            <a:solidFill>
              <a:srgbClr val="A03C2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72C712C-7429-B394-D680-3C1643215123}"/>
              </a:ext>
            </a:extLst>
          </p:cNvPr>
          <p:cNvSpPr txBox="1"/>
          <p:nvPr/>
        </p:nvSpPr>
        <p:spPr>
          <a:xfrm>
            <a:off x="10134600" y="3263900"/>
            <a:ext cx="533400" cy="23339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ko-KR" altLang="en-US" sz="850" b="1">
                <a:solidFill>
                  <a:srgbClr val="124C1A"/>
                </a:solidFill>
                <a:latin typeface="맑은 고딕" panose="020B0503020000020004" pitchFamily="50" charset="-127"/>
              </a:rPr>
              <a:t>성공</a:t>
            </a: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5C63B69-42B9-6A20-3CE3-370C64AB2805}"/>
              </a:ext>
            </a:extLst>
          </p:cNvPr>
          <p:cNvCxnSpPr/>
          <p:nvPr/>
        </p:nvCxnSpPr>
        <p:spPr>
          <a:xfrm>
            <a:off x="10033000" y="3225800"/>
            <a:ext cx="0" cy="482600"/>
          </a:xfrm>
          <a:prstGeom prst="straightConnector1">
            <a:avLst/>
          </a:prstGeom>
          <a:ln w="26670">
            <a:solidFill>
              <a:srgbClr val="2D843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타원 79">
            <a:extLst>
              <a:ext uri="{FF2B5EF4-FFF2-40B4-BE49-F238E27FC236}">
                <a16:creationId xmlns:a16="http://schemas.microsoft.com/office/drawing/2014/main" id="{D80548B0-98BD-A5B5-9184-BCC5F23EB7BC}"/>
              </a:ext>
            </a:extLst>
          </p:cNvPr>
          <p:cNvSpPr/>
          <p:nvPr/>
        </p:nvSpPr>
        <p:spPr>
          <a:xfrm>
            <a:off x="8648700" y="3733800"/>
            <a:ext cx="304800" cy="304800"/>
          </a:xfrm>
          <a:prstGeom prst="ellipse">
            <a:avLst/>
          </a:prstGeom>
          <a:solidFill>
            <a:srgbClr val="2D8430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5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E9DB2B10-7764-F843-A47C-F7B09B1C06C6}"/>
              </a:ext>
            </a:extLst>
          </p:cNvPr>
          <p:cNvSpPr/>
          <p:nvPr/>
        </p:nvSpPr>
        <p:spPr>
          <a:xfrm>
            <a:off x="9029700" y="3708400"/>
            <a:ext cx="2006600" cy="736600"/>
          </a:xfrm>
          <a:prstGeom prst="roundRect">
            <a:avLst/>
          </a:prstGeom>
          <a:solidFill>
            <a:srgbClr val="EBF9E6"/>
          </a:solidFill>
          <a:ln w="1778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120" b="1">
                <a:solidFill>
                  <a:srgbClr val="124C1A"/>
                </a:solidFill>
                <a:latin typeface="맑은 고딕" panose="020B0503020000020004" pitchFamily="50" charset="-127"/>
              </a:rPr>
              <a:t>메인 메뉴
기능 선택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64813E2-348B-52A7-EBBE-8E8495F28E40}"/>
              </a:ext>
            </a:extLst>
          </p:cNvPr>
          <p:cNvCxnSpPr/>
          <p:nvPr/>
        </p:nvCxnSpPr>
        <p:spPr>
          <a:xfrm flipH="1">
            <a:off x="8585200" y="4089400"/>
            <a:ext cx="444500" cy="0"/>
          </a:xfrm>
          <a:prstGeom prst="straightConnector1">
            <a:avLst/>
          </a:prstGeom>
          <a:ln w="2540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3500BF5A-C5F5-E1CC-17F4-8B0A61A9A2ED}"/>
              </a:ext>
            </a:extLst>
          </p:cNvPr>
          <p:cNvSpPr/>
          <p:nvPr/>
        </p:nvSpPr>
        <p:spPr>
          <a:xfrm>
            <a:off x="6248400" y="3606800"/>
            <a:ext cx="2286000" cy="1066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960" b="1">
                <a:solidFill>
                  <a:srgbClr val="0A4652"/>
                </a:solidFill>
                <a:latin typeface="맑은 고딕" panose="020B0503020000020004" pitchFamily="50" charset="-127"/>
              </a:rPr>
              <a:t>기능 선택
① 범죄 발생 통계
② 치안 인프라 통계
③ 실질 위험도</a:t>
            </a:r>
            <a:r>
              <a:rPr lang="en-US" altLang="ko-KR" sz="960" b="1">
                <a:solidFill>
                  <a:srgbClr val="0A465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60" b="1">
                <a:solidFill>
                  <a:srgbClr val="0A4652"/>
                </a:solidFill>
                <a:latin typeface="맑은 고딕" panose="020B0503020000020004" pitchFamily="50" charset="-127"/>
              </a:rPr>
              <a:t>가이드</a:t>
            </a: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8280F832-5306-5049-2809-0C3B20A17538}"/>
              </a:ext>
            </a:extLst>
          </p:cNvPr>
          <p:cNvCxnSpPr/>
          <p:nvPr/>
        </p:nvCxnSpPr>
        <p:spPr>
          <a:xfrm flipH="1">
            <a:off x="5791200" y="4140200"/>
            <a:ext cx="457200" cy="0"/>
          </a:xfrm>
          <a:prstGeom prst="straightConnector1">
            <a:avLst/>
          </a:prstGeom>
          <a:ln w="2540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F7F511DC-ECFA-2FB5-25B4-8CE3344F39C2}"/>
              </a:ext>
            </a:extLst>
          </p:cNvPr>
          <p:cNvSpPr/>
          <p:nvPr/>
        </p:nvSpPr>
        <p:spPr>
          <a:xfrm>
            <a:off x="3251200" y="3937000"/>
            <a:ext cx="304800" cy="304800"/>
          </a:xfrm>
          <a:prstGeom prst="ellipse">
            <a:avLst/>
          </a:prstGeom>
          <a:solidFill>
            <a:srgbClr val="0D606F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6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75C1531B-47D4-803A-2EEA-FEEDA9214E0A}"/>
              </a:ext>
            </a:extLst>
          </p:cNvPr>
          <p:cNvSpPr/>
          <p:nvPr/>
        </p:nvSpPr>
        <p:spPr>
          <a:xfrm>
            <a:off x="3606800" y="3683000"/>
            <a:ext cx="2133600" cy="914400"/>
          </a:xfrm>
          <a:prstGeom prst="roundRect">
            <a:avLst/>
          </a:prstGeom>
          <a:solidFill>
            <a:srgbClr val="E8F6FA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020" b="1">
                <a:solidFill>
                  <a:srgbClr val="0A4652"/>
                </a:solidFill>
                <a:latin typeface="맑은 고딕" panose="020B0503020000020004" pitchFamily="50" charset="-127"/>
              </a:rPr>
              <a:t>Common.h </a:t>
            </a:r>
            <a:r>
              <a:rPr lang="ko-KR" altLang="en-US" sz="1020" b="1">
                <a:solidFill>
                  <a:srgbClr val="0A4652"/>
                </a:solidFill>
                <a:latin typeface="맑은 고딕" panose="020B0503020000020004" pitchFamily="50" charset="-127"/>
              </a:rPr>
              <a:t>패킷
요청 전송
</a:t>
            </a:r>
            <a:r>
              <a:rPr lang="en-US" altLang="ko-KR" sz="1020" b="1">
                <a:solidFill>
                  <a:srgbClr val="0A4652"/>
                </a:solidFill>
                <a:latin typeface="맑은 고딕" panose="020B0503020000020004" pitchFamily="50" charset="-127"/>
              </a:rPr>
              <a:t>type + payload</a:t>
            </a:r>
            <a:endParaRPr lang="ko-KR" altLang="en-US" sz="1020" b="1">
              <a:solidFill>
                <a:srgbClr val="0A4652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3F5601AB-24A5-48F8-73F4-0E37B4887502}"/>
              </a:ext>
            </a:extLst>
          </p:cNvPr>
          <p:cNvCxnSpPr/>
          <p:nvPr/>
        </p:nvCxnSpPr>
        <p:spPr>
          <a:xfrm flipH="1">
            <a:off x="3073400" y="4140200"/>
            <a:ext cx="533400" cy="0"/>
          </a:xfrm>
          <a:prstGeom prst="straightConnector1">
            <a:avLst/>
          </a:prstGeom>
          <a:ln w="2540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35DB0711-C73C-5B93-57E5-9486E6C715E4}"/>
              </a:ext>
            </a:extLst>
          </p:cNvPr>
          <p:cNvSpPr/>
          <p:nvPr/>
        </p:nvSpPr>
        <p:spPr>
          <a:xfrm>
            <a:off x="914400" y="3937000"/>
            <a:ext cx="304800" cy="304800"/>
          </a:xfrm>
          <a:prstGeom prst="ellipse">
            <a:avLst/>
          </a:prstGeom>
          <a:solidFill>
            <a:srgbClr val="0D606F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7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9D5E81EE-B6D0-BA9F-35D2-0E8AE0E8BE43}"/>
              </a:ext>
            </a:extLst>
          </p:cNvPr>
          <p:cNvSpPr/>
          <p:nvPr/>
        </p:nvSpPr>
        <p:spPr>
          <a:xfrm>
            <a:off x="1270000" y="3683000"/>
            <a:ext cx="1752600" cy="914400"/>
          </a:xfrm>
          <a:prstGeom prst="roundRect">
            <a:avLst/>
          </a:prstGeom>
          <a:solidFill>
            <a:srgbClr val="E8F6FA"/>
          </a:solidFill>
          <a:ln w="1778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020" b="1">
                <a:solidFill>
                  <a:srgbClr val="0A4652"/>
                </a:solidFill>
                <a:latin typeface="맑은 고딕" panose="020B0503020000020004" pitchFamily="50" charset="-127"/>
              </a:rPr>
              <a:t>서버 분석
지수 계산
결과 생성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F543194C-C222-FA3A-005E-7EBEFFEF8A51}"/>
              </a:ext>
            </a:extLst>
          </p:cNvPr>
          <p:cNvCxnSpPr/>
          <p:nvPr/>
        </p:nvCxnSpPr>
        <p:spPr>
          <a:xfrm>
            <a:off x="2146300" y="4597400"/>
            <a:ext cx="0" cy="546100"/>
          </a:xfrm>
          <a:prstGeom prst="straightConnector1">
            <a:avLst/>
          </a:prstGeom>
          <a:ln w="2540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타원 90">
            <a:extLst>
              <a:ext uri="{FF2B5EF4-FFF2-40B4-BE49-F238E27FC236}">
                <a16:creationId xmlns:a16="http://schemas.microsoft.com/office/drawing/2014/main" id="{BCB45CA0-A886-FD64-2754-1286816047D8}"/>
              </a:ext>
            </a:extLst>
          </p:cNvPr>
          <p:cNvSpPr/>
          <p:nvPr/>
        </p:nvSpPr>
        <p:spPr>
          <a:xfrm>
            <a:off x="812800" y="5334000"/>
            <a:ext cx="304800" cy="304800"/>
          </a:xfrm>
          <a:prstGeom prst="ellipse">
            <a:avLst/>
          </a:prstGeom>
          <a:solidFill>
            <a:srgbClr val="8F6E23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8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EDDD5C08-D88A-271B-65C9-36FEBBD55325}"/>
              </a:ext>
            </a:extLst>
          </p:cNvPr>
          <p:cNvSpPr/>
          <p:nvPr/>
        </p:nvSpPr>
        <p:spPr>
          <a:xfrm>
            <a:off x="1168400" y="5143500"/>
            <a:ext cx="2032000" cy="685800"/>
          </a:xfrm>
          <a:prstGeom prst="roundRect">
            <a:avLst/>
          </a:prstGeom>
          <a:solidFill>
            <a:srgbClr val="FFF8DC"/>
          </a:solidFill>
          <a:ln w="1778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080" b="1">
                <a:solidFill>
                  <a:srgbClr val="46300C"/>
                </a:solidFill>
                <a:latin typeface="맑은 고딕" panose="020B0503020000020004" pitchFamily="50" charset="-127"/>
              </a:rPr>
              <a:t>결과 화면 출력
</a:t>
            </a:r>
            <a:r>
              <a:rPr lang="en-US" altLang="ko-KR" sz="1080" b="1">
                <a:solidFill>
                  <a:srgbClr val="46300C"/>
                </a:solidFill>
                <a:latin typeface="맑은 고딕" panose="020B0503020000020004" pitchFamily="50" charset="-127"/>
              </a:rPr>
              <a:t>Enter </a:t>
            </a:r>
            <a:r>
              <a:rPr lang="ko-KR" altLang="en-US" sz="1080" b="1">
                <a:solidFill>
                  <a:srgbClr val="46300C"/>
                </a:solidFill>
                <a:latin typeface="맑은 고딕" panose="020B0503020000020004" pitchFamily="50" charset="-127"/>
              </a:rPr>
              <a:t>대기</a:t>
            </a: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5761E0A2-CD9C-C0DD-B094-375520639C92}"/>
              </a:ext>
            </a:extLst>
          </p:cNvPr>
          <p:cNvCxnSpPr/>
          <p:nvPr/>
        </p:nvCxnSpPr>
        <p:spPr>
          <a:xfrm>
            <a:off x="3200400" y="5486400"/>
            <a:ext cx="1587500" cy="0"/>
          </a:xfrm>
          <a:prstGeom prst="straightConnector1">
            <a:avLst/>
          </a:prstGeom>
          <a:ln w="24130">
            <a:solidFill>
              <a:srgbClr val="8F6E2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다이아몬드 93">
            <a:extLst>
              <a:ext uri="{FF2B5EF4-FFF2-40B4-BE49-F238E27FC236}">
                <a16:creationId xmlns:a16="http://schemas.microsoft.com/office/drawing/2014/main" id="{963B9A5E-226C-4A4B-AE10-D169CA7D4B38}"/>
              </a:ext>
            </a:extLst>
          </p:cNvPr>
          <p:cNvSpPr/>
          <p:nvPr/>
        </p:nvSpPr>
        <p:spPr>
          <a:xfrm>
            <a:off x="4851400" y="5080000"/>
            <a:ext cx="1727200" cy="889000"/>
          </a:xfrm>
          <a:prstGeom prst="diamond">
            <a:avLst/>
          </a:prstGeom>
          <a:solidFill>
            <a:srgbClr val="FFFFFF"/>
          </a:solidFill>
          <a:ln w="1778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150" b="1">
                <a:solidFill>
                  <a:srgbClr val="46300C"/>
                </a:solidFill>
                <a:latin typeface="맑은 고딕" panose="020B0503020000020004" pitchFamily="50" charset="-127"/>
              </a:rPr>
              <a:t>계속
이용</a:t>
            </a:r>
            <a:r>
              <a:rPr lang="en-US" altLang="ko-KR" sz="1150" b="1">
                <a:solidFill>
                  <a:srgbClr val="46300C"/>
                </a:solidFill>
                <a:latin typeface="맑은 고딕" panose="020B0503020000020004" pitchFamily="50" charset="-127"/>
              </a:rPr>
              <a:t>?</a:t>
            </a:r>
            <a:endParaRPr lang="ko-KR" altLang="en-US" sz="1150" b="1">
              <a:solidFill>
                <a:srgbClr val="46300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EC36247-277A-40C1-2626-7363B750E505}"/>
              </a:ext>
            </a:extLst>
          </p:cNvPr>
          <p:cNvSpPr txBox="1"/>
          <p:nvPr/>
        </p:nvSpPr>
        <p:spPr>
          <a:xfrm>
            <a:off x="5791200" y="4960903"/>
            <a:ext cx="431800" cy="23339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ko-KR" altLang="en-US" sz="850" b="1">
                <a:solidFill>
                  <a:srgbClr val="124C1A"/>
                </a:solidFill>
                <a:latin typeface="맑은 고딕" panose="020B0503020000020004" pitchFamily="50" charset="-127"/>
              </a:rPr>
              <a:t>예</a:t>
            </a: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24F081A1-1C33-F9E6-7A03-822BF0F32D5D}"/>
              </a:ext>
            </a:extLst>
          </p:cNvPr>
          <p:cNvCxnSpPr/>
          <p:nvPr/>
        </p:nvCxnSpPr>
        <p:spPr>
          <a:xfrm flipV="1">
            <a:off x="5715000" y="4902200"/>
            <a:ext cx="0" cy="177800"/>
          </a:xfrm>
          <a:prstGeom prst="line">
            <a:avLst/>
          </a:prstGeom>
          <a:ln w="22860">
            <a:solidFill>
              <a:srgbClr val="2D8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04B20A8E-CD35-69E5-5FF6-9385970A1198}"/>
              </a:ext>
            </a:extLst>
          </p:cNvPr>
          <p:cNvCxnSpPr/>
          <p:nvPr/>
        </p:nvCxnSpPr>
        <p:spPr>
          <a:xfrm>
            <a:off x="5715000" y="4902200"/>
            <a:ext cx="4318000" cy="0"/>
          </a:xfrm>
          <a:prstGeom prst="line">
            <a:avLst/>
          </a:prstGeom>
          <a:ln w="22860">
            <a:solidFill>
              <a:srgbClr val="2D8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19CB1768-9904-202A-AE16-8947823308C3}"/>
              </a:ext>
            </a:extLst>
          </p:cNvPr>
          <p:cNvCxnSpPr/>
          <p:nvPr/>
        </p:nvCxnSpPr>
        <p:spPr>
          <a:xfrm flipV="1">
            <a:off x="10033000" y="4445000"/>
            <a:ext cx="0" cy="457200"/>
          </a:xfrm>
          <a:prstGeom prst="straightConnector1">
            <a:avLst/>
          </a:prstGeom>
          <a:ln w="22860">
            <a:solidFill>
              <a:srgbClr val="2D843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EB0FBD72-9DBB-F45F-3570-C4C173CF6BB2}"/>
              </a:ext>
            </a:extLst>
          </p:cNvPr>
          <p:cNvSpPr txBox="1"/>
          <p:nvPr/>
        </p:nvSpPr>
        <p:spPr>
          <a:xfrm>
            <a:off x="7010400" y="5232400"/>
            <a:ext cx="698500" cy="23339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ko-KR" altLang="en-US" sz="850" b="1">
                <a:solidFill>
                  <a:srgbClr val="A03C2D"/>
                </a:solidFill>
                <a:latin typeface="맑은 고딕" panose="020B0503020000020004" pitchFamily="50" charset="-127"/>
              </a:rPr>
              <a:t>아니오</a:t>
            </a: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AB55F8B0-1C64-9D85-FFFF-4F2A63C93EBC}"/>
              </a:ext>
            </a:extLst>
          </p:cNvPr>
          <p:cNvCxnSpPr/>
          <p:nvPr/>
        </p:nvCxnSpPr>
        <p:spPr>
          <a:xfrm>
            <a:off x="6578600" y="5524500"/>
            <a:ext cx="1612900" cy="0"/>
          </a:xfrm>
          <a:prstGeom prst="straightConnector1">
            <a:avLst/>
          </a:prstGeom>
          <a:ln w="22860">
            <a:solidFill>
              <a:srgbClr val="A03C2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563AEA3B-C69B-01D5-FF22-C752C99CFADE}"/>
              </a:ext>
            </a:extLst>
          </p:cNvPr>
          <p:cNvSpPr/>
          <p:nvPr/>
        </p:nvSpPr>
        <p:spPr>
          <a:xfrm>
            <a:off x="8089900" y="5334000"/>
            <a:ext cx="304800" cy="304800"/>
          </a:xfrm>
          <a:prstGeom prst="ellipse">
            <a:avLst/>
          </a:prstGeom>
          <a:solidFill>
            <a:srgbClr val="8F6E23"/>
          </a:solidFill>
          <a:ln>
            <a:solidFill>
              <a:srgbClr val="073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맑은 고딕" panose="020B0503020000020004" pitchFamily="50" charset="-127"/>
              </a:rPr>
              <a:t>9</a:t>
            </a:r>
            <a:endParaRPr lang="ko-KR" altLang="en-US" sz="9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5DA30825-0EFC-C9D2-D295-B1D8A971A33B}"/>
              </a:ext>
            </a:extLst>
          </p:cNvPr>
          <p:cNvSpPr/>
          <p:nvPr/>
        </p:nvSpPr>
        <p:spPr>
          <a:xfrm>
            <a:off x="8458200" y="5143500"/>
            <a:ext cx="1524000" cy="685800"/>
          </a:xfrm>
          <a:prstGeom prst="roundRect">
            <a:avLst/>
          </a:prstGeom>
          <a:solidFill>
            <a:srgbClr val="FFF8DC"/>
          </a:solidFill>
          <a:ln w="1778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080" b="1">
                <a:solidFill>
                  <a:srgbClr val="46300C"/>
                </a:solidFill>
                <a:latin typeface="맑은 고딕" panose="020B0503020000020004" pitchFamily="50" charset="-127"/>
              </a:rPr>
              <a:t>로그아웃
초기 화면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26C4F900-AF0D-7F2A-6B89-5C01004B080A}"/>
              </a:ext>
            </a:extLst>
          </p:cNvPr>
          <p:cNvCxnSpPr/>
          <p:nvPr/>
        </p:nvCxnSpPr>
        <p:spPr>
          <a:xfrm>
            <a:off x="9982200" y="5486400"/>
            <a:ext cx="520700" cy="0"/>
          </a:xfrm>
          <a:prstGeom prst="straightConnector1">
            <a:avLst/>
          </a:prstGeom>
          <a:ln w="22860">
            <a:solidFill>
              <a:srgbClr val="8F6E2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타원 103">
            <a:extLst>
              <a:ext uri="{FF2B5EF4-FFF2-40B4-BE49-F238E27FC236}">
                <a16:creationId xmlns:a16="http://schemas.microsoft.com/office/drawing/2014/main" id="{F549BF16-DE52-7A68-B69D-B9B3B9F9EE40}"/>
              </a:ext>
            </a:extLst>
          </p:cNvPr>
          <p:cNvSpPr/>
          <p:nvPr/>
        </p:nvSpPr>
        <p:spPr>
          <a:xfrm>
            <a:off x="10566400" y="5143500"/>
            <a:ext cx="1041400" cy="685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250" b="1">
                <a:solidFill>
                  <a:srgbClr val="46300C"/>
                </a:solidFill>
                <a:latin typeface="맑은 고딕" panose="020B0503020000020004" pitchFamily="50" charset="-127"/>
              </a:rPr>
              <a:t>종료</a:t>
            </a: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86D93EDA-5ABD-F419-FEEC-3286C94FB4D5}"/>
              </a:ext>
            </a:extLst>
          </p:cNvPr>
          <p:cNvSpPr/>
          <p:nvPr/>
        </p:nvSpPr>
        <p:spPr>
          <a:xfrm>
            <a:off x="863600" y="6413500"/>
            <a:ext cx="10464800" cy="304800"/>
          </a:xfrm>
          <a:prstGeom prst="roundRect">
            <a:avLst/>
          </a:prstGeom>
          <a:solidFill>
            <a:srgbClr val="F5F7F8"/>
          </a:solidFill>
          <a:ln w="1778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920" b="1">
                <a:solidFill>
                  <a:srgbClr val="192428"/>
                </a:solidFill>
                <a:latin typeface="맑은 고딕" panose="020B0503020000020004" pitchFamily="50" charset="-127"/>
              </a:rPr>
              <a:t>흐름 요약</a:t>
            </a:r>
            <a:r>
              <a:rPr lang="en-US" altLang="ko-KR" sz="920" b="1">
                <a:solidFill>
                  <a:srgbClr val="19242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20" b="1">
                <a:solidFill>
                  <a:srgbClr val="192428"/>
                </a:solidFill>
                <a:latin typeface="맑은 고딕" panose="020B0503020000020004" pitchFamily="50" charset="-127"/>
              </a:rPr>
              <a:t>서버 준비 → 클라이언트 접속 → 로그인 → 메뉴 기능 요청 → 서버 분석 응답 → 결과 확인 → 메뉴 반복 또는 로그아웃</a:t>
            </a:r>
            <a:r>
              <a:rPr lang="en-US" altLang="ko-KR" sz="920" b="1">
                <a:solidFill>
                  <a:srgbClr val="19242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20" b="1">
                <a:solidFill>
                  <a:srgbClr val="192428"/>
                </a:solidFill>
                <a:latin typeface="맑은 고딕" panose="020B0503020000020004" pitchFamily="50" charset="-127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69288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5B4C76B7-EC5E-F73C-0F0F-673C58AF6595}"/>
              </a:ext>
            </a:extLst>
          </p:cNvPr>
          <p:cNvSpPr/>
          <p:nvPr/>
        </p:nvSpPr>
        <p:spPr>
          <a:xfrm>
            <a:off x="0" y="0"/>
            <a:ext cx="228600" cy="965200"/>
          </a:xfrm>
          <a:prstGeom prst="rect">
            <a:avLst/>
          </a:prstGeom>
          <a:solidFill>
            <a:srgbClr val="0C5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2658C6-980D-1812-BFE8-A085CA962CE3}"/>
              </a:ext>
            </a:extLst>
          </p:cNvPr>
          <p:cNvSpPr txBox="1"/>
          <p:nvPr/>
        </p:nvSpPr>
        <p:spPr>
          <a:xfrm>
            <a:off x="444500" y="190500"/>
            <a:ext cx="10033000" cy="47192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2400" b="1">
                <a:solidFill>
                  <a:srgbClr val="000000"/>
                </a:solidFill>
                <a:latin typeface="맑은 고딕" panose="020B0503020000020004" pitchFamily="50" charset="-127"/>
              </a:rPr>
              <a:t>2-3. </a:t>
            </a:r>
            <a:r>
              <a:rPr lang="ko-KR" altLang="en-US" sz="2400" b="1">
                <a:solidFill>
                  <a:srgbClr val="000000"/>
                </a:solidFill>
                <a:latin typeface="맑은 고딕" panose="020B0503020000020004" pitchFamily="50" charset="-127"/>
              </a:rPr>
              <a:t>지수 산출 공식 및 등급 기준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D951A10-7900-6FF2-39EE-5028B0B927C8}"/>
              </a:ext>
            </a:extLst>
          </p:cNvPr>
          <p:cNvCxnSpPr/>
          <p:nvPr/>
        </p:nvCxnSpPr>
        <p:spPr>
          <a:xfrm>
            <a:off x="444500" y="774700"/>
            <a:ext cx="8445500" cy="0"/>
          </a:xfrm>
          <a:prstGeom prst="line">
            <a:avLst/>
          </a:prstGeom>
          <a:ln w="19050">
            <a:solidFill>
              <a:srgbClr val="234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B945762-A9BB-4B09-2180-2DF99E759935}"/>
              </a:ext>
            </a:extLst>
          </p:cNvPr>
          <p:cNvSpPr txBox="1"/>
          <p:nvPr/>
        </p:nvSpPr>
        <p:spPr>
          <a:xfrm>
            <a:off x="9245600" y="304800"/>
            <a:ext cx="2222500" cy="24878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ko-KR" sz="950" b="1">
                <a:solidFill>
                  <a:srgbClr val="0A4652"/>
                </a:solidFill>
                <a:latin typeface="맑은 고딕" panose="020B0503020000020004" pitchFamily="50" charset="-127"/>
              </a:rPr>
              <a:t>Server.c </a:t>
            </a:r>
            <a:r>
              <a:rPr lang="ko-KR" altLang="en-US" sz="950" b="1">
                <a:solidFill>
                  <a:srgbClr val="0A4652"/>
                </a:solidFill>
                <a:latin typeface="맑은 고딕" panose="020B0503020000020004" pitchFamily="50" charset="-127"/>
              </a:rPr>
              <a:t>계산 기준 요약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8CB5C63-BC83-D8DC-64A5-E44846885028}"/>
              </a:ext>
            </a:extLst>
          </p:cNvPr>
          <p:cNvSpPr/>
          <p:nvPr/>
        </p:nvSpPr>
        <p:spPr>
          <a:xfrm>
            <a:off x="698500" y="1043855"/>
            <a:ext cx="3175000" cy="2385143"/>
          </a:xfrm>
          <a:prstGeom prst="roundRect">
            <a:avLst/>
          </a:prstGeom>
          <a:solidFill>
            <a:srgbClr val="EBF9E6"/>
          </a:solidFill>
          <a:ln w="1651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1498E42-A030-503D-B9E2-0E31E4157B8C}"/>
              </a:ext>
            </a:extLst>
          </p:cNvPr>
          <p:cNvSpPr/>
          <p:nvPr/>
        </p:nvSpPr>
        <p:spPr>
          <a:xfrm>
            <a:off x="698500" y="1043856"/>
            <a:ext cx="3175000" cy="381000"/>
          </a:xfrm>
          <a:prstGeom prst="roundRect">
            <a:avLst/>
          </a:prstGeom>
          <a:solidFill>
            <a:srgbClr val="2D8430"/>
          </a:solidFill>
          <a:ln w="1651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1. </a:t>
            </a:r>
            <a:r>
              <a:rPr lang="ko-KR" altLang="en-US" sz="1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범죄 발생 위험도 지수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A93075-2139-E449-A79D-946997635948}"/>
              </a:ext>
            </a:extLst>
          </p:cNvPr>
          <p:cNvSpPr txBox="1"/>
          <p:nvPr/>
        </p:nvSpPr>
        <p:spPr>
          <a:xfrm>
            <a:off x="812800" y="1539156"/>
            <a:ext cx="2946400" cy="150297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지역 총 범죄건수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선택 지역의 모든 범죄 유형 합계
전국 평균 범죄건수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전체 범죄건수 합계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지역 수
범죄 위험도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지역 총 범죄건수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전국 평균 범죄건수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7E78F58-EFFD-094C-66DE-E1D20D16E098}"/>
              </a:ext>
            </a:extLst>
          </p:cNvPr>
          <p:cNvSpPr/>
          <p:nvPr/>
        </p:nvSpPr>
        <p:spPr>
          <a:xfrm>
            <a:off x="4508500" y="1043855"/>
            <a:ext cx="3175000" cy="2385141"/>
          </a:xfrm>
          <a:prstGeom prst="roundRect">
            <a:avLst/>
          </a:prstGeom>
          <a:solidFill>
            <a:srgbClr val="E8F6FA"/>
          </a:solidFill>
          <a:ln w="1651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23B1238-B2FA-3F37-5887-EA550B943485}"/>
              </a:ext>
            </a:extLst>
          </p:cNvPr>
          <p:cNvSpPr/>
          <p:nvPr/>
        </p:nvSpPr>
        <p:spPr>
          <a:xfrm>
            <a:off x="4508500" y="1043856"/>
            <a:ext cx="3175000" cy="381000"/>
          </a:xfrm>
          <a:prstGeom prst="roundRect">
            <a:avLst/>
          </a:prstGeom>
          <a:solidFill>
            <a:srgbClr val="0D606F"/>
          </a:solidFill>
          <a:ln w="1651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2.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치안 대응력 판단 지수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8E70A1-1D1D-F021-1DA1-09623487E5F8}"/>
              </a:ext>
            </a:extLst>
          </p:cNvPr>
          <p:cNvSpPr txBox="1"/>
          <p:nvPr/>
        </p:nvSpPr>
        <p:spPr>
          <a:xfrm>
            <a:off x="4622800" y="1539156"/>
            <a:ext cx="2946400" cy="150297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전국 평균 담당 인구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전체 관할 </a:t>
            </a:r>
            <a:endParaRPr lang="en-US" altLang="ko-KR" sz="1300" b="1" dirty="0">
              <a:solidFill>
                <a:srgbClr val="182428"/>
              </a:solidFill>
              <a:latin typeface="맑은 고딕" panose="020B0503020000020004" pitchFamily="50" charset="-127"/>
            </a:endParaRPr>
          </a:p>
          <a:p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인구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전체 경찰 정원
지역 담당 인구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선택 시도의 경찰관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인당 담당 인구
치안 부담 비율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지역 담당 인구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전국 평균 담당 인구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3D3C98E-7DEB-04F3-7F4B-A0BD31981079}"/>
              </a:ext>
            </a:extLst>
          </p:cNvPr>
          <p:cNvSpPr/>
          <p:nvPr/>
        </p:nvSpPr>
        <p:spPr>
          <a:xfrm>
            <a:off x="8318500" y="1043855"/>
            <a:ext cx="3175000" cy="2413541"/>
          </a:xfrm>
          <a:prstGeom prst="roundRect">
            <a:avLst/>
          </a:prstGeom>
          <a:solidFill>
            <a:srgbClr val="FFF8DC"/>
          </a:solidFill>
          <a:ln w="1651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A109669-956D-B82C-FD44-2823FFDDCDD0}"/>
              </a:ext>
            </a:extLst>
          </p:cNvPr>
          <p:cNvSpPr/>
          <p:nvPr/>
        </p:nvSpPr>
        <p:spPr>
          <a:xfrm>
            <a:off x="8318500" y="1043856"/>
            <a:ext cx="3175000" cy="381000"/>
          </a:xfrm>
          <a:prstGeom prst="roundRect">
            <a:avLst/>
          </a:prstGeom>
          <a:solidFill>
            <a:srgbClr val="8F6E23"/>
          </a:solidFill>
          <a:ln w="1651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3.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실질 치안 위험도 지수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1CD80A-DA41-4372-ABF9-D9888DB72FBE}"/>
              </a:ext>
            </a:extLst>
          </p:cNvPr>
          <p:cNvSpPr txBox="1"/>
          <p:nvPr/>
        </p:nvSpPr>
        <p:spPr>
          <a:xfrm>
            <a:off x="8432800" y="1539156"/>
            <a:ext cx="2946400" cy="170303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범죄 발생 수준과 치안 인프라 부담을 함께 반영함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
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실질 치안 위험도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범죄 위험도 * 치안 부담 비율
값이 클수록 실제 주의 필요성이 높다고 판단함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456F7B5B-3B22-CD7C-3682-4D149785FCE9}"/>
              </a:ext>
            </a:extLst>
          </p:cNvPr>
          <p:cNvCxnSpPr>
            <a:cxnSpLocks/>
            <a:stCxn id="45" idx="3"/>
            <a:endCxn id="48" idx="1"/>
          </p:cNvCxnSpPr>
          <p:nvPr/>
        </p:nvCxnSpPr>
        <p:spPr>
          <a:xfrm flipV="1">
            <a:off x="3873500" y="2236426"/>
            <a:ext cx="635000" cy="1"/>
          </a:xfrm>
          <a:prstGeom prst="straightConnector1">
            <a:avLst/>
          </a:prstGeom>
          <a:ln w="2667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82B44C9-8AA5-9A51-B6EA-C8A33D5A23CD}"/>
              </a:ext>
            </a:extLst>
          </p:cNvPr>
          <p:cNvCxnSpPr>
            <a:cxnSpLocks/>
            <a:stCxn id="48" idx="3"/>
            <a:endCxn id="51" idx="1"/>
          </p:cNvCxnSpPr>
          <p:nvPr/>
        </p:nvCxnSpPr>
        <p:spPr>
          <a:xfrm>
            <a:off x="7683500" y="2236426"/>
            <a:ext cx="635000" cy="14200"/>
          </a:xfrm>
          <a:prstGeom prst="straightConnector1">
            <a:avLst/>
          </a:prstGeom>
          <a:ln w="26670">
            <a:solidFill>
              <a:srgbClr val="0D60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82CD424-2F63-67A9-AA97-2B6BB42B6C17}"/>
              </a:ext>
            </a:extLst>
          </p:cNvPr>
          <p:cNvSpPr txBox="1"/>
          <p:nvPr/>
        </p:nvSpPr>
        <p:spPr>
          <a:xfrm>
            <a:off x="4013200" y="1807496"/>
            <a:ext cx="330200" cy="333425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ko-KR" sz="1500" b="1" dirty="0">
                <a:solidFill>
                  <a:srgbClr val="0D606F"/>
                </a:solidFill>
                <a:latin typeface="맑은 고딕" panose="020B0503020000020004" pitchFamily="50" charset="-127"/>
              </a:rPr>
              <a:t>+</a:t>
            </a:r>
            <a:endParaRPr lang="ko-KR" altLang="en-US" sz="1500" b="1" dirty="0">
              <a:solidFill>
                <a:srgbClr val="0D606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7DB43A-CD91-3530-7C70-12D1A39CE58A}"/>
              </a:ext>
            </a:extLst>
          </p:cNvPr>
          <p:cNvSpPr txBox="1"/>
          <p:nvPr/>
        </p:nvSpPr>
        <p:spPr>
          <a:xfrm>
            <a:off x="7816236" y="1830052"/>
            <a:ext cx="330200" cy="333425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ko-KR" sz="1500" b="1" dirty="0">
                <a:solidFill>
                  <a:srgbClr val="8F6E23"/>
                </a:solidFill>
                <a:latin typeface="맑은 고딕" panose="020B0503020000020004" pitchFamily="50" charset="-127"/>
              </a:rPr>
              <a:t>=</a:t>
            </a:r>
            <a:endParaRPr lang="ko-KR" altLang="en-US" sz="1500" b="1" dirty="0">
              <a:solidFill>
                <a:srgbClr val="8F6E2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C61C25-ABB7-E623-4481-18885A68601D}"/>
              </a:ext>
            </a:extLst>
          </p:cNvPr>
          <p:cNvSpPr txBox="1"/>
          <p:nvPr/>
        </p:nvSpPr>
        <p:spPr>
          <a:xfrm>
            <a:off x="4838700" y="3523637"/>
            <a:ext cx="2540000" cy="333425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rgbClr val="0A4652"/>
                </a:solidFill>
                <a:latin typeface="맑은 고딕" panose="020B0503020000020004" pitchFamily="50" charset="-127"/>
              </a:rPr>
              <a:t>등급 분류 기준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276F09C-F0B9-D85A-A133-06F662FBA588}"/>
              </a:ext>
            </a:extLst>
          </p:cNvPr>
          <p:cNvSpPr/>
          <p:nvPr/>
        </p:nvSpPr>
        <p:spPr>
          <a:xfrm>
            <a:off x="698500" y="3938641"/>
            <a:ext cx="3175000" cy="1422400"/>
          </a:xfrm>
          <a:prstGeom prst="roundRect">
            <a:avLst/>
          </a:prstGeom>
          <a:solidFill>
            <a:srgbClr val="EBF9E6"/>
          </a:solidFill>
          <a:ln w="1651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D879BE4-2837-92D8-FDF8-9FCFA276C5BF}"/>
              </a:ext>
            </a:extLst>
          </p:cNvPr>
          <p:cNvSpPr/>
          <p:nvPr/>
        </p:nvSpPr>
        <p:spPr>
          <a:xfrm>
            <a:off x="698500" y="3938641"/>
            <a:ext cx="3175000" cy="355600"/>
          </a:xfrm>
          <a:prstGeom prst="roundRect">
            <a:avLst/>
          </a:prstGeom>
          <a:solidFill>
            <a:srgbClr val="2D8430"/>
          </a:solidFill>
          <a:ln w="16510">
            <a:solidFill>
              <a:srgbClr val="2D8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범죄 발생 위험도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AC732B-D775-A5F2-8410-F0F56C982FF9}"/>
              </a:ext>
            </a:extLst>
          </p:cNvPr>
          <p:cNvSpPr txBox="1"/>
          <p:nvPr/>
        </p:nvSpPr>
        <p:spPr>
          <a:xfrm>
            <a:off x="800100" y="4421241"/>
            <a:ext cx="2971800" cy="70275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위험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: 1.20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이상
주의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: 0.70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이상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1.20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미만
안전 </a:t>
            </a:r>
            <a:r>
              <a:rPr lang="en-US" altLang="ko-KR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: 0.70 </a:t>
            </a:r>
            <a:r>
              <a:rPr lang="ko-KR" altLang="en-US" sz="1300" b="1" dirty="0">
                <a:solidFill>
                  <a:srgbClr val="182428"/>
                </a:solidFill>
                <a:latin typeface="맑은 고딕" panose="020B0503020000020004" pitchFamily="50" charset="-127"/>
              </a:rPr>
              <a:t>미만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6473B73-50DC-B112-4D53-539FABDD2653}"/>
              </a:ext>
            </a:extLst>
          </p:cNvPr>
          <p:cNvSpPr/>
          <p:nvPr/>
        </p:nvSpPr>
        <p:spPr>
          <a:xfrm>
            <a:off x="4508500" y="3938641"/>
            <a:ext cx="3175000" cy="1422400"/>
          </a:xfrm>
          <a:prstGeom prst="roundRect">
            <a:avLst/>
          </a:prstGeom>
          <a:solidFill>
            <a:srgbClr val="E8F6FA"/>
          </a:solidFill>
          <a:ln w="1651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FA0275F1-7DF7-6B7C-397F-8D9405016B60}"/>
              </a:ext>
            </a:extLst>
          </p:cNvPr>
          <p:cNvSpPr/>
          <p:nvPr/>
        </p:nvSpPr>
        <p:spPr>
          <a:xfrm>
            <a:off x="4508500" y="3938641"/>
            <a:ext cx="3175000" cy="355600"/>
          </a:xfrm>
          <a:prstGeom prst="roundRect">
            <a:avLst/>
          </a:prstGeom>
          <a:solidFill>
            <a:srgbClr val="0D606F"/>
          </a:solidFill>
          <a:ln w="16510">
            <a:solidFill>
              <a:srgbClr val="0D60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치안 대응력 판단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4F970E-294E-2C68-9B79-9A30DF4555C4}"/>
              </a:ext>
            </a:extLst>
          </p:cNvPr>
          <p:cNvSpPr txBox="1"/>
          <p:nvPr/>
        </p:nvSpPr>
        <p:spPr>
          <a:xfrm>
            <a:off x="4610100" y="4421241"/>
            <a:ext cx="2971800" cy="70275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치안 피로도 높음 </a:t>
            </a:r>
            <a:r>
              <a:rPr lang="en-US" altLang="ko-KR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: 1.00 </a:t>
            </a:r>
            <a:r>
              <a:rPr lang="ko-KR" altLang="en-US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초과
치안 집중도 높음 </a:t>
            </a:r>
            <a:r>
              <a:rPr lang="en-US" altLang="ko-KR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: 1.00 </a:t>
            </a:r>
            <a:r>
              <a:rPr lang="ko-KR" altLang="en-US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이하
</a:t>
            </a:r>
            <a:r>
              <a:rPr lang="en-US" altLang="ko-KR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담당 인구가 많을수록 부담이 큼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3C85F14D-BFA0-D7F2-F9BC-C7679199A6BF}"/>
              </a:ext>
            </a:extLst>
          </p:cNvPr>
          <p:cNvSpPr/>
          <p:nvPr/>
        </p:nvSpPr>
        <p:spPr>
          <a:xfrm>
            <a:off x="8318500" y="3938641"/>
            <a:ext cx="3175000" cy="1422400"/>
          </a:xfrm>
          <a:prstGeom prst="roundRect">
            <a:avLst/>
          </a:prstGeom>
          <a:solidFill>
            <a:srgbClr val="FFF8DC"/>
          </a:solidFill>
          <a:ln w="1651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574C0C1C-2393-E3A5-65DE-B14D0AA79636}"/>
              </a:ext>
            </a:extLst>
          </p:cNvPr>
          <p:cNvSpPr/>
          <p:nvPr/>
        </p:nvSpPr>
        <p:spPr>
          <a:xfrm>
            <a:off x="8318500" y="3938641"/>
            <a:ext cx="3175000" cy="355600"/>
          </a:xfrm>
          <a:prstGeom prst="roundRect">
            <a:avLst/>
          </a:prstGeom>
          <a:solidFill>
            <a:srgbClr val="8F6E23"/>
          </a:solidFill>
          <a:ln w="16510">
            <a:solidFill>
              <a:srgbClr val="8F6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실질 치안 위험도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A3E1C8-22F4-4941-0650-42C1A3A06760}"/>
              </a:ext>
            </a:extLst>
          </p:cNvPr>
          <p:cNvSpPr txBox="1"/>
          <p:nvPr/>
        </p:nvSpPr>
        <p:spPr>
          <a:xfrm>
            <a:off x="8420100" y="4421241"/>
            <a:ext cx="2971800" cy="70275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높음 </a:t>
            </a:r>
            <a:r>
              <a:rPr lang="en-US" altLang="ko-KR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: 1.40 </a:t>
            </a:r>
            <a:r>
              <a:rPr lang="ko-KR" altLang="en-US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이상
보통 </a:t>
            </a:r>
            <a:r>
              <a:rPr lang="en-US" altLang="ko-KR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: 0.90 </a:t>
            </a:r>
            <a:r>
              <a:rPr lang="ko-KR" altLang="en-US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이상 </a:t>
            </a:r>
            <a:r>
              <a:rPr lang="en-US" altLang="ko-KR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1.40 </a:t>
            </a:r>
            <a:r>
              <a:rPr lang="ko-KR" altLang="en-US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미만
낮음 </a:t>
            </a:r>
            <a:r>
              <a:rPr lang="en-US" altLang="ko-KR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: 0.90 </a:t>
            </a:r>
            <a:r>
              <a:rPr lang="ko-KR" altLang="en-US" sz="1300" b="1">
                <a:solidFill>
                  <a:srgbClr val="182428"/>
                </a:solidFill>
                <a:latin typeface="맑은 고딕" panose="020B0503020000020004" pitchFamily="50" charset="-127"/>
              </a:rPr>
              <a:t>미만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27D34A2A-D6AC-D267-D2CE-249E47536BB0}"/>
              </a:ext>
            </a:extLst>
          </p:cNvPr>
          <p:cNvSpPr/>
          <p:nvPr/>
        </p:nvSpPr>
        <p:spPr>
          <a:xfrm>
            <a:off x="1168400" y="5486403"/>
            <a:ext cx="9855200" cy="787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6478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lang="ko-KR" altLang="en-US" sz="1500">
              <a:solidFill>
                <a:srgbClr val="1620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6B9EB3-9CD1-8D86-CE5A-7C2C3BCF49C6}"/>
              </a:ext>
            </a:extLst>
          </p:cNvPr>
          <p:cNvSpPr txBox="1"/>
          <p:nvPr/>
        </p:nvSpPr>
        <p:spPr>
          <a:xfrm>
            <a:off x="1447800" y="5651503"/>
            <a:ext cx="1600200" cy="333425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82428"/>
                </a:solidFill>
                <a:latin typeface="맑은 고딕" panose="020B0503020000020004" pitchFamily="50" charset="-127"/>
              </a:rPr>
              <a:t>낮은 값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96699C4C-A16C-4343-B65B-3FFB532452B1}"/>
              </a:ext>
            </a:extLst>
          </p:cNvPr>
          <p:cNvCxnSpPr>
            <a:cxnSpLocks/>
          </p:cNvCxnSpPr>
          <p:nvPr/>
        </p:nvCxnSpPr>
        <p:spPr>
          <a:xfrm>
            <a:off x="2762865" y="5753103"/>
            <a:ext cx="6312309" cy="0"/>
          </a:xfrm>
          <a:prstGeom prst="line">
            <a:avLst/>
          </a:prstGeom>
          <a:ln w="27940">
            <a:solidFill>
              <a:srgbClr val="647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타원 70">
            <a:extLst>
              <a:ext uri="{FF2B5EF4-FFF2-40B4-BE49-F238E27FC236}">
                <a16:creationId xmlns:a16="http://schemas.microsoft.com/office/drawing/2014/main" id="{797A1B46-1E83-F0AC-5BCA-6EDE6DFDD60E}"/>
              </a:ext>
            </a:extLst>
          </p:cNvPr>
          <p:cNvSpPr/>
          <p:nvPr/>
        </p:nvSpPr>
        <p:spPr>
          <a:xfrm>
            <a:off x="3302000" y="5613403"/>
            <a:ext cx="279400" cy="279400"/>
          </a:xfrm>
          <a:prstGeom prst="ellipse">
            <a:avLst/>
          </a:prstGeom>
          <a:solidFill>
            <a:srgbClr val="2D8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안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1D82A0E5-DB58-4D84-B91E-F93F72921117}"/>
              </a:ext>
            </a:extLst>
          </p:cNvPr>
          <p:cNvSpPr/>
          <p:nvPr/>
        </p:nvSpPr>
        <p:spPr>
          <a:xfrm>
            <a:off x="5765800" y="5613403"/>
            <a:ext cx="279400" cy="279400"/>
          </a:xfrm>
          <a:prstGeom prst="ellipse">
            <a:avLst/>
          </a:prstGeom>
          <a:solidFill>
            <a:srgbClr val="CE9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주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67AEDB84-1A6E-AA19-626F-055E6E19D7A9}"/>
              </a:ext>
            </a:extLst>
          </p:cNvPr>
          <p:cNvSpPr/>
          <p:nvPr/>
        </p:nvSpPr>
        <p:spPr>
          <a:xfrm>
            <a:off x="8229600" y="5613403"/>
            <a:ext cx="279400" cy="279400"/>
          </a:xfrm>
          <a:prstGeom prst="ellipse">
            <a:avLst/>
          </a:prstGeom>
          <a:solidFill>
            <a:srgbClr val="A03C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522CF4-CBBB-FFD0-D017-2B54E573E97D}"/>
              </a:ext>
            </a:extLst>
          </p:cNvPr>
          <p:cNvSpPr txBox="1"/>
          <p:nvPr/>
        </p:nvSpPr>
        <p:spPr>
          <a:xfrm>
            <a:off x="9169400" y="5651503"/>
            <a:ext cx="1600200" cy="333425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82428"/>
                </a:solidFill>
                <a:latin typeface="맑은 고딕" panose="020B0503020000020004" pitchFamily="50" charset="-127"/>
              </a:rPr>
              <a:t>높은 값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1A09726-5273-1914-9E0B-4C55391BBE78}"/>
              </a:ext>
            </a:extLst>
          </p:cNvPr>
          <p:cNvSpPr txBox="1"/>
          <p:nvPr/>
        </p:nvSpPr>
        <p:spPr>
          <a:xfrm>
            <a:off x="1986116" y="5935411"/>
            <a:ext cx="8072284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주의</a:t>
            </a:r>
            <a:r>
              <a:rPr lang="en-US" altLang="ko-KR" sz="15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5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본 프로젝트의 등급은 공공데이터를 활용한 참고 지표이며</a:t>
            </a:r>
            <a:r>
              <a:rPr lang="en-US" altLang="ko-KR" sz="15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46300C"/>
                </a:solidFill>
                <a:latin typeface="맑은 고딕" panose="020B0503020000020004" pitchFamily="50" charset="-127"/>
              </a:rPr>
              <a:t>공식 치안 등급은 아닙니다</a:t>
            </a:r>
          </a:p>
        </p:txBody>
      </p:sp>
    </p:spTree>
    <p:extLst>
      <p:ext uri="{BB962C8B-B14F-4D97-AF65-F5344CB8AC3E}">
        <p14:creationId xmlns:p14="http://schemas.microsoft.com/office/powerpoint/2010/main" val="3124855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Words>2061</Words>
  <Application>Microsoft Office PowerPoint</Application>
  <PresentationFormat>와이드스크린</PresentationFormat>
  <Paragraphs>287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박교범</dc:creator>
  <cp:lastModifiedBy>박교범</cp:lastModifiedBy>
  <cp:revision>33</cp:revision>
  <dcterms:created xsi:type="dcterms:W3CDTF">2026-06-06T12:03:19Z</dcterms:created>
  <dcterms:modified xsi:type="dcterms:W3CDTF">2026-06-06T17:43:59Z</dcterms:modified>
</cp:coreProperties>
</file>